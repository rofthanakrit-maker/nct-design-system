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th-TH"/>
    </a:defPPr>
    <a:lvl1pPr marL="0" algn="l">
      <a:defRPr sz="1800">
        <a:solidFill>
          <a:srgbClr val="333333"/>
        </a:solidFill>
        <a:latin typeface="+mn-lt"/>
        <a:cs typeface="+mn-cs"/>
      </a:defRPr>
    </a:lvl1pPr>
    <a:lvl2pPr marL="457200" algn="l">
      <a:defRPr sz="1800">
        <a:solidFill>
          <a:srgbClr val="333333"/>
        </a:solidFill>
        <a:latin typeface="+mn-lt"/>
        <a:cs typeface="+mn-cs"/>
      </a:defRPr>
    </a:lvl2pPr>
    <a:lvl3pPr marL="914400" algn="l">
      <a:defRPr sz="1800">
        <a:solidFill>
          <a:srgbClr val="333333"/>
        </a:solidFill>
        <a:latin typeface="+mn-lt"/>
        <a:cs typeface="+mn-cs"/>
      </a:defRPr>
    </a:lvl3pPr>
    <a:lvl4pPr marL="1371600" algn="l">
      <a:defRPr sz="1800">
        <a:solidFill>
          <a:srgbClr val="333333"/>
        </a:solidFill>
        <a:latin typeface="+mn-lt"/>
        <a:cs typeface="+mn-cs"/>
      </a:defRPr>
    </a:lvl4pPr>
    <a:lvl5pPr marL="1828800" algn="l">
      <a:defRPr sz="1800">
        <a:solidFill>
          <a:srgbClr val="333333"/>
        </a:solidFill>
        <a:latin typeface="+mn-lt"/>
        <a:cs typeface="+mn-cs"/>
      </a:defRPr>
    </a:lvl5pPr>
    <a:lvl6pPr marL="2286000" algn="l">
      <a:defRPr sz="1800">
        <a:solidFill>
          <a:srgbClr val="333333"/>
        </a:solidFill>
        <a:latin typeface="+mn-lt"/>
        <a:cs typeface="+mn-cs"/>
      </a:defRPr>
    </a:lvl6pPr>
    <a:lvl7pPr marL="2743200" algn="l">
      <a:defRPr sz="1800">
        <a:solidFill>
          <a:srgbClr val="333333"/>
        </a:solidFill>
        <a:latin typeface="+mn-lt"/>
        <a:cs typeface="+mn-cs"/>
      </a:defRPr>
    </a:lvl7pPr>
    <a:lvl8pPr marL="3200400" algn="l">
      <a:defRPr sz="1800">
        <a:solidFill>
          <a:srgbClr val="333333"/>
        </a:solidFill>
        <a:latin typeface="+mn-lt"/>
        <a:cs typeface="+mn-cs"/>
      </a:defRPr>
    </a:lvl8pPr>
    <a:lvl9pPr marL="3657600" algn="l">
      <a:defRPr sz="1800">
        <a:solidFill>
          <a:srgbClr val="333333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9C1E7B34-52D8-4A61-B0F7-3E5A2C81D046}">
  <a:tblStyle styleId="{9C1E7B34-52D8-4A61-B0F7-3E5A2C81D046}" styleName="NCT">
    <a:wholeTbl>
      <a:tcTxStyle b="off" i="off">
        <a:font>
          <a:latin typeface="+mn-lt"/>
          <a:ea typeface="+mn-ea"/>
          <a:cs typeface="+mn-cs"/>
        </a:font>
        <a:srgbClr val="333333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 w="6350" cap="flat" cmpd="sng" algn="ctr">
              <a:solidFill>
                <a:srgbClr val="E5E5E5"/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E8F6F5"/>
          </a:solidFill>
        </a:fill>
      </a:tcStyle>
    </a:band2H>
    <a:firstRow>
      <a:tcTxStyle b="on" i="off">
        <a:font>
          <a:latin typeface="+mn-lt"/>
          <a:ea typeface="+mn-ea"/>
          <a:cs typeface="+mn-cs"/>
        </a:font>
        <a:srgbClr val="FFFFFF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23436D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white.png"/><Relationship Id="rId3" Type="http://schemas.openxmlformats.org/officeDocument/2006/relationships/image" Target="../media/mark-white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section.jpg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facade.jpg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tower.jpg"/></Relationships>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01 Title Slide">
    <p:bg>
      <p:bgPr>
        <a:gradFill rotWithShape="1">
          <a:gsLst>
            <a:gs pos="0">
              <a:srgbClr val="23436D"/>
            </a:gs>
            <a:gs pos="55000">
              <a:srgbClr val="1E5473"/>
            </a:gs>
            <a:gs pos="100000">
              <a:srgbClr val="1A8D92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8534400" y="-914400"/>
            <a:ext cx="4572000" cy="45720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Decor Diamond"/>
          <p:cNvSpPr/>
          <p:nvPr/>
        </p:nvSpPr>
        <p:spPr>
          <a:xfrm>
            <a:off x="9906000" y="2743200"/>
            <a:ext cx="2743200" cy="2743200"/>
          </a:xfrm>
          <a:prstGeom prst="diamond">
            <a:avLst/>
          </a:prstGeom>
          <a:noFill/>
          <a:ln w="19050">
            <a:solidFill>
              <a:srgbClr val="FFFFFF">
                <a:alpha val="7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2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68680"/>
            <a:ext cx="2560320" cy="1302864"/>
          </a:xfrm>
          <a:prstGeom prst="rect">
            <a:avLst/>
          </a:prstGeom>
        </p:spPr>
      </p:pic>
      <p:sp>
        <p:nvSpPr>
          <p:cNvPr id="13" name="Title Placeholder"/>
          <p:cNvSpPr>
            <a:spLocks noGrp="1"/>
          </p:cNvSpPr>
          <p:nvPr>
            <p:ph type="ctrTitle"/>
          </p:nvPr>
        </p:nvSpPr>
        <p:spPr>
          <a:xfrm>
            <a:off x="914400" y="2560320"/>
            <a:ext cx="8229600" cy="14630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6000"/>
              </a:lnSpc>
              <a:buNone/>
              <a:def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6000"/>
              </a:lnSpc>
              <a:buNone/>
            </a:pPr>
            <a:r>
              <a: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ชื่อเรื่องงานนำเสนอ</a:t>
            </a:r>
          </a:p>
        </p:txBody>
      </p:sp>
      <p:sp>
        <p:nvSpPr>
          <p:cNvPr id="14" name="Accent Rule"/>
          <p:cNvSpPr/>
          <p:nvPr/>
        </p:nvSpPr>
        <p:spPr>
          <a:xfrm>
            <a:off x="914400" y="4206240"/>
            <a:ext cx="548640" cy="45720"/>
          </a:xfrm>
          <a:prstGeom prst="rect">
            <a:avLst/>
          </a:prstGeom>
          <a:solidFill>
            <a:srgbClr val="FFFFFF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ubtitle"/>
          <p:cNvSpPr>
            <a:spLocks noGrp="1"/>
          </p:cNvSpPr>
          <p:nvPr>
            <p:ph type="subTitle" idx="1"/>
          </p:nvPr>
        </p:nvSpPr>
        <p:spPr>
          <a:xfrm>
            <a:off x="914400" y="4480560"/>
            <a:ext cx="73152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2000" dirty="0">
                <a:solidFill>
                  <a:srgbClr val="FFFFFF">
                    <a:alpha val="8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FFFFFF">
                    <a:alpha val="82000"/>
                  </a:srgbClr>
                </a:solidFill>
                <a:latin typeface="+mn-lt"/>
                <a:ea typeface="+mn-ea"/>
                <a:cs typeface="+mn-cs"/>
              </a:rPr>
              <a:t>คำโปรย / ชื่อลูกค้า / วันที่</a:t>
            </a:r>
          </a:p>
        </p:txBody>
      </p:sp>
      <p:sp>
        <p:nvSpPr>
          <p:cNvPr id="16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02 Section Divider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ชื่อหัวข้อ</a:t>
            </a:r>
          </a:p>
        </p:txBody>
      </p:sp>
      <p:sp>
        <p:nvSpPr>
          <p:cNvPr id="14" name="Description"/>
          <p:cNvSpPr>
            <a:spLocks noGrp="1"/>
          </p:cNvSpPr>
          <p:nvPr>
            <p:ph type="body" idx="2"/>
          </p:nvPr>
        </p:nvSpPr>
        <p:spPr>
          <a:xfrm>
            <a:off x="914400" y="4297680"/>
            <a:ext cx="621792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800" dirty="0">
                <a:solidFill>
                  <a:srgbClr val="FFFFFF">
                    <a:alpha val="78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800" dirty="0">
                <a:solidFill>
                  <a:srgbClr val="FFFFFF">
                    <a:alpha val="78000"/>
                  </a:srgbClr>
                </a:solidFill>
                <a:latin typeface="+mn-lt"/>
                <a:ea typeface="+mn-ea"/>
                <a:cs typeface="+mn-cs"/>
              </a:rPr>
              <a:t>คำอธิบายหัวข้อสั้น ๆ หนึ่งถึงสองบรรทัด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3 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n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เนื้อหาระดับที่หนึ่ง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04 Two 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ft Content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คอลัมน์ซ้าย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13" name="Right Content"/>
          <p:cNvSpPr>
            <a:spLocks noGrp="1"/>
          </p:cNvSpPr>
          <p:nvPr>
            <p:ph type="body" idx="2"/>
          </p:nvPr>
        </p:nvSpPr>
        <p:spPr>
          <a:xfrm>
            <a:off x="618744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คอลัมน์ขวา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5 Three 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Heading"/>
          <p:cNvSpPr>
            <a:spLocks noGrp="1"/>
          </p:cNvSpPr>
          <p:nvPr>
            <p:ph type="body" idx="1"/>
          </p:nvPr>
        </p:nvSpPr>
        <p:spPr>
          <a:xfrm>
            <a:off x="123444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1</a:t>
            </a:r>
          </a:p>
        </p:txBody>
      </p:sp>
      <p:sp>
        <p:nvSpPr>
          <p:cNvPr id="15" name="Card 1 Body"/>
          <p:cNvSpPr>
            <a:spLocks noGrp="1"/>
          </p:cNvSpPr>
          <p:nvPr>
            <p:ph type="body" idx="2"/>
          </p:nvPr>
        </p:nvSpPr>
        <p:spPr>
          <a:xfrm>
            <a:off x="123444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16" name="Card 2"/>
          <p:cNvSpPr/>
          <p:nvPr/>
        </p:nvSpPr>
        <p:spPr>
          <a:xfrm>
            <a:off x="442976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Card 2 Tab"/>
          <p:cNvSpPr/>
          <p:nvPr/>
        </p:nvSpPr>
        <p:spPr>
          <a:xfrm>
            <a:off x="474980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Heading"/>
          <p:cNvSpPr>
            <a:spLocks noGrp="1"/>
          </p:cNvSpPr>
          <p:nvPr>
            <p:ph type="body" idx="3"/>
          </p:nvPr>
        </p:nvSpPr>
        <p:spPr>
          <a:xfrm>
            <a:off x="474980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2</a:t>
            </a:r>
          </a:p>
        </p:txBody>
      </p:sp>
      <p:sp>
        <p:nvSpPr>
          <p:cNvPr id="19" name="Card 2 Body"/>
          <p:cNvSpPr>
            <a:spLocks noGrp="1"/>
          </p:cNvSpPr>
          <p:nvPr>
            <p:ph type="body" idx="4"/>
          </p:nvPr>
        </p:nvSpPr>
        <p:spPr>
          <a:xfrm>
            <a:off x="474980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20" name="Card 3"/>
          <p:cNvSpPr/>
          <p:nvPr/>
        </p:nvSpPr>
        <p:spPr>
          <a:xfrm>
            <a:off x="794512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3 Tab"/>
          <p:cNvSpPr/>
          <p:nvPr/>
        </p:nvSpPr>
        <p:spPr>
          <a:xfrm>
            <a:off x="826516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Card 3 Heading"/>
          <p:cNvSpPr>
            <a:spLocks noGrp="1"/>
          </p:cNvSpPr>
          <p:nvPr>
            <p:ph type="body" idx="5"/>
          </p:nvPr>
        </p:nvSpPr>
        <p:spPr>
          <a:xfrm>
            <a:off x="826516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3</a:t>
            </a:r>
          </a:p>
        </p:txBody>
      </p:sp>
      <p:sp>
        <p:nvSpPr>
          <p:cNvPr id="23" name="Card 3 Body"/>
          <p:cNvSpPr>
            <a:spLocks noGrp="1"/>
          </p:cNvSpPr>
          <p:nvPr>
            <p:ph type="body" idx="6"/>
          </p:nvPr>
        </p:nvSpPr>
        <p:spPr>
          <a:xfrm>
            <a:off x="826516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6 Key Figur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Figure 1"/>
          <p:cNvSpPr>
            <a:spLocks noGrp="1"/>
          </p:cNvSpPr>
          <p:nvPr>
            <p:ph type="body" idx="1"/>
          </p:nvPr>
        </p:nvSpPr>
        <p:spPr>
          <a:xfrm>
            <a:off x="91440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3" name="Figure 1 Label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4" name="Divider 1"/>
          <p:cNvSpPr/>
          <p:nvPr/>
        </p:nvSpPr>
        <p:spPr>
          <a:xfrm>
            <a:off x="433832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Figure 2"/>
          <p:cNvSpPr>
            <a:spLocks noGrp="1"/>
          </p:cNvSpPr>
          <p:nvPr>
            <p:ph type="body" idx="3"/>
          </p:nvPr>
        </p:nvSpPr>
        <p:spPr>
          <a:xfrm>
            <a:off x="442976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6" name="Figure 2 Label"/>
          <p:cNvSpPr>
            <a:spLocks noGrp="1"/>
          </p:cNvSpPr>
          <p:nvPr>
            <p:ph type="body" idx="4"/>
          </p:nvPr>
        </p:nvSpPr>
        <p:spPr>
          <a:xfrm>
            <a:off x="442976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7" name="Divider 2"/>
          <p:cNvSpPr/>
          <p:nvPr/>
        </p:nvSpPr>
        <p:spPr>
          <a:xfrm>
            <a:off x="785368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Figure 3"/>
          <p:cNvSpPr>
            <a:spLocks noGrp="1"/>
          </p:cNvSpPr>
          <p:nvPr>
            <p:ph type="body" idx="5"/>
          </p:nvPr>
        </p:nvSpPr>
        <p:spPr>
          <a:xfrm>
            <a:off x="794512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9" name="Figure 3 Label"/>
          <p:cNvSpPr>
            <a:spLocks noGrp="1"/>
          </p:cNvSpPr>
          <p:nvPr>
            <p:ph type="body" idx="6"/>
          </p:nvPr>
        </p:nvSpPr>
        <p:spPr>
          <a:xfrm>
            <a:off x="794512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20" name="Footnote"/>
          <p:cNvSpPr>
            <a:spLocks noGrp="1"/>
          </p:cNvSpPr>
          <p:nvPr>
            <p:ph type="body" idx="7"/>
          </p:nvPr>
        </p:nvSpPr>
        <p:spPr>
          <a:xfrm>
            <a:off x="914400" y="4754880"/>
            <a:ext cx="10363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7 Pull Quote">
    <p:bg>
      <p:bgPr>
        <a:solidFill>
          <a:srgbClr val="E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Quote Bar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100000">
                <a:srgbClr val="216B7F"/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Quote Mark"/>
          <p:cNvSpPr/>
          <p:nvPr/>
        </p:nvSpPr>
        <p:spPr>
          <a:xfrm>
            <a:off x="914400" y="868680"/>
            <a:ext cx="137160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0" b="1" dirty="0">
                <a:solidFill>
                  <a:srgbClr val="216B7F">
                    <a:alpha val="25000"/>
                  </a:srgbClr>
                </a:solidFill>
                <a:latin typeface="+mj-lt"/>
                <a:ea typeface="+mj-ea"/>
                <a:cs typeface="+mj-cs"/>
              </a:rPr>
              <a:t>“</a:t>
            </a:r>
          </a:p>
        </p:txBody>
      </p:sp>
      <p:sp>
        <p:nvSpPr>
          <p:cNvPr id="12" name="Quote"/>
          <p:cNvSpPr>
            <a:spLocks noGrp="1"/>
          </p:cNvSpPr>
          <p:nvPr>
            <p:ph type="body" idx="1"/>
          </p:nvPr>
        </p:nvSpPr>
        <p:spPr>
          <a:xfrm>
            <a:off x="914400" y="1965960"/>
            <a:ext cx="914400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ข้อความคำพูดที่ต้องการเน้น ยาวได้ประมาณสองถึงสามบรรทัด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438912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Attribution"/>
          <p:cNvSpPr>
            <a:spLocks noGrp="1"/>
          </p:cNvSpPr>
          <p:nvPr>
            <p:ph type="body" idx="2"/>
          </p:nvPr>
        </p:nvSpPr>
        <p:spPr>
          <a:xfrm>
            <a:off x="914400" y="4663440"/>
            <a:ext cx="68580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ชื่อผู้พูด — ตำแหน่ง, องค์กร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08 Full Image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/>
          <p:cNvSpPr>
            <a:spLocks noGrp="1"/>
          </p:cNvSpPr>
          <p:nvPr>
            <p:ph type="pic" idx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11" name="Scrim"/>
          <p:cNvSpPr/>
          <p:nvPr/>
        </p:nvSpPr>
        <p:spPr>
          <a:xfrm>
            <a:off x="0" y="3429000"/>
            <a:ext cx="12192000" cy="342900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4297680"/>
            <a:ext cx="8229600" cy="91440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ชื่อภาพ / หัวข้อ</a:t>
            </a:r>
          </a:p>
        </p:txBody>
      </p:sp>
      <p:sp>
        <p:nvSpPr>
          <p:cNvPr id="13" name="Caption"/>
          <p:cNvSpPr>
            <a:spLocks noGrp="1"/>
          </p:cNvSpPr>
          <p:nvPr>
            <p:ph type="body" idx="2"/>
          </p:nvPr>
        </p:nvSpPr>
        <p:spPr>
          <a:xfrm>
            <a:off x="914400" y="5303520"/>
            <a:ext cx="7315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คำบรรยายภาพหนึ่งบรรทัด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09 Table /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286000"/>
            <a:ext cx="10363200" cy="3200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6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0 Closing / Contact">
    <p:bg>
      <p:bgPr>
        <a:gradFill rotWithShape="1">
          <a:gsLst>
            <a:gs pos="0">
              <a:srgbClr val="1A8D92"/>
            </a:gs>
            <a:gs pos="55000">
              <a:srgbClr val="1E5473"/>
            </a:gs>
            <a:gs pos="100000">
              <a:srgbClr val="23436D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-1371600" y="4114800"/>
            <a:ext cx="3657600" cy="36576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1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6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1554480"/>
            <a:ext cx="621792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ขอบคุณครับ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2926080"/>
            <a:ext cx="548640" cy="45720"/>
          </a:xfrm>
          <a:prstGeom prst="rect">
            <a:avLst/>
          </a:prstGeom>
          <a:solidFill>
            <a:srgbClr val="FFFFFF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Next Steps Label"/>
          <p:cNvSpPr>
            <a:spLocks noGrp="1"/>
          </p:cNvSpPr>
          <p:nvPr>
            <p:ph type="body" idx="1"/>
          </p:nvPr>
        </p:nvSpPr>
        <p:spPr>
          <a:xfrm>
            <a:off x="914400" y="3200400"/>
            <a:ext cx="274320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ขั้นตอนถัดไป</a:t>
            </a:r>
          </a:p>
        </p:txBody>
      </p:sp>
      <p:sp>
        <p:nvSpPr>
          <p:cNvPr id="15" name="Next Steps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548640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320040" indent="-320040">
              <a:lnSpc>
                <a:spcPct val="140000"/>
              </a:lnSpc>
              <a:spcBef>
                <a:spcPts val="400"/>
              </a:spcBef>
              <a:buClr>
                <a:srgbClr val="8FBACE"/>
              </a:buClr>
              <a:buSzPct val="90000"/>
              <a:buFont typeface="Arial"/>
              <a:buAutoNum type="arabicPeriod"/>
              <a:def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320040" indent="-320040">
              <a:lnSpc>
                <a:spcPct val="140000"/>
              </a:lnSpc>
              <a:spcBef>
                <a:spcPts val="400"/>
              </a:spcBef>
              <a:buClr>
                <a:srgbClr val="8FBACE"/>
              </a:buClr>
              <a:buSzPct val="90000"/>
              <a:buFont typeface="Arial"/>
              <a:buAutoNum type="arabicPeriod"/>
            </a:pPr>
            <a:r>
              <a: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สิ่งที่ต้องเกิดขึ้นต่อ พร้อมผู้รับผิดชอบ</a:t>
            </a:r>
          </a:p>
        </p:txBody>
      </p:sp>
      <p:sp>
        <p:nvSpPr>
          <p:cNvPr id="18" name="Decision By"/>
          <p:cNvSpPr>
            <a:spLocks noGrp="1"/>
          </p:cNvSpPr>
          <p:nvPr>
            <p:ph type="body" idx="3"/>
          </p:nvPr>
        </p:nvSpPr>
        <p:spPr>
          <a:xfrm>
            <a:off x="914400" y="4709160"/>
            <a:ext cx="548640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ต้องการคำตอบภายในวันที่ ...</a:t>
            </a:r>
          </a:p>
        </p:txBody>
      </p:sp>
      <p:sp>
        <p:nvSpPr>
          <p:cNvPr id="19" name="Contact"/>
          <p:cNvSpPr>
            <a:spLocks noGrp="1"/>
          </p:cNvSpPr>
          <p:nvPr>
            <p:ph type="body" idx="4"/>
          </p:nvPr>
        </p:nvSpPr>
        <p:spPr>
          <a:xfrm>
            <a:off x="914400" y="5303520"/>
            <a:ext cx="54864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buNone/>
              <a:defRPr lang="th-TH" sz="14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buNone/>
            </a:pPr>
            <a:r>
              <a:rPr lang="th-TH" sz="14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โทร · 0X-XXX-XXXX</a:t>
            </a:r>
          </a:p>
        </p:txBody>
      </p:sp>
      <p:sp>
        <p:nvSpPr>
          <p:cNvPr id="20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11 Split Pa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xt Panel"/>
          <p:cNvSpPr/>
          <p:nvPr/>
        </p:nvSpPr>
        <p:spPr>
          <a:xfrm>
            <a:off x="914400" y="1691640"/>
            <a:ext cx="5090160" cy="381000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ontext Kicker"/>
          <p:cNvSpPr>
            <a:spLocks noGrp="1"/>
          </p:cNvSpPr>
          <p:nvPr>
            <p:ph type="body" idx="1"/>
          </p:nvPr>
        </p:nvSpPr>
        <p:spPr>
          <a:xfrm>
            <a:off x="123444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สภาพปัจจุบัน</a:t>
            </a:r>
          </a:p>
        </p:txBody>
      </p:sp>
      <p:sp>
        <p:nvSpPr>
          <p:cNvPr id="14" name="Context Body"/>
          <p:cNvSpPr>
            <a:spLocks noGrp="1"/>
          </p:cNvSpPr>
          <p:nvPr>
            <p:ph type="body" idx="2"/>
          </p:nvPr>
        </p:nvSpPr>
        <p:spPr>
          <a:xfrm>
            <a:off x="123444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2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  <a:defRPr lang="th-TH" sz="1200" dirty="0">
                <a:solidFill>
                  <a:srgbClr val="FFFFFF">
                    <a:alpha val="73000"/>
                  </a:srgbClr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บริบทหรือปัญหาที่พบ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FFFFFF">
                    <a:alpha val="73000"/>
                  </a:srgbClr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5" name="Outcome Panel"/>
          <p:cNvSpPr/>
          <p:nvPr/>
        </p:nvSpPr>
        <p:spPr>
          <a:xfrm>
            <a:off x="6187440" y="1691640"/>
            <a:ext cx="5090160" cy="38100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Outcome Kicker"/>
          <p:cNvSpPr>
            <a:spLocks noGrp="1"/>
          </p:cNvSpPr>
          <p:nvPr>
            <p:ph type="body" idx="3"/>
          </p:nvPr>
        </p:nvSpPr>
        <p:spPr>
          <a:xfrm>
            <a:off x="650748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สิ่งที่จะเกิดขึ้น</a:t>
            </a:r>
          </a:p>
        </p:txBody>
      </p:sp>
      <p:sp>
        <p:nvSpPr>
          <p:cNvPr id="17" name="Outcome Body"/>
          <p:cNvSpPr>
            <a:spLocks noGrp="1"/>
          </p:cNvSpPr>
          <p:nvPr>
            <p:ph type="body" idx="4"/>
          </p:nvPr>
        </p:nvSpPr>
        <p:spPr>
          <a:xfrm>
            <a:off x="650748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แนวทางหรือผลลัพธ์ที่เสนอ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8" name="Takeaway Band"/>
          <p:cNvSpPr/>
          <p:nvPr/>
        </p:nvSpPr>
        <p:spPr>
          <a:xfrm>
            <a:off x="914400" y="563880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Takeaway Label"/>
          <p:cNvSpPr>
            <a:spLocks noGrp="1"/>
          </p:cNvSpPr>
          <p:nvPr>
            <p:ph type="body" idx="5"/>
          </p:nvPr>
        </p:nvSpPr>
        <p:spPr>
          <a:xfrm>
            <a:off x="1097280" y="569976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0" name="Takeaway Copy"/>
          <p:cNvSpPr>
            <a:spLocks noGrp="1"/>
          </p:cNvSpPr>
          <p:nvPr>
            <p:ph type="body" idx="6"/>
          </p:nvPr>
        </p:nvSpPr>
        <p:spPr>
          <a:xfrm>
            <a:off x="2926080" y="569976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2 Four Cards + Ba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05740" cy="457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Number"/>
          <p:cNvSpPr>
            <a:spLocks noGrp="1"/>
          </p:cNvSpPr>
          <p:nvPr>
            <p:ph type="body" idx="20"/>
          </p:nvPr>
        </p:nvSpPr>
        <p:spPr>
          <a:xfrm>
            <a:off x="123444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5" name="Card 1 Heading"/>
          <p:cNvSpPr>
            <a:spLocks noGrp="1"/>
          </p:cNvSpPr>
          <p:nvPr>
            <p:ph type="body" idx="21"/>
          </p:nvPr>
        </p:nvSpPr>
        <p:spPr>
          <a:xfrm>
            <a:off x="123444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1</a:t>
            </a:r>
          </a:p>
        </p:txBody>
      </p:sp>
      <p:sp>
        <p:nvSpPr>
          <p:cNvPr id="16" name="Card 1 Body"/>
          <p:cNvSpPr>
            <a:spLocks noGrp="1"/>
          </p:cNvSpPr>
          <p:nvPr>
            <p:ph type="body" idx="22"/>
          </p:nvPr>
        </p:nvSpPr>
        <p:spPr>
          <a:xfrm>
            <a:off x="123444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17" name="Card 2"/>
          <p:cNvSpPr/>
          <p:nvPr/>
        </p:nvSpPr>
        <p:spPr>
          <a:xfrm>
            <a:off x="355092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Tab"/>
          <p:cNvSpPr/>
          <p:nvPr/>
        </p:nvSpPr>
        <p:spPr>
          <a:xfrm>
            <a:off x="3870960" y="2011680"/>
            <a:ext cx="2057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Card 2 Number"/>
          <p:cNvSpPr>
            <a:spLocks noGrp="1"/>
          </p:cNvSpPr>
          <p:nvPr>
            <p:ph type="body" idx="23"/>
          </p:nvPr>
        </p:nvSpPr>
        <p:spPr>
          <a:xfrm>
            <a:off x="387096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16B7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16B7F"/>
                </a:solidFill>
                <a:latin typeface="+mj-lt"/>
                <a:ea typeface="+mj-ea"/>
                <a:cs typeface="+mj-cs"/>
              </a:rPr>
              <a:t>02</a:t>
            </a:r>
          </a:p>
        </p:txBody>
      </p:sp>
      <p:sp>
        <p:nvSpPr>
          <p:cNvPr id="20" name="Card 2 Heading"/>
          <p:cNvSpPr>
            <a:spLocks noGrp="1"/>
          </p:cNvSpPr>
          <p:nvPr>
            <p:ph type="body" idx="24"/>
          </p:nvPr>
        </p:nvSpPr>
        <p:spPr>
          <a:xfrm>
            <a:off x="387096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2</a:t>
            </a:r>
          </a:p>
        </p:txBody>
      </p:sp>
      <p:sp>
        <p:nvSpPr>
          <p:cNvPr id="21" name="Card 2 Body"/>
          <p:cNvSpPr>
            <a:spLocks noGrp="1"/>
          </p:cNvSpPr>
          <p:nvPr>
            <p:ph type="body" idx="25"/>
          </p:nvPr>
        </p:nvSpPr>
        <p:spPr>
          <a:xfrm>
            <a:off x="387096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2" name="Card 3"/>
          <p:cNvSpPr/>
          <p:nvPr/>
        </p:nvSpPr>
        <p:spPr>
          <a:xfrm>
            <a:off x="618744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Card 3 Tab"/>
          <p:cNvSpPr/>
          <p:nvPr/>
        </p:nvSpPr>
        <p:spPr>
          <a:xfrm>
            <a:off x="6507480" y="2011680"/>
            <a:ext cx="205740" cy="45720"/>
          </a:xfrm>
          <a:prstGeom prst="rect">
            <a:avLst/>
          </a:prstGeom>
          <a:solidFill>
            <a:srgbClr val="4E8FA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Card 3 Number"/>
          <p:cNvSpPr>
            <a:spLocks noGrp="1"/>
          </p:cNvSpPr>
          <p:nvPr>
            <p:ph type="body" idx="26"/>
          </p:nvPr>
        </p:nvSpPr>
        <p:spPr>
          <a:xfrm>
            <a:off x="650748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4E8FA8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4E8FA8"/>
                </a:solidFill>
                <a:latin typeface="+mj-lt"/>
                <a:ea typeface="+mj-ea"/>
                <a:cs typeface="+mj-cs"/>
              </a:rPr>
              <a:t>03</a:t>
            </a:r>
          </a:p>
        </p:txBody>
      </p:sp>
      <p:sp>
        <p:nvSpPr>
          <p:cNvPr id="25" name="Card 3 Heading"/>
          <p:cNvSpPr>
            <a:spLocks noGrp="1"/>
          </p:cNvSpPr>
          <p:nvPr>
            <p:ph type="body" idx="27"/>
          </p:nvPr>
        </p:nvSpPr>
        <p:spPr>
          <a:xfrm>
            <a:off x="650748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3</a:t>
            </a:r>
          </a:p>
        </p:txBody>
      </p:sp>
      <p:sp>
        <p:nvSpPr>
          <p:cNvPr id="26" name="Card 3 Body"/>
          <p:cNvSpPr>
            <a:spLocks noGrp="1"/>
          </p:cNvSpPr>
          <p:nvPr>
            <p:ph type="body" idx="28"/>
          </p:nvPr>
        </p:nvSpPr>
        <p:spPr>
          <a:xfrm>
            <a:off x="650748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7" name="Card 4"/>
          <p:cNvSpPr/>
          <p:nvPr/>
        </p:nvSpPr>
        <p:spPr>
          <a:xfrm>
            <a:off x="882396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Card 4 Tab"/>
          <p:cNvSpPr/>
          <p:nvPr/>
        </p:nvSpPr>
        <p:spPr>
          <a:xfrm>
            <a:off x="9144000" y="2011680"/>
            <a:ext cx="205740" cy="45720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Card 4 Number"/>
          <p:cNvSpPr>
            <a:spLocks noGrp="1"/>
          </p:cNvSpPr>
          <p:nvPr>
            <p:ph type="body" idx="29"/>
          </p:nvPr>
        </p:nvSpPr>
        <p:spPr>
          <a:xfrm>
            <a:off x="914400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16324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16324F"/>
                </a:solidFill>
                <a:latin typeface="+mj-lt"/>
                <a:ea typeface="+mj-ea"/>
                <a:cs typeface="+mj-cs"/>
              </a:rPr>
              <a:t>04</a:t>
            </a:r>
          </a:p>
        </p:txBody>
      </p:sp>
      <p:sp>
        <p:nvSpPr>
          <p:cNvPr id="30" name="Card 4 Heading"/>
          <p:cNvSpPr>
            <a:spLocks noGrp="1"/>
          </p:cNvSpPr>
          <p:nvPr>
            <p:ph type="body" idx="30"/>
          </p:nvPr>
        </p:nvSpPr>
        <p:spPr>
          <a:xfrm>
            <a:off x="914400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4</a:t>
            </a:r>
          </a:p>
        </p:txBody>
      </p:sp>
      <p:sp>
        <p:nvSpPr>
          <p:cNvPr id="31" name="Card 4 Body"/>
          <p:cNvSpPr>
            <a:spLocks noGrp="1"/>
          </p:cNvSpPr>
          <p:nvPr>
            <p:ph type="body" idx="31"/>
          </p:nvPr>
        </p:nvSpPr>
        <p:spPr>
          <a:xfrm>
            <a:off x="914400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32" name="Band"/>
          <p:cNvSpPr/>
          <p:nvPr/>
        </p:nvSpPr>
        <p:spPr>
          <a:xfrm>
            <a:off x="914400" y="5303520"/>
            <a:ext cx="10363200" cy="54864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Band Label"/>
          <p:cNvSpPr>
            <a:spLocks noGrp="1"/>
          </p:cNvSpPr>
          <p:nvPr>
            <p:ph type="body" idx="32"/>
          </p:nvPr>
        </p:nvSpPr>
        <p:spPr>
          <a:xfrm>
            <a:off x="1143000" y="539496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4" name="Band Copy"/>
          <p:cNvSpPr>
            <a:spLocks noGrp="1"/>
          </p:cNvSpPr>
          <p:nvPr>
            <p:ph type="body" idx="33"/>
          </p:nvPr>
        </p:nvSpPr>
        <p:spPr>
          <a:xfrm>
            <a:off x="3154680" y="539496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ประเด็นสรุปรวมสี่การ์ด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3 Process Flo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3" name="Step 1"/>
          <p:cNvSpPr/>
          <p:nvPr/>
        </p:nvSpPr>
        <p:spPr>
          <a:xfrm>
            <a:off x="914400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tep 1 Chip"/>
          <p:cNvSpPr/>
          <p:nvPr/>
        </p:nvSpPr>
        <p:spPr>
          <a:xfrm>
            <a:off x="1143000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tep 1 Chip Num"/>
          <p:cNvSpPr>
            <a:spLocks noGrp="1"/>
          </p:cNvSpPr>
          <p:nvPr>
            <p:ph type="body" idx="20"/>
          </p:nvPr>
        </p:nvSpPr>
        <p:spPr>
          <a:xfrm>
            <a:off x="1143000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1</a:t>
            </a:r>
          </a:p>
        </p:txBody>
      </p:sp>
      <p:sp>
        <p:nvSpPr>
          <p:cNvPr id="16" name="Step 1 Head"/>
          <p:cNvSpPr>
            <a:spLocks noGrp="1"/>
          </p:cNvSpPr>
          <p:nvPr>
            <p:ph type="body" idx="21"/>
          </p:nvPr>
        </p:nvSpPr>
        <p:spPr>
          <a:xfrm>
            <a:off x="1143000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1</a:t>
            </a:r>
          </a:p>
        </p:txBody>
      </p:sp>
      <p:sp>
        <p:nvSpPr>
          <p:cNvPr id="17" name="Step 1 Body"/>
          <p:cNvSpPr>
            <a:spLocks noGrp="1"/>
          </p:cNvSpPr>
          <p:nvPr>
            <p:ph type="body" idx="22"/>
          </p:nvPr>
        </p:nvSpPr>
        <p:spPr>
          <a:xfrm>
            <a:off x="1143000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18" name="Connector 1"/>
          <p:cNvSpPr/>
          <p:nvPr/>
        </p:nvSpPr>
        <p:spPr>
          <a:xfrm>
            <a:off x="2886456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tep 2"/>
          <p:cNvSpPr/>
          <p:nvPr/>
        </p:nvSpPr>
        <p:spPr>
          <a:xfrm>
            <a:off x="3023616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tep 2 Chip"/>
          <p:cNvSpPr/>
          <p:nvPr/>
        </p:nvSpPr>
        <p:spPr>
          <a:xfrm>
            <a:off x="3252216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tep 2 Chip Num"/>
          <p:cNvSpPr>
            <a:spLocks noGrp="1"/>
          </p:cNvSpPr>
          <p:nvPr>
            <p:ph type="body" idx="23"/>
          </p:nvPr>
        </p:nvSpPr>
        <p:spPr>
          <a:xfrm>
            <a:off x="3252216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2</a:t>
            </a:r>
          </a:p>
        </p:txBody>
      </p:sp>
      <p:sp>
        <p:nvSpPr>
          <p:cNvPr id="22" name="Step 2 Head"/>
          <p:cNvSpPr>
            <a:spLocks noGrp="1"/>
          </p:cNvSpPr>
          <p:nvPr>
            <p:ph type="body" idx="24"/>
          </p:nvPr>
        </p:nvSpPr>
        <p:spPr>
          <a:xfrm>
            <a:off x="3252216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2</a:t>
            </a:r>
          </a:p>
        </p:txBody>
      </p:sp>
      <p:sp>
        <p:nvSpPr>
          <p:cNvPr id="23" name="Step 2 Body"/>
          <p:cNvSpPr>
            <a:spLocks noGrp="1"/>
          </p:cNvSpPr>
          <p:nvPr>
            <p:ph type="body" idx="25"/>
          </p:nvPr>
        </p:nvSpPr>
        <p:spPr>
          <a:xfrm>
            <a:off x="3252216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24" name="Connector 2"/>
          <p:cNvSpPr/>
          <p:nvPr/>
        </p:nvSpPr>
        <p:spPr>
          <a:xfrm>
            <a:off x="4995672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tep 3"/>
          <p:cNvSpPr/>
          <p:nvPr/>
        </p:nvSpPr>
        <p:spPr>
          <a:xfrm>
            <a:off x="5132832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tep 3 Chip"/>
          <p:cNvSpPr/>
          <p:nvPr/>
        </p:nvSpPr>
        <p:spPr>
          <a:xfrm>
            <a:off x="5361432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tep 3 Chip Num"/>
          <p:cNvSpPr>
            <a:spLocks noGrp="1"/>
          </p:cNvSpPr>
          <p:nvPr>
            <p:ph type="body" idx="26"/>
          </p:nvPr>
        </p:nvSpPr>
        <p:spPr>
          <a:xfrm>
            <a:off x="5361432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3</a:t>
            </a:r>
          </a:p>
        </p:txBody>
      </p:sp>
      <p:sp>
        <p:nvSpPr>
          <p:cNvPr id="28" name="Step 3 Head"/>
          <p:cNvSpPr>
            <a:spLocks noGrp="1"/>
          </p:cNvSpPr>
          <p:nvPr>
            <p:ph type="body" idx="27"/>
          </p:nvPr>
        </p:nvSpPr>
        <p:spPr>
          <a:xfrm>
            <a:off x="5361432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3</a:t>
            </a:r>
          </a:p>
        </p:txBody>
      </p:sp>
      <p:sp>
        <p:nvSpPr>
          <p:cNvPr id="29" name="Step 3 Body"/>
          <p:cNvSpPr>
            <a:spLocks noGrp="1"/>
          </p:cNvSpPr>
          <p:nvPr>
            <p:ph type="body" idx="28"/>
          </p:nvPr>
        </p:nvSpPr>
        <p:spPr>
          <a:xfrm>
            <a:off x="5361432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0" name="Connector 3"/>
          <p:cNvSpPr/>
          <p:nvPr/>
        </p:nvSpPr>
        <p:spPr>
          <a:xfrm>
            <a:off x="7104888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tep 4"/>
          <p:cNvSpPr/>
          <p:nvPr/>
        </p:nvSpPr>
        <p:spPr>
          <a:xfrm>
            <a:off x="7242048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tep 4 Chip"/>
          <p:cNvSpPr/>
          <p:nvPr/>
        </p:nvSpPr>
        <p:spPr>
          <a:xfrm>
            <a:off x="7470648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tep 4 Chip Num"/>
          <p:cNvSpPr>
            <a:spLocks noGrp="1"/>
          </p:cNvSpPr>
          <p:nvPr>
            <p:ph type="body" idx="29"/>
          </p:nvPr>
        </p:nvSpPr>
        <p:spPr>
          <a:xfrm>
            <a:off x="7470648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4</a:t>
            </a:r>
          </a:p>
        </p:txBody>
      </p:sp>
      <p:sp>
        <p:nvSpPr>
          <p:cNvPr id="34" name="Step 4 Head"/>
          <p:cNvSpPr>
            <a:spLocks noGrp="1"/>
          </p:cNvSpPr>
          <p:nvPr>
            <p:ph type="body" idx="30"/>
          </p:nvPr>
        </p:nvSpPr>
        <p:spPr>
          <a:xfrm>
            <a:off x="7470648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4</a:t>
            </a:r>
          </a:p>
        </p:txBody>
      </p:sp>
      <p:sp>
        <p:nvSpPr>
          <p:cNvPr id="35" name="Step 4 Body"/>
          <p:cNvSpPr>
            <a:spLocks noGrp="1"/>
          </p:cNvSpPr>
          <p:nvPr>
            <p:ph type="body" idx="31"/>
          </p:nvPr>
        </p:nvSpPr>
        <p:spPr>
          <a:xfrm>
            <a:off x="7470648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6" name="Connector 4"/>
          <p:cNvSpPr/>
          <p:nvPr/>
        </p:nvSpPr>
        <p:spPr>
          <a:xfrm>
            <a:off x="9214104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tep 5"/>
          <p:cNvSpPr/>
          <p:nvPr/>
        </p:nvSpPr>
        <p:spPr>
          <a:xfrm>
            <a:off x="9351264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tep 5 Chip"/>
          <p:cNvSpPr/>
          <p:nvPr/>
        </p:nvSpPr>
        <p:spPr>
          <a:xfrm>
            <a:off x="9579864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tep 5 Chip Num"/>
          <p:cNvSpPr>
            <a:spLocks noGrp="1"/>
          </p:cNvSpPr>
          <p:nvPr>
            <p:ph type="body" idx="32"/>
          </p:nvPr>
        </p:nvSpPr>
        <p:spPr>
          <a:xfrm>
            <a:off x="9579864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5</a:t>
            </a:r>
          </a:p>
        </p:txBody>
      </p:sp>
      <p:sp>
        <p:nvSpPr>
          <p:cNvPr id="40" name="Step 5 Head"/>
          <p:cNvSpPr>
            <a:spLocks noGrp="1"/>
          </p:cNvSpPr>
          <p:nvPr>
            <p:ph type="body" idx="33"/>
          </p:nvPr>
        </p:nvSpPr>
        <p:spPr>
          <a:xfrm>
            <a:off x="9579864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5</a:t>
            </a:r>
          </a:p>
        </p:txBody>
      </p:sp>
      <p:sp>
        <p:nvSpPr>
          <p:cNvPr id="41" name="Step 5 Body"/>
          <p:cNvSpPr>
            <a:spLocks noGrp="1"/>
          </p:cNvSpPr>
          <p:nvPr>
            <p:ph type="body" idx="34"/>
          </p:nvPr>
        </p:nvSpPr>
        <p:spPr>
          <a:xfrm>
            <a:off x="9579864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42" name="Result Band"/>
          <p:cNvSpPr/>
          <p:nvPr/>
        </p:nvSpPr>
        <p:spPr>
          <a:xfrm>
            <a:off x="914400" y="4343400"/>
            <a:ext cx="10363200" cy="54864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3" name="Result Label"/>
          <p:cNvSpPr>
            <a:spLocks noGrp="1"/>
          </p:cNvSpPr>
          <p:nvPr>
            <p:ph type="body" idx="35"/>
          </p:nvPr>
        </p:nvSpPr>
        <p:spPr>
          <a:xfrm>
            <a:off x="1143000" y="443484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ผลลัพธ์</a:t>
            </a:r>
          </a:p>
        </p:txBody>
      </p:sp>
      <p:sp>
        <p:nvSpPr>
          <p:cNvPr id="44" name="Result Copy"/>
          <p:cNvSpPr>
            <a:spLocks noGrp="1"/>
          </p:cNvSpPr>
          <p:nvPr>
            <p:ph type="body" idx="36"/>
          </p:nvPr>
        </p:nvSpPr>
        <p:spPr>
          <a:xfrm>
            <a:off x="3154680" y="443484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ผลลัพธ์รวมของกระบวนการ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4 Diagram Canva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4" name="Legend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คำอธิบายสัญลักษณ์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15 Agenda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ชื่อบท</a:t>
            </a:r>
          </a:p>
        </p:txBody>
      </p:sp>
      <p:sp>
        <p:nvSpPr>
          <p:cNvPr id="14" name="Agenda List"/>
          <p:cNvSpPr>
            <a:spLocks noGrp="1"/>
          </p:cNvSpPr>
          <p:nvPr>
            <p:ph type="body" idx="2"/>
          </p:nvPr>
        </p:nvSpPr>
        <p:spPr>
          <a:xfrm>
            <a:off x="914400" y="3931920"/>
            <a:ext cx="621792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2pPr>
            <a:lvl3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หัวข้อที่หนึ่ง</a:t>
            </a:r>
          </a:p>
          <a:p>
            <a: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หัวข้อที่สอง</a:t>
            </a:r>
          </a:p>
          <a:p>
            <a: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หัวข้อที่สาม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16 Dense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011680"/>
            <a:ext cx="10363200" cy="31546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Category Key"/>
          <p:cNvSpPr>
            <a:spLocks noGrp="1"/>
          </p:cNvSpPr>
          <p:nvPr>
            <p:ph type="body" idx="3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■ หมวด 1  ■ หมวด 2  ■ หมวด 3</a:t>
            </a:r>
          </a:p>
        </p:txBody>
      </p:sp>
      <p:sp>
        <p:nvSpPr>
          <p:cNvPr id="19" name="Footnote"/>
          <p:cNvSpPr>
            <a:spLocks noGrp="1"/>
          </p:cNvSpPr>
          <p:nvPr>
            <p:ph type="body" idx="4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6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7 Phase Ca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ey Activity Label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Key Activity :</a:t>
            </a:r>
          </a:p>
        </p:txBody>
      </p:sp>
      <p:sp>
        <p:nvSpPr>
          <p:cNvPr id="13" name="Key Activity Value"/>
          <p:cNvSpPr>
            <a:spLocks noGrp="1"/>
          </p:cNvSpPr>
          <p:nvPr>
            <p:ph type="body" idx="2"/>
          </p:nvPr>
        </p:nvSpPr>
        <p:spPr>
          <a:xfrm>
            <a:off x="2414400" y="169164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กิจกรรมหลักของเฟสนี้</a:t>
            </a:r>
          </a:p>
        </p:txBody>
      </p:sp>
      <p:sp>
        <p:nvSpPr>
          <p:cNvPr id="14" name="Participant Label"/>
          <p:cNvSpPr>
            <a:spLocks noGrp="1"/>
          </p:cNvSpPr>
          <p:nvPr>
            <p:ph type="body" idx="3"/>
          </p:nvPr>
        </p:nvSpPr>
        <p:spPr>
          <a:xfrm>
            <a:off x="914400" y="196596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Participant :</a:t>
            </a:r>
          </a:p>
        </p:txBody>
      </p:sp>
      <p:sp>
        <p:nvSpPr>
          <p:cNvPr id="15" name="Participant Value"/>
          <p:cNvSpPr>
            <a:spLocks noGrp="1"/>
          </p:cNvSpPr>
          <p:nvPr>
            <p:ph type="body" idx="4"/>
          </p:nvPr>
        </p:nvSpPr>
        <p:spPr>
          <a:xfrm>
            <a:off x="2414400" y="196596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ผู้เกี่ยวข้องในเฟสนี้</a:t>
            </a:r>
          </a:p>
        </p:txBody>
      </p:sp>
      <p:sp>
        <p:nvSpPr>
          <p:cNvPr id="16" name="Phase Card"/>
          <p:cNvSpPr/>
          <p:nvPr/>
        </p:nvSpPr>
        <p:spPr>
          <a:xfrm>
            <a:off x="914400" y="2628900"/>
            <a:ext cx="10363200" cy="3406140"/>
          </a:xfrm>
          <a:prstGeom prst="rect">
            <a:avLst/>
          </a:prstGeom>
          <a:noFill/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7" name="Phase Tab"/>
          <p:cNvSpPr/>
          <p:nvPr/>
        </p:nvSpPr>
        <p:spPr>
          <a:xfrm>
            <a:off x="914400" y="2423160"/>
            <a:ext cx="34290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Phase Number"/>
          <p:cNvSpPr>
            <a:spLocks noGrp="1"/>
          </p:cNvSpPr>
          <p:nvPr>
            <p:ph type="body" idx="5"/>
          </p:nvPr>
        </p:nvSpPr>
        <p:spPr>
          <a:xfrm>
            <a:off x="1005840" y="2423160"/>
            <a:ext cx="5029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9" name="Phase Tab Divider"/>
          <p:cNvSpPr/>
          <p:nvPr/>
        </p:nvSpPr>
        <p:spPr>
          <a:xfrm>
            <a:off x="1508760" y="2491740"/>
            <a:ext cx="12700" cy="274320"/>
          </a:xfrm>
          <a:prstGeom prst="rect">
            <a:avLst/>
          </a:prstGeom>
          <a:solidFill>
            <a:srgbClr val="FFFFFF">
              <a:alpha val="3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Phase Label"/>
          <p:cNvSpPr>
            <a:spLocks noGrp="1"/>
          </p:cNvSpPr>
          <p:nvPr>
            <p:ph type="body" idx="6"/>
          </p:nvPr>
        </p:nvSpPr>
        <p:spPr>
          <a:xfrm>
            <a:off x="1645920" y="2423160"/>
            <a:ext cx="25603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ชื่อเฟส</a:t>
            </a:r>
          </a:p>
        </p:txBody>
      </p:sp>
      <p:sp>
        <p:nvSpPr>
          <p:cNvPr id="21" name="Phase Intro"/>
          <p:cNvSpPr>
            <a:spLocks noGrp="1"/>
          </p:cNvSpPr>
          <p:nvPr>
            <p:ph type="body" idx="7"/>
          </p:nvPr>
        </p:nvSpPr>
        <p:spPr>
          <a:xfrm>
            <a:off x="1143000" y="2926080"/>
            <a:ext cx="99060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22" name="Phase Body"/>
          <p:cNvSpPr>
            <a:spLocks noGrp="1"/>
          </p:cNvSpPr>
          <p:nvPr>
            <p:ph type="body" idx="8"/>
          </p:nvPr>
        </p:nvSpPr>
        <p:spPr>
          <a:xfrm>
            <a:off x="1143000" y="3291840"/>
            <a:ext cx="9906000" cy="2514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เนื้อหาของเฟส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18 Evidence Stri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icker Pill"/>
          <p:cNvSpPr/>
          <p:nvPr/>
        </p:nvSpPr>
        <p:spPr>
          <a:xfrm>
            <a:off x="914400" y="1691640"/>
            <a:ext cx="32004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Kicker"/>
          <p:cNvSpPr>
            <a:spLocks noGrp="1"/>
          </p:cNvSpPr>
          <p:nvPr>
            <p:ph type="body" idx="1"/>
          </p:nvPr>
        </p:nvSpPr>
        <p:spPr>
          <a:xfrm>
            <a:off x="1097280" y="1691640"/>
            <a:ext cx="283464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หัวข้อของหลักฐาน</a:t>
            </a:r>
          </a:p>
        </p:txBody>
      </p:sp>
      <p:sp>
        <p:nvSpPr>
          <p:cNvPr id="14" name="Claim Placeholder"/>
          <p:cNvSpPr>
            <a:spLocks noGrp="1"/>
          </p:cNvSpPr>
          <p:nvPr>
            <p:ph type="tbl" idx="2"/>
          </p:nvPr>
        </p:nvSpPr>
        <p:spPr>
          <a:xfrm>
            <a:off x="914400" y="2240280"/>
            <a:ext cx="10363200" cy="146304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5" name="Takeaway Band"/>
          <p:cNvSpPr/>
          <p:nvPr/>
        </p:nvSpPr>
        <p:spPr>
          <a:xfrm>
            <a:off x="914400" y="3840480"/>
            <a:ext cx="10363200" cy="41148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390144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390144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ข้อสรุปหนึ่งบรรทัด</a:t>
            </a:r>
          </a:p>
        </p:txBody>
      </p:sp>
      <p:sp>
        <p:nvSpPr>
          <p:cNvPr id="18" name="Caption 1"/>
          <p:cNvSpPr>
            <a:spLocks noGrp="1"/>
          </p:cNvSpPr>
          <p:nvPr>
            <p:ph type="body" idx="20"/>
          </p:nvPr>
        </p:nvSpPr>
        <p:spPr>
          <a:xfrm>
            <a:off x="91440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19" name="Evidence 1 Frame"/>
          <p:cNvSpPr/>
          <p:nvPr/>
        </p:nvSpPr>
        <p:spPr>
          <a:xfrm>
            <a:off x="91440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0" name="Evidence 1"/>
          <p:cNvSpPr>
            <a:spLocks noGrp="1"/>
          </p:cNvSpPr>
          <p:nvPr>
            <p:ph type="pic" idx="21"/>
          </p:nvPr>
        </p:nvSpPr>
        <p:spPr>
          <a:xfrm>
            <a:off x="91440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1" name="Caption 2"/>
          <p:cNvSpPr>
            <a:spLocks noGrp="1"/>
          </p:cNvSpPr>
          <p:nvPr>
            <p:ph type="body" idx="22"/>
          </p:nvPr>
        </p:nvSpPr>
        <p:spPr>
          <a:xfrm>
            <a:off x="442976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2" name="Evidence 2 Frame"/>
          <p:cNvSpPr/>
          <p:nvPr/>
        </p:nvSpPr>
        <p:spPr>
          <a:xfrm>
            <a:off x="442976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3" name="Evidence 2"/>
          <p:cNvSpPr>
            <a:spLocks noGrp="1"/>
          </p:cNvSpPr>
          <p:nvPr>
            <p:ph type="pic" idx="23"/>
          </p:nvPr>
        </p:nvSpPr>
        <p:spPr>
          <a:xfrm>
            <a:off x="442976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4" name="Caption 3"/>
          <p:cNvSpPr>
            <a:spLocks noGrp="1"/>
          </p:cNvSpPr>
          <p:nvPr>
            <p:ph type="body" idx="24"/>
          </p:nvPr>
        </p:nvSpPr>
        <p:spPr>
          <a:xfrm>
            <a:off x="794512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5" name="Evidence 3 Frame"/>
          <p:cNvSpPr/>
          <p:nvPr/>
        </p:nvSpPr>
        <p:spPr>
          <a:xfrm>
            <a:off x="794512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6" name="Evidence 3"/>
          <p:cNvSpPr>
            <a:spLocks noGrp="1"/>
          </p:cNvSpPr>
          <p:nvPr>
            <p:ph type="pic" idx="25"/>
          </p:nvPr>
        </p:nvSpPr>
        <p:spPr>
          <a:xfrm>
            <a:off x="794512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theme" Target="../theme/theme1.xml"/><Relationship Id="rId20" Type="http://schemas.openxmlformats.org/officeDocument/2006/relationships/image" Target="../media/mark-color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NCT 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แก้ไขรูปแบบชื่อเรื่องต้นแบบ</a:t>
            </a:r>
          </a:p>
        </p:txBody>
      </p:sp>
      <p:sp>
        <p:nvSpPr>
          <p:cNvPr id="3" name="Title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" name="Tex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แก้ไขรูปแบบข้อความต้นแบบ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</p:sldLayoutIdLst>
  <p:txStyles>
    <p:titleStyle>
      <a:lvl1pPr algn="l" marL="0" indent="0">
        <a:lnSpc>
          <a:spcPct val="108000"/>
        </a:lnSpc>
        <a:buNone/>
        <a:defRPr lang="th-TH" sz="3200" b="1" dirty="0">
          <a:solidFill>
            <a:srgbClr val="23436D"/>
          </a:solidFill>
          <a:latin typeface="+mj-lt"/>
          <a:ea typeface="+mj-ea"/>
          <a:cs typeface="+mj-cs"/>
        </a:defRPr>
      </a:lvl1pPr>
    </p:titleStyle>
    <p:bodyStyle>
      <a:lvl1pPr algn="l" marL="228600" indent="-228600">
        <a:lnSpc>
          <a:spcPct val="124000"/>
        </a:lnSpc>
        <a:spcBef>
          <a:spcPts val="1000"/>
        </a:spcBef>
        <a:buClr>
          <a:srgbClr val="216B7F"/>
        </a:buClr>
        <a:buSzPct val="90000"/>
        <a:buFont typeface="Arial"/>
        <a:buChar char="•"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  <a:lvl2pPr algn="l" marL="685800" indent="-228600">
        <a:lnSpc>
          <a:spcPct val="124000"/>
        </a:lnSpc>
        <a:spcBef>
          <a:spcPts val="700"/>
        </a:spcBef>
        <a:buClr>
          <a:srgbClr val="5F5F5F"/>
        </a:buClr>
        <a:buSzPct val="90000"/>
        <a:buFont typeface="Arial"/>
        <a:buChar char="–"/>
        <a:defRPr lang="th-TH" sz="1600" dirty="0">
          <a:solidFill>
            <a:srgbClr val="333333"/>
          </a:solidFill>
          <a:latin typeface="+mn-lt"/>
          <a:ea typeface="+mn-ea"/>
          <a:cs typeface="+mn-cs"/>
        </a:defRPr>
      </a:lvl2pPr>
      <a:lvl3pPr algn="l" marL="1143000" indent="-228600">
        <a:lnSpc>
          <a:spcPct val="124000"/>
        </a:lnSpc>
        <a:spcBef>
          <a:spcPts val="5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3pPr>
      <a:lvl4pPr algn="l" marL="16002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4pPr>
      <a:lvl5pPr algn="l" marL="20574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5pPr>
    </p:bodyStyle>
    <p:otherStyle>
      <a:lvl1pPr algn="l" marL="0" indent="0">
        <a:lnSpc>
          <a:spcPct val="100000"/>
        </a:lnSpc>
        <a:buNone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ข้อเสนอโครงการวางระบบบัญชีอัตโนมัติ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New Computer Technology Consulting Co., Ltd. ·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00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หัวข้อนำเสนอ</a:t>
            </a:r>
          </a:p>
        </p:txBody>
      </p:sp>
      <p:sp>
        <p:nvSpPr>
          <p:cNvPr id="4" name="Lis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บริบทและปัญหาที่พบ</a:t>
            </a:r>
          </a:p>
          <a:p>
            <a:pPr/>
            <a:r>
              <a:rPr lang="th-TH" dirty="0"/>
              <a:t>ผลลัพธ์ที่ข้อเสนอนี้ให้</a:t>
            </a:r>
          </a:p>
          <a:p>
            <a:pPr/>
            <a:r>
              <a:rPr lang="th-TH" dirty="0"/>
              <a:t>วิธีการทำงานและสถาปัตยกรรม</a:t>
            </a:r>
          </a:p>
          <a:p>
            <a:pPr/>
            <a:r>
              <a:rPr lang="th-TH" dirty="0"/>
              <a:t>ขอบเขตงานรายกระบวนการ</a:t>
            </a:r>
          </a:p>
          <a:p>
            <a:pPr/>
            <a:r>
              <a:rPr lang="th-TH" dirty="0"/>
              <a:t>ทีมงานและประสบการณ์</a:t>
            </a:r>
          </a:p>
          <a:p>
            <a:pPr/>
            <a:r>
              <a:rPr lang="th-TH" dirty="0"/>
              <a:t>แพ็กเกจและงบประมาณ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</a:t>
            </a:r>
          </a:p>
        </p:txBody>
      </p:sp>
      <p:sp>
        <p:nvSpPr>
          <p:cNvPr id="4" name="Des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สิ่งที่เราพบจากการสำรวจงานบัญชีของท่านสองสัปดาห์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สภาพระบบบัญชีปัจจุบัน</a:t>
            </a:r>
          </a:p>
        </p:txBody>
      </p:sp>
      <p:sp>
        <p:nvSpPr>
          <p:cNvPr id="3" name="Ctx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สภาพปัจจุบัน</a:t>
            </a:r>
          </a:p>
        </p:txBody>
      </p:sp>
      <p:sp>
        <p:nvSpPr>
          <p:cNvPr id="4" name="Ctx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คีย์เอกสารซ้ำสามระบบ ไม่มีจุดตรวจกลาง</a:t>
            </a:r>
          </a:p>
          <a:p>
            <a:pPr lvl="1"/>
            <a:r>
              <a:rPr lang="th-TH" dirty="0"/>
              <a:t>เอกสารเข้าเฉลี่ย 1,200 ใบต่อเดือน</a:t>
            </a:r>
          </a:p>
          <a:p>
            <a:pPr/>
            <a:r>
              <a:rPr lang="th-TH" dirty="0"/>
              <a:t>ปิดงบล่าช้าเฉลี่ย 6 วันทำการ</a:t>
            </a:r>
          </a:p>
          <a:p>
            <a:pPr/>
            <a:r>
              <a:rPr lang="th-TH" dirty="0"/>
              <a:t>ไม่มี audit trail ของการแก้ไขรายการ</a:t>
            </a:r>
          </a:p>
        </p:txBody>
      </p:sp>
      <p:sp>
        <p:nvSpPr>
          <p:cNvPr id="5" name="OutK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สิ่งที่จะเกิดขึ้น</a:t>
            </a:r>
          </a:p>
        </p:txBody>
      </p:sp>
      <p:sp>
        <p:nvSpPr>
          <p:cNvPr id="6" name="Out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คีย์จุดเดียว ระบบกระจายต่อให้อัตโนมัติ</a:t>
            </a:r>
          </a:p>
          <a:p>
            <a:pPr lvl="1"/>
            <a:r>
              <a:rPr lang="th-TH" dirty="0"/>
              <a:t>ลดเวลาคีย์ต่อใบจาก 4 นาที เหลือ 40 วินาที</a:t>
            </a:r>
          </a:p>
          <a:p>
            <a:pPr/>
            <a:r>
              <a:rPr lang="th-TH" dirty="0"/>
              <a:t>ปิดงบภายใน 2 วันทำการ</a:t>
            </a:r>
          </a:p>
          <a:p>
            <a:pPr/>
            <a:r>
              <a:rPr lang="th-TH" dirty="0"/>
              <a:t>บันทึกทุกการแก้ไขพร้อมผู้ทำและเวลา</a:t>
            </a:r>
          </a:p>
        </p:txBody>
      </p:sp>
      <p:sp>
        <p:nvSpPr>
          <p:cNvPr id="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ปัญหาหลักคือการคีย์ซ้ำ ไม่ใช่จำนวนเอกสาร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ก่อนและหลังใช้บริการ</a:t>
            </a:r>
          </a:p>
        </p:txBody>
      </p:sp>
      <p:sp>
        <p:nvSpPr>
          <p:cNvPr id="3" name="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ก่อน</a:t>
            </a:r>
          </a:p>
          <a:p>
            <a:pPr lvl="1"/>
            <a:r>
              <a:rPr lang="th-TH" dirty="0"/>
              <a:t>ระบบล่มบ่อย ไม่มีคนดูแลประจำ</a:t>
            </a:r>
          </a:p>
          <a:p>
            <a:pPr lvl="1"/>
            <a:r>
              <a:rPr lang="th-TH" dirty="0"/>
              <a:t>ค่าใช้จ่ายไม่แน่นอน</a:t>
            </a:r>
          </a:p>
        </p:txBody>
      </p:sp>
      <p:sp>
        <p:nvSpPr>
          <p:cNvPr id="4" name="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หลัง</a:t>
            </a:r>
          </a:p>
          <a:p>
            <a:pPr lvl="1"/>
            <a:r>
              <a:rPr lang="th-TH" dirty="0"/>
              <a:t>มอนิเตอร์ 24 ชั่วโมง แจ้งเตือนอัตโนมัติ</a:t>
            </a:r>
          </a:p>
          <a:p>
            <a:pPr lvl="1"/>
            <a:r>
              <a:rPr lang="th-TH" dirty="0"/>
              <a:t>ค่าใช้จ่ายคงที่ต่อเดือน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สี่ผลลัพธ์ที่ข้อเสนอนี้ให้</a:t>
            </a:r>
          </a:p>
        </p:txBody>
      </p:sp>
      <p:sp>
        <p:nvSpPr>
          <p:cNvPr id="3" name="N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4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ลดงานคีย์ซ้ำ</a:t>
            </a:r>
          </a:p>
        </p:txBody>
      </p:sp>
      <p:sp>
        <p:nvSpPr>
          <p:cNvPr id="5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รับเอกสารเข้าระบบเดียว แล้วกระจายต่อให้ทุกปลายทางอัตโนมัติ</a:t>
            </a:r>
          </a:p>
        </p:txBody>
      </p:sp>
      <p:sp>
        <p:nvSpPr>
          <p:cNvPr id="6" name="N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02</a:t>
            </a:r>
          </a:p>
        </p:txBody>
      </p:sp>
      <p:sp>
        <p:nvSpPr>
          <p:cNvPr id="7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ตรวจสอบได้</a:t>
            </a:r>
          </a:p>
        </p:txBody>
      </p:sp>
      <p:sp>
        <p:nvSpPr>
          <p:cNvPr id="8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ทุกรายการมี audit trail ผู้ทำ เวลา และค่าก่อนหลัง</a:t>
            </a:r>
          </a:p>
        </p:txBody>
      </p:sp>
      <p:sp>
        <p:nvSpPr>
          <p:cNvPr id="9" name="N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03</a:t>
            </a:r>
          </a:p>
        </p:txBody>
      </p:sp>
      <p:sp>
        <p:nvSpPr>
          <p:cNvPr id="10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ปิดงบเร็วขึ้น</a:t>
            </a:r>
          </a:p>
        </p:txBody>
      </p:sp>
      <p:sp>
        <p:nvSpPr>
          <p:cNvPr id="11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กระทบยอดอัตโนมัติรายวัน ไม่ต้องรอสิ้นเดือน</a:t>
            </a:r>
          </a:p>
        </p:txBody>
      </p:sp>
      <p:sp>
        <p:nvSpPr>
          <p:cNvPr id="12" name="N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04</a:t>
            </a:r>
          </a:p>
        </p:txBody>
      </p:sp>
      <p:sp>
        <p:nvSpPr>
          <p:cNvPr id="13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ขยายต่อได้</a:t>
            </a:r>
          </a:p>
        </p:txBody>
      </p:sp>
      <p:sp>
        <p:nvSpPr>
          <p:cNvPr id="14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เพิ่มกระบวนการใหม่โดยไม่แก้ของเดิม</a:t>
            </a:r>
          </a:p>
        </p:txBody>
      </p:sp>
      <p:sp>
        <p:nvSpPr>
          <p:cNvPr id="15" name="BL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6" name="BC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ทั้งสี่ข้อมาจากการแก้จุดเดียวกัน คือรวมจุดรับเอกสาร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วิธีการทำงาน</a:t>
            </a:r>
          </a:p>
        </p:txBody>
      </p:sp>
      <p:sp>
        <p:nvSpPr>
          <p:cNvPr id="3" name="Cap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กระบวนการ สถาปัตยกรรม และขอบเขตที่ตกลงกัน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กระบวนการที่เสนอ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ห้าขั้นตอน ทำงานต่อเนื่องโดยไม่ต้องคีย์ซ้ำ</a:t>
            </a:r>
          </a:p>
        </p:txBody>
      </p:sp>
      <p:sp>
        <p:nvSpPr>
          <p:cNvPr id="4" name="C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1</a:t>
            </a:r>
          </a:p>
        </p:txBody>
      </p:sp>
      <p:sp>
        <p:nvSpPr>
          <p:cNvPr id="5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รับเอกสาร</a:t>
            </a:r>
          </a:p>
        </p:txBody>
      </p:sp>
      <p:sp>
        <p:nvSpPr>
          <p:cNvPr id="6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สแกนหรือรับไฟล์เข้าคิวกลาง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2</a:t>
            </a:r>
          </a:p>
        </p:txBody>
      </p:sp>
      <p:sp>
        <p:nvSpPr>
          <p:cNvPr id="8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อ่านข้อมูล</a:t>
            </a:r>
          </a:p>
        </p:txBody>
      </p:sp>
      <p:sp>
        <p:nvSpPr>
          <p:cNvPr id="9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ดึงฟิลด์สำคัญ ตรวจกับต้นทาง</a:t>
            </a:r>
          </a:p>
        </p:txBody>
      </p:sp>
      <p:sp>
        <p:nvSpPr>
          <p:cNvPr id="10" name="C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3</a:t>
            </a:r>
          </a:p>
        </p:txBody>
      </p:sp>
      <p:sp>
        <p:nvSpPr>
          <p:cNvPr id="11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ตรวจสอบ</a:t>
            </a:r>
          </a:p>
        </p:txBody>
      </p:sp>
      <p:sp>
        <p:nvSpPr>
          <p:cNvPr id="12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กฎธุรกิจและวงเงินอนุมัติ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4</a:t>
            </a:r>
          </a:p>
        </p:txBody>
      </p:sp>
      <p:sp>
        <p:nvSpPr>
          <p:cNvPr id="14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บันทึก</a:t>
            </a:r>
          </a:p>
        </p:txBody>
      </p:sp>
      <p:sp>
        <p:nvSpPr>
          <p:cNvPr id="15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ลงระบบบัญชีพร้อม audit trail</a:t>
            </a:r>
          </a:p>
        </p:txBody>
      </p:sp>
      <p:sp>
        <p:nvSpPr>
          <p:cNvPr id="16" name="C4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5</a:t>
            </a:r>
          </a:p>
        </p:txBody>
      </p:sp>
      <p:sp>
        <p:nvSpPr>
          <p:cNvPr id="17" name="H4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กระทบยอด</a:t>
            </a:r>
          </a:p>
        </p:txBody>
      </p:sp>
      <p:sp>
        <p:nvSpPr>
          <p:cNvPr id="18" name="B4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จับคู่อัตโนมัติ ส่งรายงาน</a:t>
            </a:r>
          </a:p>
        </p:txBody>
      </p:sp>
      <p:sp>
        <p:nvSpPr>
          <p:cNvPr id="19" name="RL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ผลลัพธ์</a:t>
            </a:r>
          </a:p>
        </p:txBody>
      </p:sp>
      <p:sp>
        <p:nvSpPr>
          <p:cNvPr id="20" name="RC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เอกสารหนึ่งใบผ่านครบห้าขั้นโดยไม่มีการคีย์ซ้ำเลย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ภาพรวมสถาปัตยกรรมระบบ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ใช้ชุดชิ้นส่วนมาตรฐาน — กล่องมุมตรง เส้นหักมุมฉาก ไม่มีเงา</a:t>
            </a:r>
          </a:p>
        </p:txBody>
      </p:sp>
      <p:sp>
        <p:nvSpPr>
          <p:cNvPr id="4" name="Le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กล่องทึบ = ระบบที่มีอยู่  ·  กล่องมีสีหมวด = ส่วนที่เพิ่ม  ·  เส้นทึบ = ข้อมูลไหลอัตโนมัติ</a:t>
            </a:r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ระบบเดิมไม่ถูกแก้ ของใหม่แทรกเป็นคิวและตัวตรวจกฎคั่นกลางเท่านั้น</a:t>
            </a:r>
          </a:p>
        </p:txBody>
      </p:sp>
      <p:sp>
        <p:nvSpPr>
          <p:cNvPr id="10" name="Group Zone"/>
          <p:cNvSpPr/>
          <p:nvPr/>
        </p:nvSpPr>
        <p:spPr>
          <a:xfrm>
            <a:off x="3566160" y="2766060"/>
            <a:ext cx="5257800" cy="16459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Group Label"/>
          <p:cNvSpPr/>
          <p:nvPr/>
        </p:nvSpPr>
        <p:spPr>
          <a:xfrm>
            <a:off x="3840480" y="2926080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ส่วนที่เพิ่มใหม่</a:t>
            </a:r>
          </a:p>
        </p:txBody>
      </p:sp>
      <p:sp>
        <p:nvSpPr>
          <p:cNvPr id="12" name="Box 1"/>
          <p:cNvSpPr/>
          <p:nvPr/>
        </p:nvSpPr>
        <p:spPr>
          <a:xfrm>
            <a:off x="114300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 ERP ปัจจุบัน</a:t>
            </a:r>
          </a:p>
        </p:txBody>
      </p:sp>
      <p:sp>
        <p:nvSpPr>
          <p:cNvPr id="13" name="Box 2"/>
          <p:cNvSpPr/>
          <p:nvPr/>
        </p:nvSpPr>
        <p:spPr>
          <a:xfrm>
            <a:off x="384048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3436D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คิวเอกสารกลาง</a:t>
            </a:r>
          </a:p>
        </p:txBody>
      </p:sp>
      <p:sp>
        <p:nvSpPr>
          <p:cNvPr id="113" name="Box 2 Tab"/>
          <p:cNvSpPr/>
          <p:nvPr/>
        </p:nvSpPr>
        <p:spPr>
          <a:xfrm>
            <a:off x="3954780" y="3337560"/>
            <a:ext cx="205740" cy="457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Box 3"/>
          <p:cNvSpPr/>
          <p:nvPr/>
        </p:nvSpPr>
        <p:spPr>
          <a:xfrm>
            <a:off x="653796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ตัวตรวจกฎธุรกิจ</a:t>
            </a:r>
          </a:p>
        </p:txBody>
      </p:sp>
      <p:sp>
        <p:nvSpPr>
          <p:cNvPr id="114" name="Box 3 Tab"/>
          <p:cNvSpPr/>
          <p:nvPr/>
        </p:nvSpPr>
        <p:spPr>
          <a:xfrm>
            <a:off x="6652260" y="3337560"/>
            <a:ext cx="2057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Box 4"/>
          <p:cNvSpPr/>
          <p:nvPr/>
        </p:nvSpPr>
        <p:spPr>
          <a:xfrm>
            <a:off x="923544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ระบบบัญชี</a:t>
            </a:r>
          </a:p>
        </p:txBody>
      </p:sp>
      <p:sp>
        <p:nvSpPr>
          <p:cNvPr id="16" name="Link 1"/>
          <p:cNvSpPr/>
          <p:nvPr/>
        </p:nvSpPr>
        <p:spPr>
          <a:xfrm>
            <a:off x="326898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7" name="Link 2"/>
          <p:cNvSpPr/>
          <p:nvPr/>
        </p:nvSpPr>
        <p:spPr>
          <a:xfrm>
            <a:off x="596646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8" name="Link 3"/>
          <p:cNvSpPr/>
          <p:nvPr/>
        </p:nvSpPr>
        <p:spPr>
          <a:xfrm>
            <a:off x="866394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9" name="Edge Label"/>
          <p:cNvSpPr/>
          <p:nvPr/>
        </p:nvSpPr>
        <p:spPr>
          <a:xfrm>
            <a:off x="5806440" y="3268980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ผ่านกฎ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ขอบเขตงานรายกระบวนการ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แปดกระบวนการที่อยู่ในขอบเขต แบ่งตามหมวดและรอบส่งมอบ</a:t>
            </a:r>
          </a:p>
        </p:txBody>
      </p:sp>
      <p:graphicFrame>
        <p:nvGraphicFramePr>
          <p:cNvPr id="4" name="Scope Table"/>
          <p:cNvGraphicFramePr>
            <a:graphicFrameLocks noGrp="1"/>
          </p:cNvGraphicFramePr>
          <p:nvPr>
            <p:ph type="tbl" idx="1"/>
          </p:nvPr>
        </p:nvGraphicFramePr>
        <p:xfrm>
          <a:off x="914400" y="2011680"/>
          <a:ext cx="10363200" cy="3163824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594360"/>
                <a:gridCol w="3200400"/>
                <a:gridCol w="1965960"/>
                <a:gridCol w="1600200"/>
                <a:gridCol w="1554480"/>
                <a:gridCol w="1447800"/>
              </a:tblGrid>
              <a:tr h="347472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#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กระบวนการ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หมวด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ปริมาณ/เดือน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ความพร้อม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รอบที่ทำ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3436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บันทึกใบแจ้งหนี้ซื้อ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3436D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420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3436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กระทบยอดใบสั่งซื้อ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3436D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380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16B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ออกใบแจ้งหนี้ขาย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16B7F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260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16B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ติดตามลูกหนี้ค้างชำระ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16B7F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150 ราย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5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3436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บันทึกค่าใช้จ่ายพนักงาน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3436D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310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16324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ปรับปรุงบัญชีสิ้นเดือน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6324F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45 รายการ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7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16324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กระทบยอดธนาคาร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6324F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12 บัญชี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16324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รายงานภาษีซื้อ-ขาย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6324F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 ชุด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Key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■ AP · เจ้าหนี้   ■ AR · ลูกหนี้   ■ GL · บัญชีแยกประเภท</a:t>
            </a:r>
          </a:p>
        </p:txBody>
      </p:sp>
      <p:sp>
        <p:nvSpPr>
          <p:cNvPr id="6" name="Foo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ปริมาณเป็นค่าเฉลี่ยจากข้อมูล 3 เดือนล่าสุด</a:t>
            </a:r>
          </a:p>
        </p:txBody>
      </p:sp>
      <p:sp>
        <p:nvSpPr>
          <p:cNvPr id="7" name="T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หกในแปดกระบวนการเริ่มได้ทันทีในรอบ 1-2 อีกสองรายการรอสิทธิ์เข้าระบบ ยืนยันภายใน 15 วัน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ขอบเขตบริการของ NCT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วางระบบโครงสร้างพื้นฐานไอทีสำหรับองค์กร</a:t>
            </a:r>
          </a:p>
          <a:p>
            <a:pPr lvl="1"/>
            <a:r>
              <a:rPr lang="th-TH" dirty="0"/>
              <a:t>ออกแบบเครือข่าย ระบบสำรองข้อมูล และความปลอดภัย</a:t>
            </a:r>
          </a:p>
          <a:p>
            <a:pPr/>
            <a:r>
              <a:rPr lang="th-TH" dirty="0"/>
              <a:t>ดูแลระบบต่อเนื่องแบบ Managed Service</a:t>
            </a:r>
          </a:p>
          <a:p>
            <a:pPr lvl="1"/>
            <a:r>
              <a:rPr lang="th-TH" dirty="0"/>
              <a:t>มีทีมซัพพอร์ตตอบกลับภายใน SLA ที่ตกลงกัน</a:t>
            </a:r>
          </a:p>
          <a:p>
            <a:pPr/>
            <a:r>
              <a:rPr lang="th-TH" dirty="0"/>
              <a:t>ให้คำปรึกษาการย้ายระบบขึ้นคลาวด์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สามเสาหลักของบริการ</a:t>
            </a:r>
          </a:p>
        </p:txBody>
      </p:sp>
      <p:sp>
        <p:nvSpPr>
          <p:cNvPr id="3" name="C1H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Infrastructure</a:t>
            </a:r>
          </a:p>
        </p:txBody>
      </p:sp>
      <p:sp>
        <p:nvSpPr>
          <p:cNvPr id="4" name="C1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ออกแบบและติดตั้งเครือข่าย เซิร์ฟเวอร์ และระบบสำรองข้อมูล</a:t>
            </a:r>
          </a:p>
        </p:txBody>
      </p:sp>
      <p:sp>
        <p:nvSpPr>
          <p:cNvPr id="5" name="C2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Managed Service</a:t>
            </a:r>
          </a:p>
        </p:txBody>
      </p:sp>
      <p:sp>
        <p:nvSpPr>
          <p:cNvPr id="6" name="C2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ดูแลระบบรายเดือน พร้อมทีมซัพพอร์ตและรายงานสุขภาพระบบ</a:t>
            </a:r>
          </a:p>
        </p:txBody>
      </p:sp>
      <p:sp>
        <p:nvSpPr>
          <p:cNvPr id="7" name="C3H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Cloud &amp; Security</a:t>
            </a:r>
          </a:p>
        </p:txBody>
      </p:sp>
      <p:sp>
        <p:nvSpPr>
          <p:cNvPr id="8" name="C3B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ย้ายระบบขึ้นคลาวด์ และวางมาตรการความปลอดภัยตามมาตรฐาน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ตัวเลขที่บอกเรื่องเรา</a:t>
            </a:r>
          </a:p>
        </p:txBody>
      </p:sp>
      <p:sp>
        <p:nvSpPr>
          <p:cNvPr id="3" name="F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12</a:t>
            </a:r>
          </a:p>
        </p:txBody>
      </p:sp>
      <p:sp>
        <p:nvSpPr>
          <p:cNvPr id="4" name="F1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ปีที่ให้บริการองค์กรไทย</a:t>
            </a:r>
          </a:p>
        </p:txBody>
      </p:sp>
      <p:sp>
        <p:nvSpPr>
          <p:cNvPr id="5" name="F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99.9%</a:t>
            </a:r>
          </a:p>
        </p:txBody>
      </p:sp>
      <p:sp>
        <p:nvSpPr>
          <p:cNvPr id="6" name="F2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Uptime เฉลี่ยของระบบที่ดูแล</a:t>
            </a:r>
          </a:p>
        </p:txBody>
      </p:sp>
      <p:sp>
        <p:nvSpPr>
          <p:cNvPr id="7" name="F3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24/7</a:t>
            </a:r>
          </a:p>
        </p:txBody>
      </p:sp>
      <p:sp>
        <p:nvSpPr>
          <p:cNvPr id="8" name="F3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ทีมเฝ้าระวังและตอบกลับ</a:t>
            </a:r>
          </a:p>
        </p:txBody>
      </p:sp>
      <p:sp>
        <p:nvSpPr>
          <p:cNvPr id="9" name="FN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ข้อมูล ณ ไตรมาส 1 ปี 2569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ระบบไม่ล่มอีกเลยตั้งแต่เปลี่ยนมาใช้ทีมนี้ดูแล และเราวางแผนงบประมาณได้ล่วงหน้าจริง ๆ</a:t>
            </a:r>
          </a:p>
        </p:txBody>
      </p:sp>
      <p:sp>
        <p:nvSpPr>
          <p:cNvPr id="3" name="A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คุณสมชาย ป. — ผู้จัดการฝ่ายไอที, บริษัทตัวอย่าง จำกัด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แพ็กเกจและงบประมาณ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เลือกระดับบริการให้ตรงกับขนาดองค์กร ราคาไม่รวมภาษีมูลค่าเพิ่ม</a:t>
            </a:r>
          </a:p>
        </p:txBody>
      </p:sp>
      <p:graphicFrame>
        <p:nvGraphicFramePr>
          <p:cNvPr id="4" name="Package Table"/>
          <p:cNvGraphicFramePr>
            <a:graphicFrameLocks noGrp="1"/>
          </p:cNvGraphicFramePr>
          <p:nvPr>
            <p:ph type="tbl" idx="1"/>
          </p:nvPr>
        </p:nvGraphicFramePr>
        <p:xfrm>
          <a:off x="914400" y="2286000"/>
          <a:ext cx="10363200" cy="2107692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3181080"/>
                <a:gridCol w="2394040"/>
                <a:gridCol w="2394040"/>
                <a:gridCol w="239404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endParaRPr lang="th-TH" sz="1100"/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Essential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Business</a:t>
                      </a:r>
                    </a:p>
                  </a:txBody>
                  <a:tcPr marL="73152" marR="73152" marT="73152" marB="73152" anchor="ctr">
                    <a:solidFill>
                      <a:srgbClr val="216B7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Enterprise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ชั่วโมงซัพพอร์ต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จันทร์–ศุกร์ 9–18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จันทร์–เสาร์ 8–20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24/7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เวลาตอบกลับ (SLA)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 ชั่วโมง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มอนิเตอร์ระบบ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 + แจ้งเตือน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รายงานสุขภาพระบบ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ไตรมาส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รายสัปดาห์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ค่าบริการต่อเดือน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18,000 บาท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32,000 บาท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65,000 บาท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9" name="Recommended Cap"/>
          <p:cNvSpPr/>
          <p:nvPr/>
        </p:nvSpPr>
        <p:spPr>
          <a:xfrm>
            <a:off x="6489520" y="2240280"/>
            <a:ext cx="23940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องค์กร 50-200 ที่นั่งเลือก Business เป็นค่าเริ่มต้น ตอบกลับ 4 ชั่วโมงครอบคลุมงานปิดงบรายเดือน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5. Implementation Stage</a:t>
            </a:r>
          </a:p>
        </p:txBody>
      </p:sp>
      <p:sp>
        <p:nvSpPr>
          <p:cNvPr id="3" name="KA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Key Activity :</a:t>
            </a:r>
          </a:p>
        </p:txBody>
      </p:sp>
      <p:sp>
        <p:nvSpPr>
          <p:cNvPr id="4" name="KAV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ตั้งค่าสภาพแวดล้อม ติดตั้งฮาร์ดแวร์และซอฟต์แวร์</a:t>
            </a:r>
          </a:p>
        </p:txBody>
      </p:sp>
      <p:sp>
        <p:nvSpPr>
          <p:cNvPr id="5" name="P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Participant :</a:t>
            </a:r>
          </a:p>
        </p:txBody>
      </p:sp>
      <p:sp>
        <p:nvSpPr>
          <p:cNvPr id="6" name="PV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NCT Infra Engineer, ทีมไอทีลูกค้า, Business Analyst</a:t>
            </a:r>
          </a:p>
        </p:txBody>
      </p:sp>
      <p:sp>
        <p:nvSpPr>
          <p:cNvPr id="7" name="PN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8" name="PP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Preparation Phase</a:t>
            </a:r>
          </a:p>
        </p:txBody>
      </p:sp>
      <p:sp>
        <p:nvSpPr>
          <p:cNvPr id="9" name="PI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สรุปสเปกเครื่องและบริการคลาวด์ที่ต้องเตรียมให้พร้อมก่อนเริ่มงานพัฒนา</a:t>
            </a:r>
          </a:p>
        </p:txBody>
      </p:sp>
      <p:sp>
        <p:nvSpPr>
          <p:cNvPr id="10" name="PB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PRD · 4 คอร์ / 16GB / SSD 300GB</a:t>
            </a:r>
          </a:p>
          <a:p>
            <a:pPr/>
            <a:r>
              <a:rPr lang="th-TH" dirty="0"/>
              <a:t>QA · 4 คอร์ / 16GB / SSD 150GB</a:t>
            </a:r>
          </a:p>
          <a:p>
            <a:pPr/>
            <a:r>
              <a:rPr lang="th-TH" dirty="0"/>
              <a:t>Windows Server 2022 ทั้งสองเครื่อง</a:t>
            </a:r>
          </a:p>
          <a:p>
            <a:pPr/>
            <a:r>
              <a:rPr lang="th-TH" dirty="0"/>
              <a:t>Lambda, EC2 และ Cognito เปิดทั้งสองสภาพแวดล้อม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8. Project Training</a:t>
            </a:r>
          </a:p>
        </p:txBody>
      </p:sp>
      <p:sp>
        <p:nvSpPr>
          <p:cNvPr id="3" name="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วัตถุประสงค์ของการอบรม</a:t>
            </a:r>
          </a:p>
        </p:txBody>
      </p:sp>
      <p:graphicFrame>
        <p:nvGraphicFramePr>
          <p:cNvPr id="4" name="Training Table"/>
          <p:cNvGraphicFramePr>
            <a:graphicFrameLocks noGrp="1"/>
          </p:cNvGraphicFramePr>
          <p:nvPr>
            <p:ph type="tbl" idx="2"/>
          </p:nvPr>
        </p:nvGraphicFramePr>
        <p:xfrm>
          <a:off x="914400" y="2240280"/>
          <a:ext cx="8092440" cy="1051560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1600200"/>
                <a:gridCol w="3200400"/>
                <a:gridCol w="1188720"/>
                <a:gridCol w="210312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หลักสูตร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วัตถุประสงค์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ระยะเวลา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เงื่อนไขการจัด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1. การใช้งานสำหรับผู้ใช้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เข้าใจการใช้งานระบบในงานประจำวัน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2. การดูแลสำหรับผู้ดูแลระบบ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เข้าใจการบำรุงรักษาและแก้ปัญหาเบื้องต้น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อบรมสองหลักสูตร รวม 8 ชั่วโมง จบภายในสัปดาห์เดียวก่อนวันขึ้นระบบ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อบรมที่สำนักงานลูกค้า 20-50 คน</a:t>
            </a:r>
          </a:p>
        </p:txBody>
      </p:sp>
      <p:sp>
        <p:nvSpPr>
          <p:cNvPr id="8" name="C2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อบรมกลุ่มย่อยในห้องประชุม 2-20 คน</a:t>
            </a:r>
          </a:p>
        </p:txBody>
      </p:sp>
      <p:sp>
        <p:nvSpPr>
          <p:cNvPr id="9" name="C3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อบรมออนไลน์ผ่าน MS Teams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ขอบคุณครับ</a:t>
            </a:r>
          </a:p>
        </p:txBody>
      </p:sp>
      <p:sp>
        <p:nvSpPr>
          <p:cNvPr id="3" name="NS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ขั้นตอนถัดไป</a:t>
            </a:r>
          </a:p>
        </p:txBody>
      </p:sp>
      <p:sp>
        <p:nvSpPr>
          <p:cNvPr id="4" name="NS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ยืนยันแพ็กเกจและขอบเขตงานรายกระบวนการ</a:t>
            </a:r>
          </a:p>
          <a:p>
            <a:pPr/>
            <a:r>
              <a:rPr lang="th-TH" dirty="0"/>
              <a:t>เปิดสิทธิ์เข้าระบบให้ทีมสำรวจ 2 รายการที่ยังติดข้อจำกัด</a:t>
            </a:r>
          </a:p>
          <a:p>
            <a:pPr/>
            <a:r>
              <a:rPr lang="th-TH" dirty="0"/>
              <a:t>ลงนามสัญญาและเริ่มรอบที่ 1 ภายใน 30 วัน</a:t>
            </a:r>
          </a:p>
        </p:txBody>
      </p:sp>
      <p:sp>
        <p:nvSpPr>
          <p:cNvPr id="5" name="DB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ต้องการคำตอบภายใน 30 กันยายน 2569 เพื่อเริ่มรอบแรกในไตรมาสนี้</a:t>
            </a:r>
          </a:p>
        </p:txBody>
      </p:sp>
      <p:sp>
        <p:nvSpPr>
          <p:cNvPr id="6" name="Contac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โทร · 02-XXX-XXXX</a:t>
            </a:r>
          </a:p>
          <a:p>
            <a:pPr/>
            <a:r>
              <a:rPr lang="th-TH" dirty="0"/>
              <a:t>อีเมล · contact@nctthai.com</a:t>
            </a:r>
          </a:p>
          <a:p>
            <a:pPr/>
            <a:r>
              <a:rPr lang="th-TH" dirty="0"/>
              <a:t>เว็บไซต์ · nctthai.com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CT">
  <a:themeElements>
    <a:clrScheme name="NCT">
      <a:dk1>
        <a:srgbClr val="333333"/>
      </a:dk1>
      <a:lt1>
        <a:srgbClr val="FFFFFF"/>
      </a:lt1>
      <a:dk2>
        <a:srgbClr val="23436D"/>
      </a:dk2>
      <a:lt2>
        <a:srgbClr val="E8F6F5"/>
      </a:lt2>
      <a:accent1>
        <a:srgbClr val="23436D"/>
      </a:accent1>
      <a:accent2>
        <a:srgbClr val="216B7F"/>
      </a:accent2>
      <a:accent3>
        <a:srgbClr val="4E8FA8"/>
      </a:accent3>
      <a:accent4>
        <a:srgbClr val="16324F"/>
      </a:accent4>
      <a:accent5>
        <a:srgbClr val="5F5F5F"/>
      </a:accent5>
      <a:accent6>
        <a:srgbClr val="E8F6F5"/>
      </a:accent6>
      <a:hlink>
        <a:srgbClr val="216B7F"/>
      </a:hlink>
      <a:folHlink>
        <a:srgbClr val="23436D"/>
      </a:folHlink>
    </a:clrScheme>
    <a:fontScheme name="NCT">
      <a:majorFont>
        <a:latin typeface="Kanit" pitchFamily="2" charset="0"/>
        <a:ea typeface=""/>
        <a:cs typeface="Kanit" pitchFamily="2" charset="-34"/>
        <a:font script="Thai" typeface="Kanit"/>
      </a:majorFont>
      <a:minorFont>
        <a:latin typeface="Noto Sans Thai" pitchFamily="2" charset="0"/>
        <a:ea typeface=""/>
        <a:cs typeface="Noto Sans Thai" pitchFamily="2" charset="-34"/>
        <a:font script="Thai" typeface="Noto Sans Thai"/>
      </a:minorFont>
    </a:fontScheme>
    <a:fmtScheme name="NCT">
      <a:fillStyleLst>
        <a:solidFill>
          <a:schemeClr val="phClr"/>
        </a:solidFill>
        <a:solidFill>
          <a:schemeClr val="phClr">
            <a:tint val="88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80000"/>
              </a:schemeClr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75000"/>
              </a:schemeClr>
            </a:gs>
          </a:gsLst>
          <a:lin ang="27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Company>New Computer Technology Consulting Co., Ltd.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NCT Slide Template — ตัวอย่าง</dc:title>
  <dc:creator>New Computer Technology Consulting Co., Ltd.</dc:creator>
  <cp:lastModifiedBy>NCT</cp:lastModifiedBy>
  <dcterms:created xsi:type="dcterms:W3CDTF">2026-09-07T16:27:00Z</dcterms:created>
  <dcterms:modified xsi:type="dcterms:W3CDTF">2026-09-07T16:27:00Z</dcterms:modified>
</cp:coreProperties>
</file>