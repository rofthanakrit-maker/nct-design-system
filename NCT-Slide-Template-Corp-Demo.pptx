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9144000"/>
  <p:defaultTextStyle>
    <a:defPPr>
      <a:defRPr lang="th-TH"/>
    </a:defPPr>
    <a:lvl1pPr marL="0" algn="l">
      <a:defRPr sz="1800">
        <a:solidFill>
          <a:srgbClr val="333333"/>
        </a:solidFill>
        <a:latin typeface="+mn-lt"/>
        <a:cs typeface="+mn-cs"/>
      </a:defRPr>
    </a:lvl1pPr>
    <a:lvl2pPr marL="457200" algn="l">
      <a:defRPr sz="1800">
        <a:solidFill>
          <a:srgbClr val="333333"/>
        </a:solidFill>
        <a:latin typeface="+mn-lt"/>
        <a:cs typeface="+mn-cs"/>
      </a:defRPr>
    </a:lvl2pPr>
    <a:lvl3pPr marL="914400" algn="l">
      <a:defRPr sz="1800">
        <a:solidFill>
          <a:srgbClr val="333333"/>
        </a:solidFill>
        <a:latin typeface="+mn-lt"/>
        <a:cs typeface="+mn-cs"/>
      </a:defRPr>
    </a:lvl3pPr>
    <a:lvl4pPr marL="1371600" algn="l">
      <a:defRPr sz="1800">
        <a:solidFill>
          <a:srgbClr val="333333"/>
        </a:solidFill>
        <a:latin typeface="+mn-lt"/>
        <a:cs typeface="+mn-cs"/>
      </a:defRPr>
    </a:lvl4pPr>
    <a:lvl5pPr marL="1828800" algn="l">
      <a:defRPr sz="1800">
        <a:solidFill>
          <a:srgbClr val="333333"/>
        </a:solidFill>
        <a:latin typeface="+mn-lt"/>
        <a:cs typeface="+mn-cs"/>
      </a:defRPr>
    </a:lvl5pPr>
    <a:lvl6pPr marL="2286000" algn="l">
      <a:defRPr sz="1800">
        <a:solidFill>
          <a:srgbClr val="333333"/>
        </a:solidFill>
        <a:latin typeface="+mn-lt"/>
        <a:cs typeface="+mn-cs"/>
      </a:defRPr>
    </a:lvl6pPr>
    <a:lvl7pPr marL="2743200" algn="l">
      <a:defRPr sz="1800">
        <a:solidFill>
          <a:srgbClr val="333333"/>
        </a:solidFill>
        <a:latin typeface="+mn-lt"/>
        <a:cs typeface="+mn-cs"/>
      </a:defRPr>
    </a:lvl7pPr>
    <a:lvl8pPr marL="3200400" algn="l">
      <a:defRPr sz="1800">
        <a:solidFill>
          <a:srgbClr val="333333"/>
        </a:solidFill>
        <a:latin typeface="+mn-lt"/>
        <a:cs typeface="+mn-cs"/>
      </a:defRPr>
    </a:lvl8pPr>
    <a:lvl9pPr marL="3657600" algn="l">
      <a:defRPr sz="1800">
        <a:solidFill>
          <a:srgbClr val="333333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9C1E7B34-52D8-4A61-B0F7-3E5A2C81D046}">
  <a:tblStyle styleId="{9C1E7B34-52D8-4A61-B0F7-3E5A2C81D046}" styleName="NCT">
    <a:wholeTbl>
      <a:tcTxStyle b="off" i="off">
        <a:font>
          <a:latin typeface="+mn-lt"/>
          <a:ea typeface="+mn-ea"/>
          <a:cs typeface="+mn-cs"/>
        </a:font>
        <a:srgbClr val="333333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 w="6350" cap="flat" cmpd="sng" algn="ctr">
              <a:solidFill>
                <a:srgbClr val="E5E5E5"/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rgbClr val="E8F6F5"/>
          </a:solidFill>
        </a:fill>
      </a:tcStyle>
    </a:band2H>
    <a:firstRow>
      <a:tcTxStyle b="on" i="off">
        <a:font>
          <a:latin typeface="+mn-lt"/>
          <a:ea typeface="+mn-ea"/>
          <a:cs typeface="+mn-cs"/>
        </a:font>
        <a:srgbClr val="FFFFFF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23436D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เวลาปิดงบ</c:v>
          </c:tx>
          <c:spPr>
            <a:solidFill>
              <a:srgbClr val="A4A4A4"/>
            </a:solidFill>
          </c:spPr>
          <c:invertIfNegative val="0"/>
          <c:dPt>
            <c:idx val="4"/>
            <c:invertIfNegative val="0"/>
            <c:bubble3D val="0"/>
            <c:spPr>
              <a:solidFill>
                <a:srgbClr val="2A5EA0"/>
              </a:solidFill>
            </c:spPr>
          </c:dPt>
          <c:dLbls>
            <c:dLbl>
              <c:idx val="4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400" b="1">
                      <a:solidFill>
                        <a:srgbClr val="33333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200">
                    <a:solidFill>
                      <a:srgbClr val="5F5F5F"/>
                    </a:solidFill>
                    <a:latin typeface="+mn-lt"/>
                    <a:ea typeface="+mn-ea"/>
                    <a:cs typeface="+mn-cs"/>
                  </a:defRPr>
                </a:pPr>
                <a:endParaRPr lang="th-T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6"/>
              <c:pt idx="0">
                <c:v>ม.ค.</c:v>
              </c:pt>
              <c:pt idx="1">
                <c:v>ก.พ.</c:v>
              </c:pt>
              <c:pt idx="2">
                <c:v>มี.ค.</c:v>
              </c:pt>
              <c:pt idx="3">
                <c:v>เม.ย.</c:v>
              </c:pt>
              <c:pt idx="4">
                <c:v>พ.ค.</c:v>
              </c:pt>
              <c:pt idx="5">
                <c:v>มิ.ย.</c:v>
              </c:pt>
            </c:strLit>
          </c:cat>
          <c:val>
            <c:numLit>
              <c:formatCode>General</c:formatCode>
              <c:ptCount val="6"/>
              <c:pt idx="0">
                <c:v>6</c:v>
              </c:pt>
              <c:pt idx="1">
                <c:v>7</c:v>
              </c:pt>
              <c:pt idx="2">
                <c:v>6</c:v>
              </c:pt>
              <c:pt idx="3">
                <c:v>8</c:v>
              </c:pt>
              <c:pt idx="4">
                <c:v>9</c:v>
              </c:pt>
              <c:pt idx="5">
                <c:v>7</c:v>
              </c:pt>
            </c:numLit>
          </c:val>
        </c:ser>
        <c:gapWidth val="360"/>
        <c:overlap val="0"/>
        <c:axId val="19001"/>
        <c:axId val="19002"/>
      </c:barChart>
      <c:catAx>
        <c:axId val="19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A4A4A4"/>
            </a:solidFill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2"/>
        <c:crosses val="autoZero"/>
        <c:auto val="1"/>
        <c:lblAlgn val="ctr"/>
        <c:lblOffset val="100"/>
        <c:noMultiLvlLbl val="0"/>
      </c:catAx>
      <c:valAx>
        <c:axId val="19002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1"/>
        <c:crosses val="autoZero"/>
        <c:crossBetween val="between"/>
        <c:majorUnit val="2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200">
          <a:solidFill>
            <a:srgbClr val="5F5F5F"/>
          </a:solidFill>
          <a:latin typeface="+mn-lt"/>
          <a:ea typeface="+mn-ea"/>
          <a:cs typeface="+mn-cs"/>
        </a:defRPr>
      </a:pPr>
      <a:endParaRPr lang="th-TH"/>
    </a:p>
  </c:tx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เอกสารเข้า</c:v>
                </c:pt>
              </c:strCache>
            </c:strRef>
          </c:tx>
          <c:spPr>
            <a:ln w="19050" cap="rnd">
              <a:solidFill>
                <a:srgbClr val="2A5EA0"/>
              </a:solidFill>
              <a:round/>
            </a:ln>
          </c:spPr>
          <c:marker>
            <c:symbol val="none"/>
          </c:marker>
          <c:dPt>
            <c:idx val="5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dLbls>
            <c:dLbl>
              <c:idx val="5"/>
              <c:numFmt formatCode="#,##0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400" b="1">
                      <a:solidFill>
                        <a:srgbClr val="33333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ม.ค.</c:v>
                </c:pt>
                <c:pt idx="1">
                  <c:v>ก.พ.</c:v>
                </c:pt>
                <c:pt idx="2">
                  <c:v>มี.ค.</c:v>
                </c:pt>
                <c:pt idx="3">
                  <c:v>เม.ย.</c:v>
                </c:pt>
                <c:pt idx="4">
                  <c:v>พ.ค.</c:v>
                </c:pt>
                <c:pt idx="5">
                  <c:v>มิ.ย.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1000</c:v>
                </c:pt>
                <c:pt idx="1">
                  <c:v>1100</c:v>
                </c:pt>
                <c:pt idx="2">
                  <c:v>1000</c:v>
                </c:pt>
                <c:pt idx="3">
                  <c:v>1200</c:v>
                </c:pt>
                <c:pt idx="4">
                  <c:v>1350</c:v>
                </c:pt>
                <c:pt idx="5">
                  <c:v>1150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กำลังคีย์ 1,200 ใบ</c:v>
                </c:pt>
              </c:strCache>
            </c:strRef>
          </c:tx>
          <c:spPr>
            <a:ln w="9525">
              <a:solidFill>
                <a:srgbClr val="A4A4A4"/>
              </a:solidFill>
            </a:ln>
          </c:spPr>
          <c:marker>
            <c:symbol val="none"/>
          </c:marker>
          <c:dLbls>
            <c:dLbl>
              <c:idx val="0"/>
              <c:numFmt formatCode="#,##0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200">
                      <a:solidFill>
                        <a:srgbClr val="5F5F5F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t"/>
              <c:showLegendKey val="0"/>
              <c:showVal val="0"/>
              <c:showCatName val="0"/>
              <c:showSerName val="1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ม.ค.</c:v>
                </c:pt>
                <c:pt idx="1">
                  <c:v>ก.พ.</c:v>
                </c:pt>
                <c:pt idx="2">
                  <c:v>มี.ค.</c:v>
                </c:pt>
                <c:pt idx="3">
                  <c:v>เม.ย.</c:v>
                </c:pt>
                <c:pt idx="4">
                  <c:v>พ.ค.</c:v>
                </c:pt>
                <c:pt idx="5">
                  <c:v>มิ.ย.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1200</c:v>
                </c:pt>
                <c:pt idx="1">
                  <c:v>1200</c:v>
                </c:pt>
                <c:pt idx="2">
                  <c:v>1200</c:v>
                </c:pt>
                <c:pt idx="3">
                  <c:v>1200</c:v>
                </c:pt>
                <c:pt idx="4">
                  <c:v>1200</c:v>
                </c:pt>
                <c:pt idx="5">
                  <c:v>1200</c:v>
                </c:pt>
              </c:numCache>
            </c:numRef>
          </c:val>
          <c:smooth val="0"/>
        </c:ser>
        <c:marker val="1"/>
        <c:axId val="23001"/>
        <c:axId val="23002"/>
      </c:lineChart>
      <c:catAx>
        <c:axId val="23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A4A4A4"/>
            </a:solidFill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23002"/>
        <c:crosses val="autoZero"/>
        <c:auto val="1"/>
        <c:lblAlgn val="ctr"/>
        <c:lblOffset val="100"/>
        <c:noMultiLvlLbl val="0"/>
      </c:catAx>
      <c:valAx>
        <c:axId val="23002"/>
        <c:scaling>
          <c:orientation val="minMax"/>
          <c:max val="1500"/>
          <c:min val="0"/>
        </c:scaling>
        <c:delete val="0"/>
        <c:axPos val="l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23001"/>
        <c:crosses val="autoZero"/>
        <c:crossBetween val="between"/>
        <c:majorUnit val="500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"/>
          <c:y val="0.1042"/>
          <c:w val="1"/>
          <c:h val="0.8958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ปิดงบสิ้นเดือน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Sheet1!$B$2:$C$2</c:f>
              <c:numCache>
                <c:formatCode>General</c:formatCode>
                <c:ptCount val="2"/>
                <c:pt idx="0">
                  <c:v>48</c:v>
                </c:pt>
                <c:pt idx="1">
                  <c:v>16</c:v>
                </c:pt>
              </c:numCache>
            </c:numRef>
          </c:xVal>
          <c:yVal>
            <c:numRef>
              <c:f>Sheet1!$D$2:$E$2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คีย์ใบแจ้งหนี้ซื้อ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Sheet1!$B$3:$C$3</c:f>
              <c:numCache>
                <c:formatCode>General</c:formatCode>
                <c:ptCount val="2"/>
                <c:pt idx="0">
                  <c:v>28</c:v>
                </c:pt>
                <c:pt idx="1">
                  <c:v>3</c:v>
                </c:pt>
              </c:numCache>
            </c:numRef>
          </c:xVal>
          <c:yVal>
            <c:numRef>
              <c:f>Sheet1!$D$3:$E$3</c:f>
              <c:numCache>
                <c:formatCode>General</c:formatCode>
                <c:ptCount val="2"/>
                <c:pt idx="0">
                  <c:v>2</c:v>
                </c:pt>
                <c:pt idx="1">
                  <c:v>2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Sheet1!$A$4</c:f>
              <c:strCache>
                <c:ptCount val="1"/>
                <c:pt idx="0">
                  <c:v>กระทบยอดธนาคาร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Sheet1!$B$4:$C$4</c:f>
              <c:numCache>
                <c:formatCode>General</c:formatCode>
                <c:ptCount val="2"/>
                <c:pt idx="0">
                  <c:v>16</c:v>
                </c:pt>
                <c:pt idx="1">
                  <c:v>2</c:v>
                </c:pt>
              </c:numCache>
            </c:numRef>
          </c:xVal>
          <c:yVal>
            <c:numRef>
              <c:f>Sheet1!$D$4:$E$4</c:f>
              <c:numCache>
                <c:formatCode>General</c:formatCode>
                <c:ptCount val="2"/>
                <c:pt idx="0">
                  <c:v>3</c:v>
                </c:pt>
                <c:pt idx="1">
                  <c:v>3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Sheet1!$A$5</c:f>
              <c:strCache>
                <c:ptCount val="1"/>
                <c:pt idx="0">
                  <c:v>ออกใบแจ้งหนี้ขาย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Sheet1!$B$5:$C$5</c:f>
              <c:numCache>
                <c:formatCode>General</c:formatCode>
                <c:ptCount val="2"/>
                <c:pt idx="0">
                  <c:v>12</c:v>
                </c:pt>
                <c:pt idx="1">
                  <c:v>4</c:v>
                </c:pt>
              </c:numCache>
            </c:numRef>
          </c:xVal>
          <c:yVal>
            <c:numRef>
              <c:f>Sheet1!$D$5:$E$5</c:f>
              <c:numCache>
                <c:formatCode>General</c:formatCode>
                <c:ptCount val="2"/>
                <c:pt idx="0">
                  <c:v>4</c:v>
                </c:pt>
                <c:pt idx="1">
                  <c:v>4</c:v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Sheet1!$A$6</c:f>
              <c:strCache>
                <c:ptCount val="1"/>
                <c:pt idx="0">
                  <c:v>ติดตามลูกหนี้</c:v>
                </c:pt>
              </c:strCache>
            </c:strRef>
          </c:tx>
          <c:spPr>
            <a:ln w="19050" cap="rnd">
              <a:solidFill>
                <a:srgbClr val="90B4E4"/>
              </a:solidFill>
              <a:round/>
            </a:ln>
          </c:spPr>
          <c:marker>
            <c:symbol val="circle"/>
            <c:size val="8"/>
            <c:spPr>
              <a:solidFill>
                <a:srgbClr val="90B4E4"/>
              </a:solidFill>
              <a:ln w="19050">
                <a:solidFill>
                  <a:srgbClr val="FFFFFF"/>
                </a:solidFill>
              </a:ln>
            </c:spPr>
          </c:marker>
          <c:dPt>
            <c:idx val="1"/>
            <c:marker>
              <c:symbol val="circle"/>
              <c:size val="8"/>
              <c:spPr>
                <a:solidFill>
                  <a:srgbClr val="2A5EA0"/>
                </a:solidFill>
                <a:ln w="19050">
                  <a:solidFill>
                    <a:srgbClr val="FFFFFF"/>
                  </a:solidFill>
                </a:ln>
              </c:spPr>
            </c:marker>
            <c:bubble3D val="0"/>
          </c:dPt>
          <c:xVal>
            <c:numRef>
              <c:f>Sheet1!$B$6:$C$6</c:f>
              <c:numCache>
                <c:formatCode>General</c:formatCode>
                <c:ptCount val="2"/>
                <c:pt idx="0">
                  <c:v>10</c:v>
                </c:pt>
                <c:pt idx="1">
                  <c:v>6</c:v>
                </c:pt>
              </c:numCache>
            </c:numRef>
          </c:xVal>
          <c:yVal>
            <c:numRef>
              <c:f>Sheet1!$D$6:$E$6</c:f>
              <c:numCache>
                <c:formatCode>General</c:formatCode>
                <c:ptCount val="2"/>
                <c:pt idx="0">
                  <c:v>5</c:v>
                </c:pt>
                <c:pt idx="1">
                  <c:v>5</c:v>
                </c:pt>
              </c:numCache>
            </c:numRef>
          </c:yVal>
          <c:smooth val="0"/>
        </c:ser>
        <c:axId val="24001"/>
        <c:axId val="24002"/>
      </c:scatterChart>
      <c:valAx>
        <c:axId val="24001"/>
        <c:scaling>
          <c:orientation val="minMax"/>
          <c:max val="50"/>
          <c:min val="0"/>
        </c:scaling>
        <c:delete val="0"/>
        <c:axPos val="t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low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24002"/>
        <c:crosses val="min"/>
        <c:crossBetween val="midCat"/>
        <c:majorUnit val="10"/>
      </c:valAx>
      <c:valAx>
        <c:axId val="24002"/>
        <c:scaling>
          <c:orientation val="maxMin"/>
          <c:max val="7.5"/>
          <c:min val="0.5"/>
        </c:scaling>
        <c:delete val="1"/>
        <c:axPos val="l"/>
        <c:numFmt formatCode="General" sourceLinked="0"/>
        <c:majorTickMark val="none"/>
        <c:minorTickMark val="none"/>
        <c:tickLblPos val="none"/>
        <c:crossAx val="24001"/>
        <c:crosses val="autoZero"/>
        <c:crossBetween val="midCat"/>
        <c:majorUnit val="1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เริ่ม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cat>
            <c:strRef>
              <c:f>Sheet1!$A$2:$A$9</c:f>
              <c:strCache>
                <c:ptCount val="8"/>
                <c:pt idx="0">
                  <c:v>1. เตรียมระบบ</c:v>
                </c:pt>
                <c:pt idx="1">
                  <c:v>2. วิเคราะห์และออกแบบ</c:v>
                </c:pt>
                <c:pt idx="2">
                  <c:v>3. พัฒนาและตั้งค่าระบบ</c:v>
                </c:pt>
                <c:pt idx="3">
                  <c:v>4. ทดสอบ UAT</c:v>
                </c:pt>
                <c:pt idx="4">
                  <c:v>5. อบรมผู้ใช้</c:v>
                </c:pt>
                <c:pt idx="5">
                  <c:v>6. ขึ้นระบบ</c:v>
                </c:pt>
                <c:pt idx="6">
                  <c:v>7. ดูแลหลังขึ้นระบบ</c:v>
                </c:pt>
                <c:pt idx="7">
                  <c:v>8. รับประกันระบบ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</c:v>
                </c:pt>
                <c:pt idx="1">
                  <c:v>1</c:v>
                </c:pt>
                <c:pt idx="2">
                  <c:v>2.5</c:v>
                </c:pt>
                <c:pt idx="3">
                  <c:v>5</c:v>
                </c:pt>
                <c:pt idx="4">
                  <c:v>5.75</c:v>
                </c:pt>
                <c:pt idx="5">
                  <c:v>6</c:v>
                </c:pt>
                <c:pt idx="6">
                  <c:v>6.5</c:v>
                </c:pt>
                <c:pt idx="7">
                  <c:v>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ระยะเวลา</c:v>
                </c:pt>
              </c:strCache>
            </c:strRef>
          </c:tx>
          <c:spPr>
            <a:solidFill>
              <a:srgbClr val="90B4E4"/>
            </a:solidFill>
            <a:ln>
              <a:noFill/>
            </a:ln>
          </c:spPr>
          <c:invertIfNegative val="0"/>
          <c:dPt>
            <c:idx val="5"/>
            <c:invertIfNegative val="0"/>
            <c:bubble3D val="0"/>
            <c:spPr>
              <a:solidFill>
                <a:srgbClr val="2A5EA0"/>
              </a:solidFill>
              <a:ln>
                <a:noFill/>
              </a:ln>
            </c:spPr>
          </c:dPt>
          <c:cat>
            <c:strRef>
              <c:f>Sheet1!$A$2:$A$9</c:f>
              <c:strCache>
                <c:ptCount val="8"/>
                <c:pt idx="0">
                  <c:v>1. เตรียมระบบ</c:v>
                </c:pt>
                <c:pt idx="1">
                  <c:v>2. วิเคราะห์และออกแบบ</c:v>
                </c:pt>
                <c:pt idx="2">
                  <c:v>3. พัฒนาและตั้งค่าระบบ</c:v>
                </c:pt>
                <c:pt idx="3">
                  <c:v>4. ทดสอบ UAT</c:v>
                </c:pt>
                <c:pt idx="4">
                  <c:v>5. อบรมผู้ใช้</c:v>
                </c:pt>
                <c:pt idx="5">
                  <c:v>6. ขึ้นระบบ</c:v>
                </c:pt>
                <c:pt idx="6">
                  <c:v>7. ดูแลหลังขึ้นระบบ</c:v>
                </c:pt>
                <c:pt idx="7">
                  <c:v>8. รับประกันระบบ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</c:v>
                </c:pt>
                <c:pt idx="1">
                  <c:v>1.5</c:v>
                </c:pt>
                <c:pt idx="2">
                  <c:v>2.5</c:v>
                </c:pt>
                <c:pt idx="3">
                  <c:v>1</c:v>
                </c:pt>
                <c:pt idx="4">
                  <c:v>0.25</c:v>
                </c:pt>
                <c:pt idx="5">
                  <c:v>0.5</c:v>
                </c:pt>
                <c:pt idx="6">
                  <c:v>3</c:v>
                </c:pt>
                <c:pt idx="7">
                  <c:v>2.5</c:v>
                </c:pt>
              </c:numCache>
            </c:numRef>
          </c:val>
        </c:ser>
        <c:gapWidth val="113"/>
        <c:overlap val="100"/>
        <c:axId val="21001"/>
        <c:axId val="21002"/>
      </c:barChart>
      <c:catAx>
        <c:axId val="21001"/>
        <c:scaling>
          <c:orientation val="maxMin"/>
        </c:scaling>
        <c:delete val="1"/>
        <c:axPos val="l"/>
        <c:majorTickMark val="none"/>
        <c:minorTickMark val="none"/>
        <c:tickLblPos val="none"/>
        <c:crossAx val="21002"/>
        <c:crosses val="autoZero"/>
        <c:auto val="1"/>
        <c:lblAlgn val="ctr"/>
        <c:lblOffset val="100"/>
        <c:noMultiLvlLbl val="0"/>
      </c:catAx>
      <c:valAx>
        <c:axId val="21002"/>
        <c:scaling>
          <c:orientation val="minMax"/>
          <c:max val="12"/>
          <c:min val="0"/>
        </c:scaling>
        <c:delete val="0"/>
        <c:axPos val="b"/>
        <c:majorGridlines>
          <c:spPr>
            <a:ln w="9525">
              <a:solidFill>
                <a:srgbClr val="E5E5E5"/>
              </a:solidFill>
            </a:ln>
          </c:spPr>
        </c:majorGridlines>
        <c:numFmt formatCode="General" sourceLinked="0"/>
        <c:majorTickMark val="none"/>
        <c:minorTickMark val="none"/>
        <c:tickLblPos val="none"/>
        <c:spPr>
          <a:ln>
            <a:noFill/>
          </a:ln>
        </c:spPr>
        <c:crossAx val="21001"/>
        <c:crosses val="max"/>
        <c:crossBetween val="between"/>
        <c:majorUnit val="1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พัฒนาและตั้งค่าระบบ</c:v>
                </c:pt>
              </c:strCache>
            </c:strRef>
          </c:tx>
          <c:spPr>
            <a:solidFill>
              <a:srgbClr val="2A5EA0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ไลเซนส์ซอฟต์แวร์</c:v>
                </c:pt>
              </c:strCache>
            </c:strRef>
          </c:tx>
          <c:spPr>
            <a:solidFill>
              <a:srgbClr val="BB731B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คลาวด์ปีแรก</c:v>
                </c:pt>
              </c:strCache>
            </c:strRef>
          </c:tx>
          <c:spPr>
            <a:solidFill>
              <a:srgbClr val="0D9298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อื่น ๆ</c:v>
                </c:pt>
              </c:strCache>
            </c:strRef>
          </c:tx>
          <c:spPr>
            <a:solidFill>
              <a:srgbClr val="A4A4A4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0.5</c:v>
                </c:pt>
              </c:numCache>
            </c:numRef>
          </c:val>
        </c:ser>
        <c:gapWidth val="100"/>
        <c:overlap val="100"/>
        <c:axId val="21001"/>
        <c:axId val="21002"/>
      </c:barChart>
      <c:catAx>
        <c:axId val="21001"/>
        <c:scaling>
          <c:orientation val="maxMin"/>
        </c:scaling>
        <c:delete val="1"/>
        <c:axPos val="l"/>
        <c:majorTickMark val="none"/>
        <c:minorTickMark val="none"/>
        <c:tickLblPos val="none"/>
        <c:crossAx val="21002"/>
        <c:crosses val="autoZero"/>
        <c:auto val="1"/>
        <c:lblAlgn val="ctr"/>
        <c:lblOffset val="100"/>
        <c:noMultiLvlLbl val="0"/>
      </c:catAx>
      <c:valAx>
        <c:axId val="21002"/>
        <c:scaling>
          <c:orientation val="minMax"/>
          <c:max val="1"/>
          <c:min val="0"/>
        </c:scaling>
        <c:delete val="0"/>
        <c:axPos val="b"/>
        <c:numFmt formatCode="General" sourceLinked="0"/>
        <c:majorTickMark val="none"/>
        <c:minorTickMark val="none"/>
        <c:tickLblPos val="none"/>
        <c:spPr>
          <a:ln>
            <a:noFill/>
          </a:ln>
        </c:spPr>
        <c:crossAx val="21001"/>
        <c:crosses val="max"/>
        <c:crossBetween val="between"/>
        <c:majorUnit val="1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color.png"/><Relationship Id="rId3" Type="http://schemas.openxmlformats.org/officeDocument/2006/relationships/image" Target="../media/mark-color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section.jpg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facade.jpg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tower.jpg"/></Relationships>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white.png"/><Relationship Id="rId3" Type="http://schemas.openxmlformats.org/officeDocument/2006/relationships/image" Target="../media/mark-white.png"/></Relationships>
</file>

<file path=ppt/slideLayouts/_rels/slideLayout2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01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Watermark A"/>
          <p:cNvPicPr>
            <a:picLocks noChangeAspect="1"/>
          </p:cNvPicPr>
          <p:nvPr/>
        </p:nvPicPr>
        <p:blipFill>
          <a:blip r:embed="rId3">
            <a:alphaModFix amt="3500"/>
          </a:blip>
          <a:stretch>
            <a:fillRect/>
          </a:stretch>
        </p:blipFill>
        <p:spPr>
          <a:xfrm>
            <a:off x="1371600" y="-2103120"/>
            <a:ext cx="7315200" cy="4653280"/>
          </a:xfrm>
          <a:prstGeom prst="rect">
            <a:avLst/>
          </a:prstGeom>
        </p:spPr>
      </p:pic>
      <p:pic>
        <p:nvPicPr>
          <p:cNvPr id="11" name="Watermark B"/>
          <p:cNvPicPr>
            <a:picLocks noChangeAspect="1"/>
          </p:cNvPicPr>
          <p:nvPr/>
        </p:nvPicPr>
        <p:blipFill>
          <a:blip r:embed="rId3">
            <a:alphaModFix amt="3500"/>
          </a:blip>
          <a:stretch>
            <a:fillRect/>
          </a:stretch>
        </p:blipFill>
        <p:spPr>
          <a:xfrm>
            <a:off x="4114800" y="2286000"/>
            <a:ext cx="7315200" cy="4653280"/>
          </a:xfrm>
          <a:prstGeom prst="rect">
            <a:avLst/>
          </a:prstGeom>
        </p:spPr>
      </p:pic>
      <p:sp>
        <p:nvSpPr>
          <p:cNvPr id="12" name="Scatter 1"/>
          <p:cNvSpPr/>
          <p:nvPr/>
        </p:nvSpPr>
        <p:spPr>
          <a:xfrm>
            <a:off x="10290552" y="298450"/>
            <a:ext cx="491103" cy="431800"/>
          </a:xfrm>
          <a:prstGeom prst="rect">
            <a:avLst/>
          </a:prstGeom>
          <a:solidFill>
            <a:srgbClr val="216B7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Scatter 2"/>
          <p:cNvSpPr/>
          <p:nvPr/>
        </p:nvSpPr>
        <p:spPr>
          <a:xfrm>
            <a:off x="10517214" y="184150"/>
            <a:ext cx="264440" cy="546100"/>
          </a:xfrm>
          <a:prstGeom prst="rect">
            <a:avLst/>
          </a:prstGeom>
          <a:solidFill>
            <a:srgbClr val="216B7F">
              <a:alpha val="33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catter 3"/>
          <p:cNvSpPr/>
          <p:nvPr/>
        </p:nvSpPr>
        <p:spPr>
          <a:xfrm>
            <a:off x="11486827" y="400050"/>
            <a:ext cx="377771" cy="558800"/>
          </a:xfrm>
          <a:prstGeom prst="rect">
            <a:avLst/>
          </a:prstGeom>
          <a:solidFill>
            <a:srgbClr val="216B7F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catter 4"/>
          <p:cNvSpPr/>
          <p:nvPr/>
        </p:nvSpPr>
        <p:spPr>
          <a:xfrm>
            <a:off x="9862411" y="577850"/>
            <a:ext cx="163701" cy="177800"/>
          </a:xfrm>
          <a:prstGeom prst="rect">
            <a:avLst/>
          </a:prstGeom>
          <a:solidFill>
            <a:srgbClr val="216B7F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Scatter 5"/>
          <p:cNvSpPr/>
          <p:nvPr/>
        </p:nvSpPr>
        <p:spPr>
          <a:xfrm>
            <a:off x="11310534" y="577850"/>
            <a:ext cx="176293" cy="3810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Scatter 6"/>
          <p:cNvSpPr/>
          <p:nvPr/>
        </p:nvSpPr>
        <p:spPr>
          <a:xfrm>
            <a:off x="10076481" y="971550"/>
            <a:ext cx="415548" cy="3048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Scatter 7"/>
          <p:cNvSpPr/>
          <p:nvPr/>
        </p:nvSpPr>
        <p:spPr>
          <a:xfrm>
            <a:off x="10756469" y="1060450"/>
            <a:ext cx="352586" cy="254000"/>
          </a:xfrm>
          <a:prstGeom prst="rect">
            <a:avLst/>
          </a:prstGeom>
          <a:solidFill>
            <a:srgbClr val="216B7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catter 8"/>
          <p:cNvSpPr/>
          <p:nvPr/>
        </p:nvSpPr>
        <p:spPr>
          <a:xfrm>
            <a:off x="10492030" y="1682750"/>
            <a:ext cx="516287" cy="3937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catter 9"/>
          <p:cNvSpPr/>
          <p:nvPr/>
        </p:nvSpPr>
        <p:spPr>
          <a:xfrm>
            <a:off x="11587566" y="2228850"/>
            <a:ext cx="277032" cy="317500"/>
          </a:xfrm>
          <a:prstGeom prst="rect">
            <a:avLst/>
          </a:prstGeom>
          <a:solidFill>
            <a:srgbClr val="216B7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catter 10"/>
          <p:cNvSpPr/>
          <p:nvPr/>
        </p:nvSpPr>
        <p:spPr>
          <a:xfrm>
            <a:off x="9900188" y="2254250"/>
            <a:ext cx="314809" cy="2413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Scatter 11"/>
          <p:cNvSpPr/>
          <p:nvPr/>
        </p:nvSpPr>
        <p:spPr>
          <a:xfrm>
            <a:off x="10517214" y="2571750"/>
            <a:ext cx="491103" cy="4572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Scatter 12"/>
          <p:cNvSpPr/>
          <p:nvPr/>
        </p:nvSpPr>
        <p:spPr>
          <a:xfrm>
            <a:off x="11033502" y="2889250"/>
            <a:ext cx="239255" cy="2540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Scatter 13"/>
          <p:cNvSpPr/>
          <p:nvPr/>
        </p:nvSpPr>
        <p:spPr>
          <a:xfrm>
            <a:off x="11297942" y="3117850"/>
            <a:ext cx="591842" cy="457200"/>
          </a:xfrm>
          <a:prstGeom prst="rect">
            <a:avLst/>
          </a:prstGeom>
          <a:solidFill>
            <a:srgbClr val="216B7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catter 14"/>
          <p:cNvSpPr/>
          <p:nvPr/>
        </p:nvSpPr>
        <p:spPr>
          <a:xfrm>
            <a:off x="11046094" y="3359150"/>
            <a:ext cx="125924" cy="1143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catter 15"/>
          <p:cNvSpPr/>
          <p:nvPr/>
        </p:nvSpPr>
        <p:spPr>
          <a:xfrm>
            <a:off x="10655731" y="3549650"/>
            <a:ext cx="226663" cy="2286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catter 16"/>
          <p:cNvSpPr/>
          <p:nvPr/>
        </p:nvSpPr>
        <p:spPr>
          <a:xfrm>
            <a:off x="11234980" y="3816350"/>
            <a:ext cx="314809" cy="3683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Scatter 17"/>
          <p:cNvSpPr/>
          <p:nvPr/>
        </p:nvSpPr>
        <p:spPr>
          <a:xfrm>
            <a:off x="11612751" y="4362450"/>
            <a:ext cx="176293" cy="2667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Scatter 18"/>
          <p:cNvSpPr/>
          <p:nvPr/>
        </p:nvSpPr>
        <p:spPr>
          <a:xfrm>
            <a:off x="10026112" y="4425950"/>
            <a:ext cx="251847" cy="2032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0" name="Scatter 19"/>
          <p:cNvSpPr/>
          <p:nvPr/>
        </p:nvSpPr>
        <p:spPr>
          <a:xfrm>
            <a:off x="10492030" y="4705350"/>
            <a:ext cx="314809" cy="292100"/>
          </a:xfrm>
          <a:prstGeom prst="rect">
            <a:avLst/>
          </a:prstGeom>
          <a:solidFill>
            <a:srgbClr val="216B7F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catter 20"/>
          <p:cNvSpPr/>
          <p:nvPr/>
        </p:nvSpPr>
        <p:spPr>
          <a:xfrm>
            <a:off x="9220200" y="4756150"/>
            <a:ext cx="264440" cy="2921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catter 21"/>
          <p:cNvSpPr/>
          <p:nvPr/>
        </p:nvSpPr>
        <p:spPr>
          <a:xfrm>
            <a:off x="11260164" y="5099050"/>
            <a:ext cx="415548" cy="3302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catter 22"/>
          <p:cNvSpPr/>
          <p:nvPr/>
        </p:nvSpPr>
        <p:spPr>
          <a:xfrm>
            <a:off x="10202405" y="5238750"/>
            <a:ext cx="554064" cy="495300"/>
          </a:xfrm>
          <a:prstGeom prst="rect">
            <a:avLst/>
          </a:prstGeom>
          <a:solidFill>
            <a:srgbClr val="216B7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4" name="Scatter 23"/>
          <p:cNvSpPr/>
          <p:nvPr/>
        </p:nvSpPr>
        <p:spPr>
          <a:xfrm>
            <a:off x="10957947" y="5429250"/>
            <a:ext cx="302217" cy="4445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5" name="Scatter 24"/>
          <p:cNvSpPr/>
          <p:nvPr/>
        </p:nvSpPr>
        <p:spPr>
          <a:xfrm>
            <a:off x="9535009" y="5518150"/>
            <a:ext cx="88147" cy="76200"/>
          </a:xfrm>
          <a:prstGeom prst="rect">
            <a:avLst/>
          </a:prstGeom>
          <a:solidFill>
            <a:srgbClr val="216B7F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6" name="Scatter 25"/>
          <p:cNvSpPr/>
          <p:nvPr/>
        </p:nvSpPr>
        <p:spPr>
          <a:xfrm>
            <a:off x="9837226" y="5949950"/>
            <a:ext cx="226663" cy="2413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catter 26"/>
          <p:cNvSpPr/>
          <p:nvPr/>
        </p:nvSpPr>
        <p:spPr>
          <a:xfrm>
            <a:off x="11310534" y="6064250"/>
            <a:ext cx="163701" cy="203200"/>
          </a:xfrm>
          <a:prstGeom prst="rect">
            <a:avLst/>
          </a:prstGeom>
          <a:solidFill>
            <a:srgbClr val="216B7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catter 27"/>
          <p:cNvSpPr/>
          <p:nvPr/>
        </p:nvSpPr>
        <p:spPr>
          <a:xfrm>
            <a:off x="10492030" y="6127750"/>
            <a:ext cx="201478" cy="1651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catter 28"/>
          <p:cNvSpPr/>
          <p:nvPr/>
        </p:nvSpPr>
        <p:spPr>
          <a:xfrm>
            <a:off x="11549789" y="6267450"/>
            <a:ext cx="302217" cy="317500"/>
          </a:xfrm>
          <a:prstGeom prst="rect">
            <a:avLst/>
          </a:prstGeom>
          <a:solidFill>
            <a:srgbClr val="216B7F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pic>
        <p:nvPicPr>
          <p:cNvPr id="40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5750" y="685800"/>
            <a:ext cx="4000500" cy="2035725"/>
          </a:xfrm>
          <a:prstGeom prst="rect">
            <a:avLst/>
          </a:prstGeom>
        </p:spPr>
      </p:pic>
      <p:sp>
        <p:nvSpPr>
          <p:cNvPr id="41" name="Accent Rule"/>
          <p:cNvSpPr/>
          <p:nvPr/>
        </p:nvSpPr>
        <p:spPr>
          <a:xfrm>
            <a:off x="2941320" y="3429000"/>
            <a:ext cx="6309360" cy="28575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2" name="Title Placeholder"/>
          <p:cNvSpPr>
            <a:spLocks noGrp="1"/>
          </p:cNvSpPr>
          <p:nvPr>
            <p:ph type="ctrTitle"/>
          </p:nvPr>
        </p:nvSpPr>
        <p:spPr>
          <a:xfrm>
            <a:off x="914400" y="3715200"/>
            <a:ext cx="10363200" cy="2057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15000"/>
              </a:lnSpc>
              <a:buNone/>
              <a:defRPr lang="th-TH" sz="4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15000"/>
              </a:lnSpc>
              <a:buNone/>
            </a:pPr>
            <a:r>
              <a:rPr lang="th-TH" sz="4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PROPOSAL</a:t>
            </a:r>
          </a:p>
        </p:txBody>
      </p:sp>
      <p:sp>
        <p:nvSpPr>
          <p:cNvPr id="43" name="Subtitle"/>
          <p:cNvSpPr>
            <a:spLocks noGrp="1"/>
          </p:cNvSpPr>
          <p:nvPr>
            <p:ph type="subTitle" idx="1"/>
          </p:nvPr>
        </p:nvSpPr>
        <p:spPr>
          <a:xfrm>
            <a:off x="914400" y="590976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ctr" marL="0" indent="0">
              <a:lnSpc>
                <a:spcPct val="130000"/>
              </a:lnSpc>
              <a:buNone/>
              <a:def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 / ชื่อลูกค้า</a:t>
            </a:r>
          </a:p>
        </p:txBody>
      </p:sp>
      <p:sp>
        <p:nvSpPr>
          <p:cNvPr id="44" name="Date Placeholder"/>
          <p:cNvSpPr>
            <a:spLocks noGrp="1"/>
          </p:cNvSpPr>
          <p:nvPr>
            <p:ph type="dt" idx="10"/>
          </p:nvPr>
        </p:nvSpPr>
        <p:spPr>
          <a:xfrm>
            <a:off x="22860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45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02 Section Divider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ชื่อหัวข้อ</a:t>
            </a:r>
          </a:p>
        </p:txBody>
      </p:sp>
      <p:sp>
        <p:nvSpPr>
          <p:cNvPr id="14" name="Description"/>
          <p:cNvSpPr>
            <a:spLocks noGrp="1"/>
          </p:cNvSpPr>
          <p:nvPr>
            <p:ph type="body" idx="2"/>
          </p:nvPr>
        </p:nvSpPr>
        <p:spPr>
          <a:xfrm>
            <a:off x="914400" y="4297680"/>
            <a:ext cx="621792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คำอธิบายหัวข้อสั้น ๆ หนึ่งถึงสองบรรทัด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3 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n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เนื้อหาระดับที่หนึ่ง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04 Two 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ft Heading"/>
          <p:cNvSpPr>
            <a:spLocks noGrp="1"/>
          </p:cNvSpPr>
          <p:nvPr>
            <p:ph type="body" idx="3"/>
          </p:nvPr>
        </p:nvSpPr>
        <p:spPr>
          <a:xfrm>
            <a:off x="914400" y="1691640"/>
            <a:ext cx="509016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หัวคอลัมน์ซ้าย</a:t>
            </a:r>
          </a:p>
        </p:txBody>
      </p:sp>
      <p:sp>
        <p:nvSpPr>
          <p:cNvPr id="13" name="Left Content"/>
          <p:cNvSpPr>
            <a:spLocks noGrp="1"/>
          </p:cNvSpPr>
          <p:nvPr>
            <p:ph type="body" idx="1"/>
          </p:nvPr>
        </p:nvSpPr>
        <p:spPr>
          <a:xfrm>
            <a:off x="914400" y="2240280"/>
            <a:ext cx="5090160" cy="3794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คอลัมน์ซ้าย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14" name="Right Heading"/>
          <p:cNvSpPr>
            <a:spLocks noGrp="1"/>
          </p:cNvSpPr>
          <p:nvPr>
            <p:ph type="body" idx="4"/>
          </p:nvPr>
        </p:nvSpPr>
        <p:spPr>
          <a:xfrm>
            <a:off x="6187440" y="1691640"/>
            <a:ext cx="509016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หัวคอลัมน์ขวา</a:t>
            </a:r>
          </a:p>
        </p:txBody>
      </p:sp>
      <p:sp>
        <p:nvSpPr>
          <p:cNvPr id="15" name="Right Content"/>
          <p:cNvSpPr>
            <a:spLocks noGrp="1"/>
          </p:cNvSpPr>
          <p:nvPr>
            <p:ph type="body" idx="2"/>
          </p:nvPr>
        </p:nvSpPr>
        <p:spPr>
          <a:xfrm>
            <a:off x="6187440" y="2240280"/>
            <a:ext cx="5090160" cy="3794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คอลัมน์ขวา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5 Three 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Heading"/>
          <p:cNvSpPr>
            <a:spLocks noGrp="1"/>
          </p:cNvSpPr>
          <p:nvPr>
            <p:ph type="body" idx="1"/>
          </p:nvPr>
        </p:nvSpPr>
        <p:spPr>
          <a:xfrm>
            <a:off x="123444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1</a:t>
            </a:r>
          </a:p>
        </p:txBody>
      </p:sp>
      <p:sp>
        <p:nvSpPr>
          <p:cNvPr id="15" name="Card 1 Body"/>
          <p:cNvSpPr>
            <a:spLocks noGrp="1"/>
          </p:cNvSpPr>
          <p:nvPr>
            <p:ph type="body" idx="2"/>
          </p:nvPr>
        </p:nvSpPr>
        <p:spPr>
          <a:xfrm>
            <a:off x="123444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16" name="Card 2"/>
          <p:cNvSpPr/>
          <p:nvPr/>
        </p:nvSpPr>
        <p:spPr>
          <a:xfrm>
            <a:off x="442976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Card 2 Tab"/>
          <p:cNvSpPr/>
          <p:nvPr/>
        </p:nvSpPr>
        <p:spPr>
          <a:xfrm>
            <a:off x="474980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Heading"/>
          <p:cNvSpPr>
            <a:spLocks noGrp="1"/>
          </p:cNvSpPr>
          <p:nvPr>
            <p:ph type="body" idx="3"/>
          </p:nvPr>
        </p:nvSpPr>
        <p:spPr>
          <a:xfrm>
            <a:off x="474980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2</a:t>
            </a:r>
          </a:p>
        </p:txBody>
      </p:sp>
      <p:sp>
        <p:nvSpPr>
          <p:cNvPr id="19" name="Card 2 Body"/>
          <p:cNvSpPr>
            <a:spLocks noGrp="1"/>
          </p:cNvSpPr>
          <p:nvPr>
            <p:ph type="body" idx="4"/>
          </p:nvPr>
        </p:nvSpPr>
        <p:spPr>
          <a:xfrm>
            <a:off x="474980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20" name="Card 3"/>
          <p:cNvSpPr/>
          <p:nvPr/>
        </p:nvSpPr>
        <p:spPr>
          <a:xfrm>
            <a:off x="794512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3 Tab"/>
          <p:cNvSpPr/>
          <p:nvPr/>
        </p:nvSpPr>
        <p:spPr>
          <a:xfrm>
            <a:off x="826516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Card 3 Heading"/>
          <p:cNvSpPr>
            <a:spLocks noGrp="1"/>
          </p:cNvSpPr>
          <p:nvPr>
            <p:ph type="body" idx="5"/>
          </p:nvPr>
        </p:nvSpPr>
        <p:spPr>
          <a:xfrm>
            <a:off x="826516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3</a:t>
            </a:r>
          </a:p>
        </p:txBody>
      </p:sp>
      <p:sp>
        <p:nvSpPr>
          <p:cNvPr id="23" name="Card 3 Body"/>
          <p:cNvSpPr>
            <a:spLocks noGrp="1"/>
          </p:cNvSpPr>
          <p:nvPr>
            <p:ph type="body" idx="6"/>
          </p:nvPr>
        </p:nvSpPr>
        <p:spPr>
          <a:xfrm>
            <a:off x="826516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6 Key Figur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Figure 1"/>
          <p:cNvSpPr>
            <a:spLocks noGrp="1"/>
          </p:cNvSpPr>
          <p:nvPr>
            <p:ph type="body" idx="1"/>
          </p:nvPr>
        </p:nvSpPr>
        <p:spPr>
          <a:xfrm>
            <a:off x="91440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3" name="Figure 1 Label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4" name="Divider 1"/>
          <p:cNvSpPr/>
          <p:nvPr/>
        </p:nvSpPr>
        <p:spPr>
          <a:xfrm>
            <a:off x="433832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Figure 2"/>
          <p:cNvSpPr>
            <a:spLocks noGrp="1"/>
          </p:cNvSpPr>
          <p:nvPr>
            <p:ph type="body" idx="3"/>
          </p:nvPr>
        </p:nvSpPr>
        <p:spPr>
          <a:xfrm>
            <a:off x="442976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6" name="Figure 2 Label"/>
          <p:cNvSpPr>
            <a:spLocks noGrp="1"/>
          </p:cNvSpPr>
          <p:nvPr>
            <p:ph type="body" idx="4"/>
          </p:nvPr>
        </p:nvSpPr>
        <p:spPr>
          <a:xfrm>
            <a:off x="442976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7" name="Divider 2"/>
          <p:cNvSpPr/>
          <p:nvPr/>
        </p:nvSpPr>
        <p:spPr>
          <a:xfrm>
            <a:off x="785368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Figure 3"/>
          <p:cNvSpPr>
            <a:spLocks noGrp="1"/>
          </p:cNvSpPr>
          <p:nvPr>
            <p:ph type="body" idx="5"/>
          </p:nvPr>
        </p:nvSpPr>
        <p:spPr>
          <a:xfrm>
            <a:off x="794512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9" name="Figure 3 Label"/>
          <p:cNvSpPr>
            <a:spLocks noGrp="1"/>
          </p:cNvSpPr>
          <p:nvPr>
            <p:ph type="body" idx="6"/>
          </p:nvPr>
        </p:nvSpPr>
        <p:spPr>
          <a:xfrm>
            <a:off x="794512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20" name="Footnote"/>
          <p:cNvSpPr>
            <a:spLocks noGrp="1"/>
          </p:cNvSpPr>
          <p:nvPr>
            <p:ph type="body" idx="7"/>
          </p:nvPr>
        </p:nvSpPr>
        <p:spPr>
          <a:xfrm>
            <a:off x="914400" y="4754880"/>
            <a:ext cx="10363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7 Pull Quote">
    <p:bg>
      <p:bgPr>
        <a:solidFill>
          <a:srgbClr val="E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Quote Bar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gradFill rotWithShape="1">
            <a:gsLst>
              <a:gs pos="0">
                <a:srgbClr val="23436D"/>
              </a:gs>
              <a:gs pos="100000">
                <a:srgbClr val="216B7F"/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Quote Mark"/>
          <p:cNvSpPr/>
          <p:nvPr/>
        </p:nvSpPr>
        <p:spPr>
          <a:xfrm>
            <a:off x="914400" y="868680"/>
            <a:ext cx="137160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0" b="1" dirty="0">
                <a:solidFill>
                  <a:srgbClr val="216B7F">
                    <a:alpha val="25000"/>
                  </a:srgbClr>
                </a:solidFill>
                <a:latin typeface="+mj-lt"/>
                <a:ea typeface="+mj-ea"/>
                <a:cs typeface="+mj-cs"/>
              </a:rPr>
              <a:t>“</a:t>
            </a:r>
          </a:p>
        </p:txBody>
      </p:sp>
      <p:sp>
        <p:nvSpPr>
          <p:cNvPr id="12" name="Quote"/>
          <p:cNvSpPr>
            <a:spLocks noGrp="1"/>
          </p:cNvSpPr>
          <p:nvPr>
            <p:ph type="body" idx="1"/>
          </p:nvPr>
        </p:nvSpPr>
        <p:spPr>
          <a:xfrm>
            <a:off x="914400" y="1965960"/>
            <a:ext cx="914400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ข้อความคำพูดที่ต้องการเน้น ยาวได้ประมาณสองถึงสามบรรทัด</a:t>
            </a:r>
          </a:p>
        </p:txBody>
      </p:sp>
      <p:sp>
        <p:nvSpPr>
          <p:cNvPr id="13" name="Accent Rule"/>
          <p:cNvSpPr/>
          <p:nvPr/>
        </p:nvSpPr>
        <p:spPr>
          <a:xfrm>
            <a:off x="0" y="438912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Attribution"/>
          <p:cNvSpPr>
            <a:spLocks noGrp="1"/>
          </p:cNvSpPr>
          <p:nvPr>
            <p:ph type="body" idx="2"/>
          </p:nvPr>
        </p:nvSpPr>
        <p:spPr>
          <a:xfrm>
            <a:off x="914400" y="4663440"/>
            <a:ext cx="68580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ชื่อผู้พูด — ตำแหน่ง, องค์กร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08 Full Image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/>
          <p:cNvSpPr>
            <a:spLocks noGrp="1"/>
          </p:cNvSpPr>
          <p:nvPr>
            <p:ph type="pic" idx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11" name="Scrim"/>
          <p:cNvSpPr/>
          <p:nvPr/>
        </p:nvSpPr>
        <p:spPr>
          <a:xfrm>
            <a:off x="0" y="3429000"/>
            <a:ext cx="12192000" cy="342900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4297680"/>
            <a:ext cx="8229600" cy="91440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ชื่อภาพ / หัวข้อ</a:t>
            </a:r>
          </a:p>
        </p:txBody>
      </p:sp>
      <p:sp>
        <p:nvSpPr>
          <p:cNvPr id="13" name="Caption"/>
          <p:cNvSpPr>
            <a:spLocks noGrp="1"/>
          </p:cNvSpPr>
          <p:nvPr>
            <p:ph type="body" idx="2"/>
          </p:nvPr>
        </p:nvSpPr>
        <p:spPr>
          <a:xfrm>
            <a:off x="914400" y="5303520"/>
            <a:ext cx="7315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คำบรรยายภาพหนึ่งบรรทัด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09 Table /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286000"/>
            <a:ext cx="10363200" cy="3200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6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0 Closing / Contact">
    <p:bg>
      <p:bgPr>
        <a:gradFill rotWithShape="1">
          <a:gsLst>
            <a:gs pos="0">
              <a:srgbClr val="1A8D92"/>
            </a:gs>
            <a:gs pos="55000">
              <a:srgbClr val="1E5473"/>
            </a:gs>
            <a:gs pos="100000">
              <a:srgbClr val="23436D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-1371600" y="4114800"/>
            <a:ext cx="3657600" cy="36576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1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6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Ask Veil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6324F">
              <a:alpha val="5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1554480"/>
            <a:ext cx="621792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ขอบคุณครับ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2926080"/>
            <a:ext cx="548640" cy="4572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Next Steps Label"/>
          <p:cNvSpPr>
            <a:spLocks noGrp="1"/>
          </p:cNvSpPr>
          <p:nvPr>
            <p:ph type="body" idx="1"/>
          </p:nvPr>
        </p:nvSpPr>
        <p:spPr>
          <a:xfrm>
            <a:off x="914400" y="3200400"/>
            <a:ext cx="274320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ขั้นตอนถัดไป</a:t>
            </a:r>
          </a:p>
        </p:txBody>
      </p:sp>
      <p:sp>
        <p:nvSpPr>
          <p:cNvPr id="15" name="Next Steps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548640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320040" indent="-320040">
              <a:lnSpc>
                <a:spcPct val="93000"/>
              </a:lnSpc>
              <a:spcBef>
                <a:spcPts val="400"/>
              </a:spcBef>
              <a:buClr>
                <a:srgbClr val="FFFFFF"/>
              </a:buClr>
              <a:buSzPct val="90000"/>
              <a:buFont typeface="Arial"/>
              <a:buAutoNum type="arabicPeriod"/>
              <a:def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320040" indent="-320040">
              <a:lnSpc>
                <a:spcPct val="93000"/>
              </a:lnSpc>
              <a:spcBef>
                <a:spcPts val="400"/>
              </a:spcBef>
              <a:buClr>
                <a:srgbClr val="FFFFFF"/>
              </a:buClr>
              <a:buSzPct val="90000"/>
              <a:buFont typeface="Arial"/>
              <a:buAutoNum type="arabicPeriod"/>
            </a:pPr>
            <a:r>
              <a: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สิ่งที่ต้องเกิดขึ้นต่อ พร้อมผู้รับผิดชอบ</a:t>
            </a:r>
          </a:p>
        </p:txBody>
      </p:sp>
      <p:sp>
        <p:nvSpPr>
          <p:cNvPr id="18" name="Decision By"/>
          <p:cNvSpPr>
            <a:spLocks noGrp="1"/>
          </p:cNvSpPr>
          <p:nvPr>
            <p:ph type="body" idx="3"/>
          </p:nvPr>
        </p:nvSpPr>
        <p:spPr>
          <a:xfrm>
            <a:off x="914400" y="4709160"/>
            <a:ext cx="548640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ต้องการคำตอบภายในวันที่ ...</a:t>
            </a:r>
          </a:p>
        </p:txBody>
      </p:sp>
      <p:sp>
        <p:nvSpPr>
          <p:cNvPr id="19" name="Contact"/>
          <p:cNvSpPr>
            <a:spLocks noGrp="1"/>
          </p:cNvSpPr>
          <p:nvPr>
            <p:ph type="body" idx="4"/>
          </p:nvPr>
        </p:nvSpPr>
        <p:spPr>
          <a:xfrm>
            <a:off x="914400" y="5303520"/>
            <a:ext cx="54864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89000"/>
              </a:lnSpc>
              <a:buNone/>
              <a:defRPr lang="th-TH" sz="14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89000"/>
              </a:lnSpc>
              <a:buNone/>
            </a:pPr>
            <a:r>
              <a:rPr lang="th-TH" sz="14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โทร · 0X-XXX-XXXX</a:t>
            </a:r>
          </a:p>
        </p:txBody>
      </p:sp>
      <p:sp>
        <p:nvSpPr>
          <p:cNvPr id="21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11 Split Pa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xt Panel"/>
          <p:cNvSpPr/>
          <p:nvPr/>
        </p:nvSpPr>
        <p:spPr>
          <a:xfrm>
            <a:off x="914400" y="1691640"/>
            <a:ext cx="5090160" cy="381000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ontext Kicker"/>
          <p:cNvSpPr>
            <a:spLocks noGrp="1"/>
          </p:cNvSpPr>
          <p:nvPr>
            <p:ph type="body" idx="1"/>
          </p:nvPr>
        </p:nvSpPr>
        <p:spPr>
          <a:xfrm>
            <a:off x="123444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สภาพปัจจุบัน</a:t>
            </a:r>
          </a:p>
        </p:txBody>
      </p:sp>
      <p:sp>
        <p:nvSpPr>
          <p:cNvPr id="14" name="Context Body"/>
          <p:cNvSpPr>
            <a:spLocks noGrp="1"/>
          </p:cNvSpPr>
          <p:nvPr>
            <p:ph type="body" idx="2"/>
          </p:nvPr>
        </p:nvSpPr>
        <p:spPr>
          <a:xfrm>
            <a:off x="123444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  <a:def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บริบทหรือปัญหาที่พบ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5" name="Outcome Panel"/>
          <p:cNvSpPr/>
          <p:nvPr/>
        </p:nvSpPr>
        <p:spPr>
          <a:xfrm>
            <a:off x="6187440" y="1691640"/>
            <a:ext cx="5090160" cy="38100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Outcome Kicker"/>
          <p:cNvSpPr>
            <a:spLocks noGrp="1"/>
          </p:cNvSpPr>
          <p:nvPr>
            <p:ph type="body" idx="3"/>
          </p:nvPr>
        </p:nvSpPr>
        <p:spPr>
          <a:xfrm>
            <a:off x="650748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สิ่งที่จะเกิดขึ้น</a:t>
            </a:r>
          </a:p>
        </p:txBody>
      </p:sp>
      <p:sp>
        <p:nvSpPr>
          <p:cNvPr id="17" name="Outcome Body"/>
          <p:cNvSpPr>
            <a:spLocks noGrp="1"/>
          </p:cNvSpPr>
          <p:nvPr>
            <p:ph type="body" idx="4"/>
          </p:nvPr>
        </p:nvSpPr>
        <p:spPr>
          <a:xfrm>
            <a:off x="650748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แนวทางหรือผลลัพธ์ที่เสนอ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8" name="Takeaway Band"/>
          <p:cNvSpPr/>
          <p:nvPr/>
        </p:nvSpPr>
        <p:spPr>
          <a:xfrm>
            <a:off x="914400" y="563880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Takeaway Label"/>
          <p:cNvSpPr>
            <a:spLocks noGrp="1"/>
          </p:cNvSpPr>
          <p:nvPr>
            <p:ph type="body" idx="5"/>
          </p:nvPr>
        </p:nvSpPr>
        <p:spPr>
          <a:xfrm>
            <a:off x="1097280" y="569976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0" name="Takeaway Copy"/>
          <p:cNvSpPr>
            <a:spLocks noGrp="1"/>
          </p:cNvSpPr>
          <p:nvPr>
            <p:ph type="body" idx="6"/>
          </p:nvPr>
        </p:nvSpPr>
        <p:spPr>
          <a:xfrm>
            <a:off x="2926080" y="569976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2 Four Cards + Ba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Number"/>
          <p:cNvSpPr>
            <a:spLocks noGrp="1"/>
          </p:cNvSpPr>
          <p:nvPr>
            <p:ph type="body" idx="20"/>
          </p:nvPr>
        </p:nvSpPr>
        <p:spPr>
          <a:xfrm>
            <a:off x="123444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5" name="Card 1 Heading"/>
          <p:cNvSpPr>
            <a:spLocks noGrp="1"/>
          </p:cNvSpPr>
          <p:nvPr>
            <p:ph type="body" idx="21"/>
          </p:nvPr>
        </p:nvSpPr>
        <p:spPr>
          <a:xfrm>
            <a:off x="123444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1</a:t>
            </a:r>
          </a:p>
        </p:txBody>
      </p:sp>
      <p:sp>
        <p:nvSpPr>
          <p:cNvPr id="16" name="Card 1 Body"/>
          <p:cNvSpPr>
            <a:spLocks noGrp="1"/>
          </p:cNvSpPr>
          <p:nvPr>
            <p:ph type="body" idx="22"/>
          </p:nvPr>
        </p:nvSpPr>
        <p:spPr>
          <a:xfrm>
            <a:off x="123444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17" name="Card 2"/>
          <p:cNvSpPr/>
          <p:nvPr/>
        </p:nvSpPr>
        <p:spPr>
          <a:xfrm>
            <a:off x="355092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Tab"/>
          <p:cNvSpPr/>
          <p:nvPr/>
        </p:nvSpPr>
        <p:spPr>
          <a:xfrm>
            <a:off x="3870960" y="201168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Card 2 Number"/>
          <p:cNvSpPr>
            <a:spLocks noGrp="1"/>
          </p:cNvSpPr>
          <p:nvPr>
            <p:ph type="body" idx="23"/>
          </p:nvPr>
        </p:nvSpPr>
        <p:spPr>
          <a:xfrm>
            <a:off x="387096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rPr>
              <a:t>02</a:t>
            </a:r>
          </a:p>
        </p:txBody>
      </p:sp>
      <p:sp>
        <p:nvSpPr>
          <p:cNvPr id="20" name="Card 2 Heading"/>
          <p:cNvSpPr>
            <a:spLocks noGrp="1"/>
          </p:cNvSpPr>
          <p:nvPr>
            <p:ph type="body" idx="24"/>
          </p:nvPr>
        </p:nvSpPr>
        <p:spPr>
          <a:xfrm>
            <a:off x="387096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2</a:t>
            </a:r>
          </a:p>
        </p:txBody>
      </p:sp>
      <p:sp>
        <p:nvSpPr>
          <p:cNvPr id="21" name="Card 2 Body"/>
          <p:cNvSpPr>
            <a:spLocks noGrp="1"/>
          </p:cNvSpPr>
          <p:nvPr>
            <p:ph type="body" idx="25"/>
          </p:nvPr>
        </p:nvSpPr>
        <p:spPr>
          <a:xfrm>
            <a:off x="387096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2" name="Card 3"/>
          <p:cNvSpPr/>
          <p:nvPr/>
        </p:nvSpPr>
        <p:spPr>
          <a:xfrm>
            <a:off x="618744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Card 3 Tab"/>
          <p:cNvSpPr/>
          <p:nvPr/>
        </p:nvSpPr>
        <p:spPr>
          <a:xfrm>
            <a:off x="6507480" y="2011680"/>
            <a:ext cx="205740" cy="45720"/>
          </a:xfrm>
          <a:prstGeom prst="rect">
            <a:avLst/>
          </a:prstGeom>
          <a:solidFill>
            <a:srgbClr val="0D929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Card 3 Number"/>
          <p:cNvSpPr>
            <a:spLocks noGrp="1"/>
          </p:cNvSpPr>
          <p:nvPr>
            <p:ph type="body" idx="26"/>
          </p:nvPr>
        </p:nvSpPr>
        <p:spPr>
          <a:xfrm>
            <a:off x="650748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rPr>
              <a:t>03</a:t>
            </a:r>
          </a:p>
        </p:txBody>
      </p:sp>
      <p:sp>
        <p:nvSpPr>
          <p:cNvPr id="25" name="Card 3 Heading"/>
          <p:cNvSpPr>
            <a:spLocks noGrp="1"/>
          </p:cNvSpPr>
          <p:nvPr>
            <p:ph type="body" idx="27"/>
          </p:nvPr>
        </p:nvSpPr>
        <p:spPr>
          <a:xfrm>
            <a:off x="650748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3</a:t>
            </a:r>
          </a:p>
        </p:txBody>
      </p:sp>
      <p:sp>
        <p:nvSpPr>
          <p:cNvPr id="26" name="Card 3 Body"/>
          <p:cNvSpPr>
            <a:spLocks noGrp="1"/>
          </p:cNvSpPr>
          <p:nvPr>
            <p:ph type="body" idx="28"/>
          </p:nvPr>
        </p:nvSpPr>
        <p:spPr>
          <a:xfrm>
            <a:off x="650748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7" name="Card 4"/>
          <p:cNvSpPr/>
          <p:nvPr/>
        </p:nvSpPr>
        <p:spPr>
          <a:xfrm>
            <a:off x="882396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Card 4 Tab"/>
          <p:cNvSpPr/>
          <p:nvPr/>
        </p:nvSpPr>
        <p:spPr>
          <a:xfrm>
            <a:off x="9144000" y="2011680"/>
            <a:ext cx="205740" cy="45720"/>
          </a:xfrm>
          <a:prstGeom prst="rect">
            <a:avLst/>
          </a:prstGeom>
          <a:solidFill>
            <a:srgbClr val="6C428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Card 4 Number"/>
          <p:cNvSpPr>
            <a:spLocks noGrp="1"/>
          </p:cNvSpPr>
          <p:nvPr>
            <p:ph type="body" idx="29"/>
          </p:nvPr>
        </p:nvSpPr>
        <p:spPr>
          <a:xfrm>
            <a:off x="914400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rPr>
              <a:t>04</a:t>
            </a:r>
          </a:p>
        </p:txBody>
      </p:sp>
      <p:sp>
        <p:nvSpPr>
          <p:cNvPr id="30" name="Card 4 Heading"/>
          <p:cNvSpPr>
            <a:spLocks noGrp="1"/>
          </p:cNvSpPr>
          <p:nvPr>
            <p:ph type="body" idx="30"/>
          </p:nvPr>
        </p:nvSpPr>
        <p:spPr>
          <a:xfrm>
            <a:off x="914400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4</a:t>
            </a:r>
          </a:p>
        </p:txBody>
      </p:sp>
      <p:sp>
        <p:nvSpPr>
          <p:cNvPr id="31" name="Card 4 Body"/>
          <p:cNvSpPr>
            <a:spLocks noGrp="1"/>
          </p:cNvSpPr>
          <p:nvPr>
            <p:ph type="body" idx="31"/>
          </p:nvPr>
        </p:nvSpPr>
        <p:spPr>
          <a:xfrm>
            <a:off x="914400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32" name="Band"/>
          <p:cNvSpPr/>
          <p:nvPr/>
        </p:nvSpPr>
        <p:spPr>
          <a:xfrm>
            <a:off x="914400" y="5303520"/>
            <a:ext cx="10363200" cy="54864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Band Label"/>
          <p:cNvSpPr>
            <a:spLocks noGrp="1"/>
          </p:cNvSpPr>
          <p:nvPr>
            <p:ph type="body" idx="32"/>
          </p:nvPr>
        </p:nvSpPr>
        <p:spPr>
          <a:xfrm>
            <a:off x="1143000" y="539496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4" name="Band Copy"/>
          <p:cNvSpPr>
            <a:spLocks noGrp="1"/>
          </p:cNvSpPr>
          <p:nvPr>
            <p:ph type="body" idx="33"/>
          </p:nvPr>
        </p:nvSpPr>
        <p:spPr>
          <a:xfrm>
            <a:off x="3154680" y="539496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ประเด็นสรุปรวมสี่การ์ด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3 Process Flo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3" name="Step 1"/>
          <p:cNvSpPr/>
          <p:nvPr/>
        </p:nvSpPr>
        <p:spPr>
          <a:xfrm>
            <a:off x="914400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tep 1 Chip"/>
          <p:cNvSpPr/>
          <p:nvPr/>
        </p:nvSpPr>
        <p:spPr>
          <a:xfrm>
            <a:off x="1143000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tep 1 Chip Num"/>
          <p:cNvSpPr>
            <a:spLocks noGrp="1"/>
          </p:cNvSpPr>
          <p:nvPr>
            <p:ph type="body" idx="20"/>
          </p:nvPr>
        </p:nvSpPr>
        <p:spPr>
          <a:xfrm>
            <a:off x="1143000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1</a:t>
            </a:r>
          </a:p>
        </p:txBody>
      </p:sp>
      <p:sp>
        <p:nvSpPr>
          <p:cNvPr id="16" name="Step 1 Head"/>
          <p:cNvSpPr>
            <a:spLocks noGrp="1"/>
          </p:cNvSpPr>
          <p:nvPr>
            <p:ph type="body" idx="21"/>
          </p:nvPr>
        </p:nvSpPr>
        <p:spPr>
          <a:xfrm>
            <a:off x="1143000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1</a:t>
            </a:r>
          </a:p>
        </p:txBody>
      </p:sp>
      <p:sp>
        <p:nvSpPr>
          <p:cNvPr id="17" name="Step 1 Body"/>
          <p:cNvSpPr>
            <a:spLocks noGrp="1"/>
          </p:cNvSpPr>
          <p:nvPr>
            <p:ph type="body" idx="22"/>
          </p:nvPr>
        </p:nvSpPr>
        <p:spPr>
          <a:xfrm>
            <a:off x="1143000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18" name="Connector 1"/>
          <p:cNvSpPr/>
          <p:nvPr/>
        </p:nvSpPr>
        <p:spPr>
          <a:xfrm>
            <a:off x="2886456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tep 2"/>
          <p:cNvSpPr/>
          <p:nvPr/>
        </p:nvSpPr>
        <p:spPr>
          <a:xfrm>
            <a:off x="3023616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tep 2 Chip"/>
          <p:cNvSpPr/>
          <p:nvPr/>
        </p:nvSpPr>
        <p:spPr>
          <a:xfrm>
            <a:off x="3252216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tep 2 Chip Num"/>
          <p:cNvSpPr>
            <a:spLocks noGrp="1"/>
          </p:cNvSpPr>
          <p:nvPr>
            <p:ph type="body" idx="23"/>
          </p:nvPr>
        </p:nvSpPr>
        <p:spPr>
          <a:xfrm>
            <a:off x="3252216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2</a:t>
            </a:r>
          </a:p>
        </p:txBody>
      </p:sp>
      <p:sp>
        <p:nvSpPr>
          <p:cNvPr id="22" name="Step 2 Head"/>
          <p:cNvSpPr>
            <a:spLocks noGrp="1"/>
          </p:cNvSpPr>
          <p:nvPr>
            <p:ph type="body" idx="24"/>
          </p:nvPr>
        </p:nvSpPr>
        <p:spPr>
          <a:xfrm>
            <a:off x="3252216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2</a:t>
            </a:r>
          </a:p>
        </p:txBody>
      </p:sp>
      <p:sp>
        <p:nvSpPr>
          <p:cNvPr id="23" name="Step 2 Body"/>
          <p:cNvSpPr>
            <a:spLocks noGrp="1"/>
          </p:cNvSpPr>
          <p:nvPr>
            <p:ph type="body" idx="25"/>
          </p:nvPr>
        </p:nvSpPr>
        <p:spPr>
          <a:xfrm>
            <a:off x="3252216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24" name="Connector 2"/>
          <p:cNvSpPr/>
          <p:nvPr/>
        </p:nvSpPr>
        <p:spPr>
          <a:xfrm>
            <a:off x="4995672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tep 3"/>
          <p:cNvSpPr/>
          <p:nvPr/>
        </p:nvSpPr>
        <p:spPr>
          <a:xfrm>
            <a:off x="5132832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tep 3 Chip"/>
          <p:cNvSpPr/>
          <p:nvPr/>
        </p:nvSpPr>
        <p:spPr>
          <a:xfrm>
            <a:off x="5361432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tep 3 Chip Num"/>
          <p:cNvSpPr>
            <a:spLocks noGrp="1"/>
          </p:cNvSpPr>
          <p:nvPr>
            <p:ph type="body" idx="26"/>
          </p:nvPr>
        </p:nvSpPr>
        <p:spPr>
          <a:xfrm>
            <a:off x="5361432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3</a:t>
            </a:r>
          </a:p>
        </p:txBody>
      </p:sp>
      <p:sp>
        <p:nvSpPr>
          <p:cNvPr id="28" name="Step 3 Head"/>
          <p:cNvSpPr>
            <a:spLocks noGrp="1"/>
          </p:cNvSpPr>
          <p:nvPr>
            <p:ph type="body" idx="27"/>
          </p:nvPr>
        </p:nvSpPr>
        <p:spPr>
          <a:xfrm>
            <a:off x="5361432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3</a:t>
            </a:r>
          </a:p>
        </p:txBody>
      </p:sp>
      <p:sp>
        <p:nvSpPr>
          <p:cNvPr id="29" name="Step 3 Body"/>
          <p:cNvSpPr>
            <a:spLocks noGrp="1"/>
          </p:cNvSpPr>
          <p:nvPr>
            <p:ph type="body" idx="28"/>
          </p:nvPr>
        </p:nvSpPr>
        <p:spPr>
          <a:xfrm>
            <a:off x="5361432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0" name="Connector 3"/>
          <p:cNvSpPr/>
          <p:nvPr/>
        </p:nvSpPr>
        <p:spPr>
          <a:xfrm>
            <a:off x="7104888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tep 4"/>
          <p:cNvSpPr/>
          <p:nvPr/>
        </p:nvSpPr>
        <p:spPr>
          <a:xfrm>
            <a:off x="7242048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tep 4 Chip"/>
          <p:cNvSpPr/>
          <p:nvPr/>
        </p:nvSpPr>
        <p:spPr>
          <a:xfrm>
            <a:off x="7470648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tep 4 Chip Num"/>
          <p:cNvSpPr>
            <a:spLocks noGrp="1"/>
          </p:cNvSpPr>
          <p:nvPr>
            <p:ph type="body" idx="29"/>
          </p:nvPr>
        </p:nvSpPr>
        <p:spPr>
          <a:xfrm>
            <a:off x="7470648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4</a:t>
            </a:r>
          </a:p>
        </p:txBody>
      </p:sp>
      <p:sp>
        <p:nvSpPr>
          <p:cNvPr id="34" name="Step 4 Head"/>
          <p:cNvSpPr>
            <a:spLocks noGrp="1"/>
          </p:cNvSpPr>
          <p:nvPr>
            <p:ph type="body" idx="30"/>
          </p:nvPr>
        </p:nvSpPr>
        <p:spPr>
          <a:xfrm>
            <a:off x="7470648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4</a:t>
            </a:r>
          </a:p>
        </p:txBody>
      </p:sp>
      <p:sp>
        <p:nvSpPr>
          <p:cNvPr id="35" name="Step 4 Body"/>
          <p:cNvSpPr>
            <a:spLocks noGrp="1"/>
          </p:cNvSpPr>
          <p:nvPr>
            <p:ph type="body" idx="31"/>
          </p:nvPr>
        </p:nvSpPr>
        <p:spPr>
          <a:xfrm>
            <a:off x="7470648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6" name="Connector 4"/>
          <p:cNvSpPr/>
          <p:nvPr/>
        </p:nvSpPr>
        <p:spPr>
          <a:xfrm>
            <a:off x="9214104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tep 5"/>
          <p:cNvSpPr/>
          <p:nvPr/>
        </p:nvSpPr>
        <p:spPr>
          <a:xfrm>
            <a:off x="9351264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tep 5 Chip"/>
          <p:cNvSpPr/>
          <p:nvPr/>
        </p:nvSpPr>
        <p:spPr>
          <a:xfrm>
            <a:off x="9579864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tep 5 Chip Num"/>
          <p:cNvSpPr>
            <a:spLocks noGrp="1"/>
          </p:cNvSpPr>
          <p:nvPr>
            <p:ph type="body" idx="32"/>
          </p:nvPr>
        </p:nvSpPr>
        <p:spPr>
          <a:xfrm>
            <a:off x="9579864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5</a:t>
            </a:r>
          </a:p>
        </p:txBody>
      </p:sp>
      <p:sp>
        <p:nvSpPr>
          <p:cNvPr id="40" name="Step 5 Head"/>
          <p:cNvSpPr>
            <a:spLocks noGrp="1"/>
          </p:cNvSpPr>
          <p:nvPr>
            <p:ph type="body" idx="33"/>
          </p:nvPr>
        </p:nvSpPr>
        <p:spPr>
          <a:xfrm>
            <a:off x="9579864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5</a:t>
            </a:r>
          </a:p>
        </p:txBody>
      </p:sp>
      <p:sp>
        <p:nvSpPr>
          <p:cNvPr id="41" name="Step 5 Body"/>
          <p:cNvSpPr>
            <a:spLocks noGrp="1"/>
          </p:cNvSpPr>
          <p:nvPr>
            <p:ph type="body" idx="34"/>
          </p:nvPr>
        </p:nvSpPr>
        <p:spPr>
          <a:xfrm>
            <a:off x="9579864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42" name="Result Band"/>
          <p:cNvSpPr/>
          <p:nvPr/>
        </p:nvSpPr>
        <p:spPr>
          <a:xfrm>
            <a:off x="914400" y="4343400"/>
            <a:ext cx="10363200" cy="54864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3" name="Result Label"/>
          <p:cNvSpPr>
            <a:spLocks noGrp="1"/>
          </p:cNvSpPr>
          <p:nvPr>
            <p:ph type="body" idx="35"/>
          </p:nvPr>
        </p:nvSpPr>
        <p:spPr>
          <a:xfrm>
            <a:off x="1143000" y="443484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ผลลัพธ์</a:t>
            </a:r>
          </a:p>
        </p:txBody>
      </p:sp>
      <p:sp>
        <p:nvSpPr>
          <p:cNvPr id="44" name="Result Copy"/>
          <p:cNvSpPr>
            <a:spLocks noGrp="1"/>
          </p:cNvSpPr>
          <p:nvPr>
            <p:ph type="body" idx="36"/>
          </p:nvPr>
        </p:nvSpPr>
        <p:spPr>
          <a:xfrm>
            <a:off x="3154680" y="443484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ผลลัพธ์รวมของกระบวนการ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4 Diagram Canva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4" name="Legend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คำอธิบายสัญลักษณ์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15 Agenda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ชื่อบท</a:t>
            </a:r>
          </a:p>
        </p:txBody>
      </p:sp>
      <p:sp>
        <p:nvSpPr>
          <p:cNvPr id="14" name="Agenda List"/>
          <p:cNvSpPr>
            <a:spLocks noGrp="1"/>
          </p:cNvSpPr>
          <p:nvPr>
            <p:ph type="body" idx="2"/>
          </p:nvPr>
        </p:nvSpPr>
        <p:spPr>
          <a:xfrm>
            <a:off x="914400" y="3931920"/>
            <a:ext cx="621792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2pPr>
            <a:lvl3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หัวข้อที่หนึ่ง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หัวข้อที่สอง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16 Dense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011680"/>
            <a:ext cx="10363200" cy="31546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Category Key"/>
          <p:cNvSpPr>
            <a:spLocks noGrp="1"/>
          </p:cNvSpPr>
          <p:nvPr>
            <p:ph type="body" idx="3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b="1" dirty="0">
                <a:solidFill>
                  <a:srgbClr val="2A5EA0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1   </a:t>
            </a:r>
            <a:r>
              <a:rPr lang="th-TH" sz="1000" b="1" dirty="0">
                <a:solidFill>
                  <a:srgbClr val="BB731B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2   </a:t>
            </a:r>
            <a:r>
              <a:rPr lang="th-TH" sz="1000" b="1" dirty="0">
                <a:solidFill>
                  <a:srgbClr val="0D9298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3</a:t>
            </a:r>
          </a:p>
        </p:txBody>
      </p:sp>
      <p:sp>
        <p:nvSpPr>
          <p:cNvPr id="19" name="Footnote"/>
          <p:cNvSpPr>
            <a:spLocks noGrp="1"/>
          </p:cNvSpPr>
          <p:nvPr>
            <p:ph type="body" idx="4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5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6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7 Phase Ca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ey Activity Label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Key Activity :</a:t>
            </a:r>
          </a:p>
        </p:txBody>
      </p:sp>
      <p:sp>
        <p:nvSpPr>
          <p:cNvPr id="13" name="Key Activity Value"/>
          <p:cNvSpPr>
            <a:spLocks noGrp="1"/>
          </p:cNvSpPr>
          <p:nvPr>
            <p:ph type="body" idx="2"/>
          </p:nvPr>
        </p:nvSpPr>
        <p:spPr>
          <a:xfrm>
            <a:off x="2414400" y="169164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กิจกรรมหลักของเฟสนี้</a:t>
            </a:r>
          </a:p>
        </p:txBody>
      </p:sp>
      <p:sp>
        <p:nvSpPr>
          <p:cNvPr id="14" name="Participant Label"/>
          <p:cNvSpPr>
            <a:spLocks noGrp="1"/>
          </p:cNvSpPr>
          <p:nvPr>
            <p:ph type="body" idx="3"/>
          </p:nvPr>
        </p:nvSpPr>
        <p:spPr>
          <a:xfrm>
            <a:off x="914400" y="196596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Participant :</a:t>
            </a:r>
          </a:p>
        </p:txBody>
      </p:sp>
      <p:sp>
        <p:nvSpPr>
          <p:cNvPr id="15" name="Participant Value"/>
          <p:cNvSpPr>
            <a:spLocks noGrp="1"/>
          </p:cNvSpPr>
          <p:nvPr>
            <p:ph type="body" idx="4"/>
          </p:nvPr>
        </p:nvSpPr>
        <p:spPr>
          <a:xfrm>
            <a:off x="2414400" y="196596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ผู้เกี่ยวข้องในเฟสนี้</a:t>
            </a:r>
          </a:p>
        </p:txBody>
      </p:sp>
      <p:sp>
        <p:nvSpPr>
          <p:cNvPr id="16" name="Phase Card"/>
          <p:cNvSpPr/>
          <p:nvPr/>
        </p:nvSpPr>
        <p:spPr>
          <a:xfrm>
            <a:off x="914400" y="2628900"/>
            <a:ext cx="10363200" cy="3406140"/>
          </a:xfrm>
          <a:prstGeom prst="rect">
            <a:avLst/>
          </a:prstGeom>
          <a:noFill/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7" name="Phase Tab"/>
          <p:cNvSpPr/>
          <p:nvPr/>
        </p:nvSpPr>
        <p:spPr>
          <a:xfrm>
            <a:off x="914400" y="2423160"/>
            <a:ext cx="34290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Phase Number"/>
          <p:cNvSpPr>
            <a:spLocks noGrp="1"/>
          </p:cNvSpPr>
          <p:nvPr>
            <p:ph type="body" idx="5"/>
          </p:nvPr>
        </p:nvSpPr>
        <p:spPr>
          <a:xfrm>
            <a:off x="1005840" y="2423160"/>
            <a:ext cx="5029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9" name="Phase Tab Divider"/>
          <p:cNvSpPr/>
          <p:nvPr/>
        </p:nvSpPr>
        <p:spPr>
          <a:xfrm>
            <a:off x="1508760" y="2491740"/>
            <a:ext cx="12700" cy="27432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Phase Label"/>
          <p:cNvSpPr>
            <a:spLocks noGrp="1"/>
          </p:cNvSpPr>
          <p:nvPr>
            <p:ph type="body" idx="6"/>
          </p:nvPr>
        </p:nvSpPr>
        <p:spPr>
          <a:xfrm>
            <a:off x="1645920" y="2423160"/>
            <a:ext cx="25603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ชื่อเฟส</a:t>
            </a:r>
          </a:p>
        </p:txBody>
      </p:sp>
      <p:sp>
        <p:nvSpPr>
          <p:cNvPr id="21" name="Phase Intro"/>
          <p:cNvSpPr>
            <a:spLocks noGrp="1"/>
          </p:cNvSpPr>
          <p:nvPr>
            <p:ph type="body" idx="7"/>
          </p:nvPr>
        </p:nvSpPr>
        <p:spPr>
          <a:xfrm>
            <a:off x="1143000" y="2926080"/>
            <a:ext cx="99060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22" name="Phase Body"/>
          <p:cNvSpPr>
            <a:spLocks noGrp="1"/>
          </p:cNvSpPr>
          <p:nvPr>
            <p:ph type="body" idx="8"/>
          </p:nvPr>
        </p:nvSpPr>
        <p:spPr>
          <a:xfrm>
            <a:off x="1143000" y="3291840"/>
            <a:ext cx="9906000" cy="2514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เนื้อหาของเฟส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18 Evidence Stri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icker Pill"/>
          <p:cNvSpPr/>
          <p:nvPr/>
        </p:nvSpPr>
        <p:spPr>
          <a:xfrm>
            <a:off x="914400" y="1691640"/>
            <a:ext cx="32004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Kicker"/>
          <p:cNvSpPr>
            <a:spLocks noGrp="1"/>
          </p:cNvSpPr>
          <p:nvPr>
            <p:ph type="body" idx="1"/>
          </p:nvPr>
        </p:nvSpPr>
        <p:spPr>
          <a:xfrm>
            <a:off x="1097280" y="1691640"/>
            <a:ext cx="283464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หัวข้อของหลักฐาน</a:t>
            </a:r>
          </a:p>
        </p:txBody>
      </p:sp>
      <p:sp>
        <p:nvSpPr>
          <p:cNvPr id="14" name="Claim Placeholder"/>
          <p:cNvSpPr>
            <a:spLocks noGrp="1"/>
          </p:cNvSpPr>
          <p:nvPr>
            <p:ph type="tbl" idx="2"/>
          </p:nvPr>
        </p:nvSpPr>
        <p:spPr>
          <a:xfrm>
            <a:off x="914400" y="2240280"/>
            <a:ext cx="10363200" cy="146304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5" name="Takeaway Band"/>
          <p:cNvSpPr/>
          <p:nvPr/>
        </p:nvSpPr>
        <p:spPr>
          <a:xfrm>
            <a:off x="914400" y="3840480"/>
            <a:ext cx="10363200" cy="41148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390144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390144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ข้อสรุปหนึ่งบรรทัด</a:t>
            </a:r>
          </a:p>
        </p:txBody>
      </p:sp>
      <p:sp>
        <p:nvSpPr>
          <p:cNvPr id="18" name="Caption 1"/>
          <p:cNvSpPr>
            <a:spLocks noGrp="1"/>
          </p:cNvSpPr>
          <p:nvPr>
            <p:ph type="body" idx="20"/>
          </p:nvPr>
        </p:nvSpPr>
        <p:spPr>
          <a:xfrm>
            <a:off x="91440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19" name="Evidence 1 Frame"/>
          <p:cNvSpPr/>
          <p:nvPr/>
        </p:nvSpPr>
        <p:spPr>
          <a:xfrm>
            <a:off x="91440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0" name="Evidence 1"/>
          <p:cNvSpPr>
            <a:spLocks noGrp="1"/>
          </p:cNvSpPr>
          <p:nvPr>
            <p:ph type="pic" idx="21"/>
          </p:nvPr>
        </p:nvSpPr>
        <p:spPr>
          <a:xfrm>
            <a:off x="91440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1" name="Caption 2"/>
          <p:cNvSpPr>
            <a:spLocks noGrp="1"/>
          </p:cNvSpPr>
          <p:nvPr>
            <p:ph type="body" idx="22"/>
          </p:nvPr>
        </p:nvSpPr>
        <p:spPr>
          <a:xfrm>
            <a:off x="442976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2" name="Evidence 2 Frame"/>
          <p:cNvSpPr/>
          <p:nvPr/>
        </p:nvSpPr>
        <p:spPr>
          <a:xfrm>
            <a:off x="442976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3" name="Evidence 2"/>
          <p:cNvSpPr>
            <a:spLocks noGrp="1"/>
          </p:cNvSpPr>
          <p:nvPr>
            <p:ph type="pic" idx="23"/>
          </p:nvPr>
        </p:nvSpPr>
        <p:spPr>
          <a:xfrm>
            <a:off x="442976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4" name="Caption 3"/>
          <p:cNvSpPr>
            <a:spLocks noGrp="1"/>
          </p:cNvSpPr>
          <p:nvPr>
            <p:ph type="body" idx="24"/>
          </p:nvPr>
        </p:nvSpPr>
        <p:spPr>
          <a:xfrm>
            <a:off x="794512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5" name="Evidence 3 Frame"/>
          <p:cNvSpPr/>
          <p:nvPr/>
        </p:nvSpPr>
        <p:spPr>
          <a:xfrm>
            <a:off x="794512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6" name="Evidence 3"/>
          <p:cNvSpPr>
            <a:spLocks noGrp="1"/>
          </p:cNvSpPr>
          <p:nvPr>
            <p:ph type="pic" idx="25"/>
          </p:nvPr>
        </p:nvSpPr>
        <p:spPr>
          <a:xfrm>
            <a:off x="794512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chartAndTx" showMasterSp="0" preserve="1">
  <p:cSld name="19 Chart +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hart Placeholder"/>
          <p:cNvSpPr>
            <a:spLocks noGrp="1"/>
          </p:cNvSpPr>
          <p:nvPr>
            <p:ph type="chart" idx="1"/>
          </p:nvPr>
        </p:nvSpPr>
        <p:spPr>
          <a:xfrm>
            <a:off x="914400" y="1691640"/>
            <a:ext cx="6847840" cy="34747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3" name="Figure"/>
          <p:cNvSpPr>
            <a:spLocks noGrp="1"/>
          </p:cNvSpPr>
          <p:nvPr>
            <p:ph type="body" idx="2"/>
          </p:nvPr>
        </p:nvSpPr>
        <p:spPr>
          <a:xfrm>
            <a:off x="7945120" y="1691640"/>
            <a:ext cx="333248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00%</a:t>
            </a:r>
          </a:p>
        </p:txBody>
      </p:sp>
      <p:sp>
        <p:nvSpPr>
          <p:cNvPr id="14" name="Figure Label"/>
          <p:cNvSpPr>
            <a:spLocks noGrp="1"/>
          </p:cNvSpPr>
          <p:nvPr>
            <p:ph type="body" idx="3"/>
          </p:nvPr>
        </p:nvSpPr>
        <p:spPr>
          <a:xfrm>
            <a:off x="7945120" y="2697480"/>
            <a:ext cx="333248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5" name="Insight"/>
          <p:cNvSpPr>
            <a:spLocks noGrp="1"/>
          </p:cNvSpPr>
          <p:nvPr>
            <p:ph type="body" idx="4"/>
          </p:nvPr>
        </p:nvSpPr>
        <p:spPr>
          <a:xfrm>
            <a:off x="7945120" y="3291840"/>
            <a:ext cx="3332480" cy="1874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86000"/>
              </a:lnSpc>
              <a:spcBef>
                <a:spcPts val="6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228600" indent="-228600">
              <a:lnSpc>
                <a:spcPct val="86000"/>
              </a:lnSpc>
              <a:spcBef>
                <a:spcPts val="6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สิ่งที่กราฟบอก ไม่เกินสามข้อ</a:t>
            </a:r>
          </a:p>
        </p:txBody>
      </p:sp>
      <p:sp>
        <p:nvSpPr>
          <p:cNvPr id="16" name="Source"/>
          <p:cNvSpPr>
            <a:spLocks noGrp="1"/>
          </p:cNvSpPr>
          <p:nvPr>
            <p:ph type="body" idx="5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</a:t>
            </a:r>
          </a:p>
        </p:txBody>
      </p:sp>
      <p:sp>
        <p:nvSpPr>
          <p:cNvPr id="17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Takeaway Label"/>
          <p:cNvSpPr>
            <a:spLocks noGrp="1"/>
          </p:cNvSpPr>
          <p:nvPr>
            <p:ph type="body" idx="6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9" name="Takeaway Copy"/>
          <p:cNvSpPr>
            <a:spLocks noGrp="1"/>
          </p:cNvSpPr>
          <p:nvPr>
            <p:ph type="body" idx="7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20 Title Slide Gradient">
    <p:bg>
      <p:bgPr>
        <a:gradFill rotWithShape="1">
          <a:gsLst>
            <a:gs pos="0">
              <a:srgbClr val="23436D"/>
            </a:gs>
            <a:gs pos="55000">
              <a:srgbClr val="1E5473"/>
            </a:gs>
            <a:gs pos="100000">
              <a:srgbClr val="1A8D92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8534400" y="-914400"/>
            <a:ext cx="4572000" cy="45720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Decor Diamond"/>
          <p:cNvSpPr/>
          <p:nvPr/>
        </p:nvSpPr>
        <p:spPr>
          <a:xfrm>
            <a:off x="9906000" y="2743200"/>
            <a:ext cx="2743200" cy="2743200"/>
          </a:xfrm>
          <a:prstGeom prst="diamond">
            <a:avLst/>
          </a:prstGeom>
          <a:noFill/>
          <a:ln w="19050">
            <a:solidFill>
              <a:srgbClr val="FFFFFF">
                <a:alpha val="7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2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68680"/>
            <a:ext cx="2560320" cy="1302864"/>
          </a:xfrm>
          <a:prstGeom prst="rect">
            <a:avLst/>
          </a:prstGeom>
        </p:spPr>
      </p:pic>
      <p:sp>
        <p:nvSpPr>
          <p:cNvPr id="13" name="Title Placeholder"/>
          <p:cNvSpPr>
            <a:spLocks noGrp="1"/>
          </p:cNvSpPr>
          <p:nvPr>
            <p:ph type="ctrTitle"/>
          </p:nvPr>
        </p:nvSpPr>
        <p:spPr>
          <a:xfrm>
            <a:off x="914400" y="2560320"/>
            <a:ext cx="8229600" cy="14630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6000"/>
              </a:lnSpc>
              <a:buNone/>
              <a:def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6000"/>
              </a:lnSpc>
              <a:buNone/>
            </a:pPr>
            <a:r>
              <a: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ชื่อเรื่องงานนำเสนอ</a:t>
            </a:r>
          </a:p>
        </p:txBody>
      </p:sp>
      <p:sp>
        <p:nvSpPr>
          <p:cNvPr id="14" name="Accent Rule"/>
          <p:cNvSpPr/>
          <p:nvPr/>
        </p:nvSpPr>
        <p:spPr>
          <a:xfrm>
            <a:off x="914400" y="4206240"/>
            <a:ext cx="548640" cy="4572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ubtitle"/>
          <p:cNvSpPr>
            <a:spLocks noGrp="1"/>
          </p:cNvSpPr>
          <p:nvPr>
            <p:ph type="subTitle" idx="1"/>
          </p:nvPr>
        </p:nvSpPr>
        <p:spPr>
          <a:xfrm>
            <a:off x="914400" y="4480560"/>
            <a:ext cx="73152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คำโปรย / ชื่อลูกค้า / วันที่</a:t>
            </a:r>
          </a:p>
        </p:txBody>
      </p:sp>
      <p:sp>
        <p:nvSpPr>
          <p:cNvPr id="16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1 Plan Timelin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hart Placeholder"/>
          <p:cNvSpPr>
            <a:spLocks noGrp="1"/>
          </p:cNvSpPr>
          <p:nvPr>
            <p:ph type="chart" idx="1"/>
          </p:nvPr>
        </p:nvSpPr>
        <p:spPr>
          <a:xfrm>
            <a:off x="3566160" y="2057400"/>
            <a:ext cx="7711440" cy="31089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3" name="Period 1"/>
          <p:cNvSpPr>
            <a:spLocks noGrp="1"/>
          </p:cNvSpPr>
          <p:nvPr>
            <p:ph type="body" idx="20"/>
          </p:nvPr>
        </p:nvSpPr>
        <p:spPr>
          <a:xfrm>
            <a:off x="356616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</a:t>
            </a:r>
          </a:p>
        </p:txBody>
      </p:sp>
      <p:sp>
        <p:nvSpPr>
          <p:cNvPr id="14" name="Period 2"/>
          <p:cNvSpPr>
            <a:spLocks noGrp="1"/>
          </p:cNvSpPr>
          <p:nvPr>
            <p:ph type="body" idx="21"/>
          </p:nvPr>
        </p:nvSpPr>
        <p:spPr>
          <a:xfrm>
            <a:off x="420878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ด.2</a:t>
            </a:r>
          </a:p>
        </p:txBody>
      </p:sp>
      <p:sp>
        <p:nvSpPr>
          <p:cNvPr id="15" name="Period 3"/>
          <p:cNvSpPr>
            <a:spLocks noGrp="1"/>
          </p:cNvSpPr>
          <p:nvPr>
            <p:ph type="body" idx="22"/>
          </p:nvPr>
        </p:nvSpPr>
        <p:spPr>
          <a:xfrm>
            <a:off x="485140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ด.3</a:t>
            </a:r>
          </a:p>
        </p:txBody>
      </p:sp>
      <p:sp>
        <p:nvSpPr>
          <p:cNvPr id="16" name="Period 4"/>
          <p:cNvSpPr>
            <a:spLocks noGrp="1"/>
          </p:cNvSpPr>
          <p:nvPr>
            <p:ph type="body" idx="23"/>
          </p:nvPr>
        </p:nvSpPr>
        <p:spPr>
          <a:xfrm>
            <a:off x="549402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ด.4</a:t>
            </a:r>
          </a:p>
        </p:txBody>
      </p:sp>
      <p:sp>
        <p:nvSpPr>
          <p:cNvPr id="17" name="Period 5"/>
          <p:cNvSpPr>
            <a:spLocks noGrp="1"/>
          </p:cNvSpPr>
          <p:nvPr>
            <p:ph type="body" idx="24"/>
          </p:nvPr>
        </p:nvSpPr>
        <p:spPr>
          <a:xfrm>
            <a:off x="613664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ด.5</a:t>
            </a:r>
          </a:p>
        </p:txBody>
      </p:sp>
      <p:sp>
        <p:nvSpPr>
          <p:cNvPr id="18" name="Period 6"/>
          <p:cNvSpPr>
            <a:spLocks noGrp="1"/>
          </p:cNvSpPr>
          <p:nvPr>
            <p:ph type="body" idx="25"/>
          </p:nvPr>
        </p:nvSpPr>
        <p:spPr>
          <a:xfrm>
            <a:off x="677926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ด.6</a:t>
            </a:r>
          </a:p>
        </p:txBody>
      </p:sp>
      <p:sp>
        <p:nvSpPr>
          <p:cNvPr id="19" name="Period 7"/>
          <p:cNvSpPr>
            <a:spLocks noGrp="1"/>
          </p:cNvSpPr>
          <p:nvPr>
            <p:ph type="body" idx="26"/>
          </p:nvPr>
        </p:nvSpPr>
        <p:spPr>
          <a:xfrm>
            <a:off x="742188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ด.7</a:t>
            </a:r>
          </a:p>
        </p:txBody>
      </p:sp>
      <p:sp>
        <p:nvSpPr>
          <p:cNvPr id="20" name="Period 8"/>
          <p:cNvSpPr>
            <a:spLocks noGrp="1"/>
          </p:cNvSpPr>
          <p:nvPr>
            <p:ph type="body" idx="27"/>
          </p:nvPr>
        </p:nvSpPr>
        <p:spPr>
          <a:xfrm>
            <a:off x="806450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ด.8</a:t>
            </a:r>
          </a:p>
        </p:txBody>
      </p:sp>
      <p:sp>
        <p:nvSpPr>
          <p:cNvPr id="21" name="Period 9"/>
          <p:cNvSpPr>
            <a:spLocks noGrp="1"/>
          </p:cNvSpPr>
          <p:nvPr>
            <p:ph type="body" idx="28"/>
          </p:nvPr>
        </p:nvSpPr>
        <p:spPr>
          <a:xfrm>
            <a:off x="870712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ด.9</a:t>
            </a:r>
          </a:p>
        </p:txBody>
      </p:sp>
      <p:sp>
        <p:nvSpPr>
          <p:cNvPr id="22" name="Period 10"/>
          <p:cNvSpPr>
            <a:spLocks noGrp="1"/>
          </p:cNvSpPr>
          <p:nvPr>
            <p:ph type="body" idx="29"/>
          </p:nvPr>
        </p:nvSpPr>
        <p:spPr>
          <a:xfrm>
            <a:off x="934974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ด.10</a:t>
            </a:r>
          </a:p>
        </p:txBody>
      </p:sp>
      <p:sp>
        <p:nvSpPr>
          <p:cNvPr id="23" name="Period 11"/>
          <p:cNvSpPr>
            <a:spLocks noGrp="1"/>
          </p:cNvSpPr>
          <p:nvPr>
            <p:ph type="body" idx="30"/>
          </p:nvPr>
        </p:nvSpPr>
        <p:spPr>
          <a:xfrm>
            <a:off x="999236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ด.11</a:t>
            </a:r>
          </a:p>
        </p:txBody>
      </p:sp>
      <p:sp>
        <p:nvSpPr>
          <p:cNvPr id="24" name="Period 12"/>
          <p:cNvSpPr>
            <a:spLocks noGrp="1"/>
          </p:cNvSpPr>
          <p:nvPr>
            <p:ph type="body" idx="31"/>
          </p:nvPr>
        </p:nvSpPr>
        <p:spPr>
          <a:xfrm>
            <a:off x="1063498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ด.12</a:t>
            </a:r>
          </a:p>
        </p:txBody>
      </p:sp>
      <p:sp>
        <p:nvSpPr>
          <p:cNvPr id="25" name="Row 1 Label"/>
          <p:cNvSpPr>
            <a:spLocks noGrp="1"/>
          </p:cNvSpPr>
          <p:nvPr>
            <p:ph type="body" idx="32"/>
          </p:nvPr>
        </p:nvSpPr>
        <p:spPr>
          <a:xfrm>
            <a:off x="914400" y="205740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1. ชื่อเฟส</a:t>
            </a:r>
          </a:p>
        </p:txBody>
      </p:sp>
      <p:sp>
        <p:nvSpPr>
          <p:cNvPr id="26" name="Row 1 Duration"/>
          <p:cNvSpPr>
            <a:spLocks noGrp="1"/>
          </p:cNvSpPr>
          <p:nvPr>
            <p:ph type="body" idx="33"/>
          </p:nvPr>
        </p:nvSpPr>
        <p:spPr>
          <a:xfrm>
            <a:off x="2651760" y="205740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27" name="Row 2 Label"/>
          <p:cNvSpPr>
            <a:spLocks noGrp="1"/>
          </p:cNvSpPr>
          <p:nvPr>
            <p:ph type="body" idx="34"/>
          </p:nvPr>
        </p:nvSpPr>
        <p:spPr>
          <a:xfrm>
            <a:off x="914400" y="244602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2. ชื่อเฟส</a:t>
            </a:r>
          </a:p>
        </p:txBody>
      </p:sp>
      <p:sp>
        <p:nvSpPr>
          <p:cNvPr id="28" name="Row 2 Duration"/>
          <p:cNvSpPr>
            <a:spLocks noGrp="1"/>
          </p:cNvSpPr>
          <p:nvPr>
            <p:ph type="body" idx="35"/>
          </p:nvPr>
        </p:nvSpPr>
        <p:spPr>
          <a:xfrm>
            <a:off x="2651760" y="244602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29" name="Row 3 Label"/>
          <p:cNvSpPr>
            <a:spLocks noGrp="1"/>
          </p:cNvSpPr>
          <p:nvPr>
            <p:ph type="body" idx="36"/>
          </p:nvPr>
        </p:nvSpPr>
        <p:spPr>
          <a:xfrm>
            <a:off x="914400" y="283464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3. ชื่อเฟส</a:t>
            </a:r>
          </a:p>
        </p:txBody>
      </p:sp>
      <p:sp>
        <p:nvSpPr>
          <p:cNvPr id="30" name="Row 3 Duration"/>
          <p:cNvSpPr>
            <a:spLocks noGrp="1"/>
          </p:cNvSpPr>
          <p:nvPr>
            <p:ph type="body" idx="37"/>
          </p:nvPr>
        </p:nvSpPr>
        <p:spPr>
          <a:xfrm>
            <a:off x="2651760" y="283464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1" name="Row 4 Label"/>
          <p:cNvSpPr>
            <a:spLocks noGrp="1"/>
          </p:cNvSpPr>
          <p:nvPr>
            <p:ph type="body" idx="38"/>
          </p:nvPr>
        </p:nvSpPr>
        <p:spPr>
          <a:xfrm>
            <a:off x="914400" y="322326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4. ชื่อเฟส</a:t>
            </a:r>
          </a:p>
        </p:txBody>
      </p:sp>
      <p:sp>
        <p:nvSpPr>
          <p:cNvPr id="32" name="Row 4 Duration"/>
          <p:cNvSpPr>
            <a:spLocks noGrp="1"/>
          </p:cNvSpPr>
          <p:nvPr>
            <p:ph type="body" idx="39"/>
          </p:nvPr>
        </p:nvSpPr>
        <p:spPr>
          <a:xfrm>
            <a:off x="2651760" y="322326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3" name="Row 5 Label"/>
          <p:cNvSpPr>
            <a:spLocks noGrp="1"/>
          </p:cNvSpPr>
          <p:nvPr>
            <p:ph type="body" idx="40"/>
          </p:nvPr>
        </p:nvSpPr>
        <p:spPr>
          <a:xfrm>
            <a:off x="914400" y="361188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5. ชื่อเฟส</a:t>
            </a:r>
          </a:p>
        </p:txBody>
      </p:sp>
      <p:sp>
        <p:nvSpPr>
          <p:cNvPr id="34" name="Row 5 Duration"/>
          <p:cNvSpPr>
            <a:spLocks noGrp="1"/>
          </p:cNvSpPr>
          <p:nvPr>
            <p:ph type="body" idx="41"/>
          </p:nvPr>
        </p:nvSpPr>
        <p:spPr>
          <a:xfrm>
            <a:off x="2651760" y="361188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5" name="Row 6 Label"/>
          <p:cNvSpPr>
            <a:spLocks noGrp="1"/>
          </p:cNvSpPr>
          <p:nvPr>
            <p:ph type="body" idx="42"/>
          </p:nvPr>
        </p:nvSpPr>
        <p:spPr>
          <a:xfrm>
            <a:off x="914400" y="400050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6. ชื่อเฟส</a:t>
            </a:r>
          </a:p>
        </p:txBody>
      </p:sp>
      <p:sp>
        <p:nvSpPr>
          <p:cNvPr id="36" name="Row 6 Duration"/>
          <p:cNvSpPr>
            <a:spLocks noGrp="1"/>
          </p:cNvSpPr>
          <p:nvPr>
            <p:ph type="body" idx="43"/>
          </p:nvPr>
        </p:nvSpPr>
        <p:spPr>
          <a:xfrm>
            <a:off x="2651760" y="400050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7" name="Row 7 Label"/>
          <p:cNvSpPr>
            <a:spLocks noGrp="1"/>
          </p:cNvSpPr>
          <p:nvPr>
            <p:ph type="body" idx="44"/>
          </p:nvPr>
        </p:nvSpPr>
        <p:spPr>
          <a:xfrm>
            <a:off x="914400" y="438912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7. ชื่อเฟส</a:t>
            </a:r>
          </a:p>
        </p:txBody>
      </p:sp>
      <p:sp>
        <p:nvSpPr>
          <p:cNvPr id="38" name="Row 7 Duration"/>
          <p:cNvSpPr>
            <a:spLocks noGrp="1"/>
          </p:cNvSpPr>
          <p:nvPr>
            <p:ph type="body" idx="45"/>
          </p:nvPr>
        </p:nvSpPr>
        <p:spPr>
          <a:xfrm>
            <a:off x="2651760" y="438912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9" name="Row 8 Label"/>
          <p:cNvSpPr>
            <a:spLocks noGrp="1"/>
          </p:cNvSpPr>
          <p:nvPr>
            <p:ph type="body" idx="46"/>
          </p:nvPr>
        </p:nvSpPr>
        <p:spPr>
          <a:xfrm>
            <a:off x="914400" y="477774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8. ชื่อเฟส</a:t>
            </a:r>
          </a:p>
        </p:txBody>
      </p:sp>
      <p:sp>
        <p:nvSpPr>
          <p:cNvPr id="40" name="Row 8 Duration"/>
          <p:cNvSpPr>
            <a:spLocks noGrp="1"/>
          </p:cNvSpPr>
          <p:nvPr>
            <p:ph type="body" idx="47"/>
          </p:nvPr>
        </p:nvSpPr>
        <p:spPr>
          <a:xfrm>
            <a:off x="2651760" y="477774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41" name="Key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■ ช่วงงาน   ◆ ส่งมอบ / ตรวจรับ</a:t>
            </a:r>
          </a:p>
        </p:txBody>
      </p:sp>
      <p:sp>
        <p:nvSpPr>
          <p:cNvPr id="42" name="Assumption"/>
          <p:cNvSpPr>
            <a:spLocks noGrp="1"/>
          </p:cNvSpPr>
          <p:nvPr>
            <p:ph type="body" idx="3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นับจากวันลงนามสัญญา</a:t>
            </a:r>
          </a:p>
        </p:txBody>
      </p:sp>
      <p:sp>
        <p:nvSpPr>
          <p:cNvPr id="43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4" name="Takeaway Label"/>
          <p:cNvSpPr>
            <a:spLocks noGrp="1"/>
          </p:cNvSpPr>
          <p:nvPr>
            <p:ph type="body" idx="4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45" name="Takeaway Copy"/>
          <p:cNvSpPr>
            <a:spLocks noGrp="1"/>
          </p:cNvSpPr>
          <p:nvPr>
            <p:ph type="body" idx="5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2 Composi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otal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509016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0.0 ล้านบาท</a:t>
            </a:r>
          </a:p>
        </p:txBody>
      </p:sp>
      <p:sp>
        <p:nvSpPr>
          <p:cNvPr id="13" name="Total Label"/>
          <p:cNvSpPr>
            <a:spLocks noGrp="1"/>
          </p:cNvSpPr>
          <p:nvPr>
            <p:ph type="body" idx="3"/>
          </p:nvPr>
        </p:nvSpPr>
        <p:spPr>
          <a:xfrm>
            <a:off x="914400" y="2423160"/>
            <a:ext cx="509016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ยอดรวมนี้คืออะไร</a:t>
            </a:r>
          </a:p>
        </p:txBody>
      </p:sp>
      <p:sp>
        <p:nvSpPr>
          <p:cNvPr id="14" name="Intro"/>
          <p:cNvSpPr>
            <a:spLocks noGrp="1"/>
          </p:cNvSpPr>
          <p:nvPr>
            <p:ph type="body" idx="4"/>
          </p:nvPr>
        </p:nvSpPr>
        <p:spPr>
          <a:xfrm>
            <a:off x="6187440" y="1691640"/>
            <a:ext cx="5090160" cy="10058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เงื่อนไขของตัวเลข: รวม VAT หรือไม่ ระยะสัญญา</a:t>
            </a:r>
          </a:p>
        </p:txBody>
      </p:sp>
      <p:sp>
        <p:nvSpPr>
          <p:cNvPr id="15" name="Chart Placeholder"/>
          <p:cNvSpPr>
            <a:spLocks noGrp="1"/>
          </p:cNvSpPr>
          <p:nvPr>
            <p:ph type="chart" idx="1"/>
          </p:nvPr>
        </p:nvSpPr>
        <p:spPr>
          <a:xfrm>
            <a:off x="2697480" y="3703320"/>
            <a:ext cx="7299960" cy="1371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6" name="Bar 1 Label"/>
          <p:cNvSpPr>
            <a:spLocks noGrp="1"/>
          </p:cNvSpPr>
          <p:nvPr>
            <p:ph type="body" idx="20"/>
          </p:nvPr>
        </p:nvSpPr>
        <p:spPr>
          <a:xfrm>
            <a:off x="914400" y="3703320"/>
            <a:ext cx="164592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ชื่อแท่ง</a:t>
            </a:r>
          </a:p>
        </p:txBody>
      </p:sp>
      <p:sp>
        <p:nvSpPr>
          <p:cNvPr id="17" name="Bar 1 Total"/>
          <p:cNvSpPr>
            <a:spLocks noGrp="1"/>
          </p:cNvSpPr>
          <p:nvPr>
            <p:ph type="body" idx="21"/>
          </p:nvPr>
        </p:nvSpPr>
        <p:spPr>
          <a:xfrm>
            <a:off x="10180320" y="3703320"/>
            <a:ext cx="109728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ยอดรวม</a:t>
            </a:r>
          </a:p>
        </p:txBody>
      </p:sp>
      <p:sp>
        <p:nvSpPr>
          <p:cNvPr id="18" name="Bar 2 Label"/>
          <p:cNvSpPr>
            <a:spLocks noGrp="1"/>
          </p:cNvSpPr>
          <p:nvPr>
            <p:ph type="body" idx="22"/>
          </p:nvPr>
        </p:nvSpPr>
        <p:spPr>
          <a:xfrm>
            <a:off x="914400" y="4160520"/>
            <a:ext cx="164592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ชื่อแท่ง</a:t>
            </a:r>
          </a:p>
        </p:txBody>
      </p:sp>
      <p:sp>
        <p:nvSpPr>
          <p:cNvPr id="19" name="Bar 2 Total"/>
          <p:cNvSpPr>
            <a:spLocks noGrp="1"/>
          </p:cNvSpPr>
          <p:nvPr>
            <p:ph type="body" idx="23"/>
          </p:nvPr>
        </p:nvSpPr>
        <p:spPr>
          <a:xfrm>
            <a:off x="10180320" y="4160520"/>
            <a:ext cx="109728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ยอดรวม</a:t>
            </a:r>
          </a:p>
        </p:txBody>
      </p:sp>
      <p:sp>
        <p:nvSpPr>
          <p:cNvPr id="20" name="Bar 3 Label"/>
          <p:cNvSpPr>
            <a:spLocks noGrp="1"/>
          </p:cNvSpPr>
          <p:nvPr>
            <p:ph type="body" idx="24"/>
          </p:nvPr>
        </p:nvSpPr>
        <p:spPr>
          <a:xfrm>
            <a:off x="914400" y="4617720"/>
            <a:ext cx="164592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ชื่อแท่ง</a:t>
            </a:r>
          </a:p>
        </p:txBody>
      </p:sp>
      <p:sp>
        <p:nvSpPr>
          <p:cNvPr id="21" name="Bar 3 Total"/>
          <p:cNvSpPr>
            <a:spLocks noGrp="1"/>
          </p:cNvSpPr>
          <p:nvPr>
            <p:ph type="body" idx="25"/>
          </p:nvPr>
        </p:nvSpPr>
        <p:spPr>
          <a:xfrm>
            <a:off x="10180320" y="4617720"/>
            <a:ext cx="109728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ยอดรวม</a:t>
            </a:r>
          </a:p>
        </p:txBody>
      </p:sp>
      <p:sp>
        <p:nvSpPr>
          <p:cNvPr id="22" name="Swatch 1"/>
          <p:cNvSpPr/>
          <p:nvPr/>
        </p:nvSpPr>
        <p:spPr>
          <a:xfrm>
            <a:off x="914400" y="2999740"/>
            <a:ext cx="127000" cy="12700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Segment 1 Name"/>
          <p:cNvSpPr>
            <a:spLocks noGrp="1"/>
          </p:cNvSpPr>
          <p:nvPr>
            <p:ph type="body" idx="26"/>
          </p:nvPr>
        </p:nvSpPr>
        <p:spPr>
          <a:xfrm>
            <a:off x="113284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1</a:t>
            </a:r>
          </a:p>
        </p:txBody>
      </p:sp>
      <p:sp>
        <p:nvSpPr>
          <p:cNvPr id="24" name="Segment 1 Value"/>
          <p:cNvSpPr>
            <a:spLocks noGrp="1"/>
          </p:cNvSpPr>
          <p:nvPr>
            <p:ph type="body" idx="27"/>
          </p:nvPr>
        </p:nvSpPr>
        <p:spPr>
          <a:xfrm>
            <a:off x="91440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25" name="Segment 1 Share"/>
          <p:cNvSpPr>
            <a:spLocks noGrp="1"/>
          </p:cNvSpPr>
          <p:nvPr>
            <p:ph type="body" idx="28"/>
          </p:nvPr>
        </p:nvSpPr>
        <p:spPr>
          <a:xfrm>
            <a:off x="224028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26" name="Swatch 2"/>
          <p:cNvSpPr/>
          <p:nvPr/>
        </p:nvSpPr>
        <p:spPr>
          <a:xfrm>
            <a:off x="3550920" y="2999740"/>
            <a:ext cx="127000" cy="12700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egment 2 Name"/>
          <p:cNvSpPr>
            <a:spLocks noGrp="1"/>
          </p:cNvSpPr>
          <p:nvPr>
            <p:ph type="body" idx="29"/>
          </p:nvPr>
        </p:nvSpPr>
        <p:spPr>
          <a:xfrm>
            <a:off x="376936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2</a:t>
            </a:r>
          </a:p>
        </p:txBody>
      </p:sp>
      <p:sp>
        <p:nvSpPr>
          <p:cNvPr id="28" name="Segment 2 Value"/>
          <p:cNvSpPr>
            <a:spLocks noGrp="1"/>
          </p:cNvSpPr>
          <p:nvPr>
            <p:ph type="body" idx="30"/>
          </p:nvPr>
        </p:nvSpPr>
        <p:spPr>
          <a:xfrm>
            <a:off x="355092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29" name="Segment 2 Share"/>
          <p:cNvSpPr>
            <a:spLocks noGrp="1"/>
          </p:cNvSpPr>
          <p:nvPr>
            <p:ph type="body" idx="31"/>
          </p:nvPr>
        </p:nvSpPr>
        <p:spPr>
          <a:xfrm>
            <a:off x="487680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30" name="Swatch 3"/>
          <p:cNvSpPr/>
          <p:nvPr/>
        </p:nvSpPr>
        <p:spPr>
          <a:xfrm>
            <a:off x="6187440" y="2999740"/>
            <a:ext cx="127000" cy="127000"/>
          </a:xfrm>
          <a:prstGeom prst="rect">
            <a:avLst/>
          </a:prstGeom>
          <a:solidFill>
            <a:srgbClr val="0D929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egment 3 Name"/>
          <p:cNvSpPr>
            <a:spLocks noGrp="1"/>
          </p:cNvSpPr>
          <p:nvPr>
            <p:ph type="body" idx="32"/>
          </p:nvPr>
        </p:nvSpPr>
        <p:spPr>
          <a:xfrm>
            <a:off x="640588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3</a:t>
            </a:r>
          </a:p>
        </p:txBody>
      </p:sp>
      <p:sp>
        <p:nvSpPr>
          <p:cNvPr id="32" name="Segment 3 Value"/>
          <p:cNvSpPr>
            <a:spLocks noGrp="1"/>
          </p:cNvSpPr>
          <p:nvPr>
            <p:ph type="body" idx="33"/>
          </p:nvPr>
        </p:nvSpPr>
        <p:spPr>
          <a:xfrm>
            <a:off x="618744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33" name="Segment 3 Share"/>
          <p:cNvSpPr>
            <a:spLocks noGrp="1"/>
          </p:cNvSpPr>
          <p:nvPr>
            <p:ph type="body" idx="34"/>
          </p:nvPr>
        </p:nvSpPr>
        <p:spPr>
          <a:xfrm>
            <a:off x="751332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34" name="Swatch 4"/>
          <p:cNvSpPr/>
          <p:nvPr/>
        </p:nvSpPr>
        <p:spPr>
          <a:xfrm>
            <a:off x="8823960" y="2999740"/>
            <a:ext cx="127000" cy="127000"/>
          </a:xfrm>
          <a:prstGeom prst="rect">
            <a:avLst/>
          </a:prstGeom>
          <a:solidFill>
            <a:srgbClr val="A4A4A4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5" name="Segment 4 Name"/>
          <p:cNvSpPr>
            <a:spLocks noGrp="1"/>
          </p:cNvSpPr>
          <p:nvPr>
            <p:ph type="body" idx="35"/>
          </p:nvPr>
        </p:nvSpPr>
        <p:spPr>
          <a:xfrm>
            <a:off x="904240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4</a:t>
            </a:r>
          </a:p>
        </p:txBody>
      </p:sp>
      <p:sp>
        <p:nvSpPr>
          <p:cNvPr id="36" name="Segment 4 Value"/>
          <p:cNvSpPr>
            <a:spLocks noGrp="1"/>
          </p:cNvSpPr>
          <p:nvPr>
            <p:ph type="body" idx="36"/>
          </p:nvPr>
        </p:nvSpPr>
        <p:spPr>
          <a:xfrm>
            <a:off x="882396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37" name="Segment 4 Share"/>
          <p:cNvSpPr>
            <a:spLocks noGrp="1"/>
          </p:cNvSpPr>
          <p:nvPr>
            <p:ph type="body" idx="37"/>
          </p:nvPr>
        </p:nvSpPr>
        <p:spPr>
          <a:xfrm>
            <a:off x="1014984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38" name="Source"/>
          <p:cNvSpPr>
            <a:spLocks noGrp="1"/>
          </p:cNvSpPr>
          <p:nvPr>
            <p:ph type="body" idx="5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ที่มาของตัวเลข · ปัดเศษ</a:t>
            </a:r>
          </a:p>
        </p:txBody>
      </p:sp>
      <p:sp>
        <p:nvSpPr>
          <p:cNvPr id="39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0" name="Takeaway Label"/>
          <p:cNvSpPr>
            <a:spLocks noGrp="1"/>
          </p:cNvSpPr>
          <p:nvPr>
            <p:ph type="body" idx="6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41" name="Takeaway Copy"/>
          <p:cNvSpPr>
            <a:spLocks noGrp="1"/>
          </p:cNvSpPr>
          <p:nvPr>
            <p:ph type="body" idx="7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3 KPI + Tre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le 1 Rule"/>
          <p:cNvSpPr/>
          <p:nvPr/>
        </p:nvSpPr>
        <p:spPr>
          <a:xfrm>
            <a:off x="914400" y="1691640"/>
            <a:ext cx="333248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le 1 Label"/>
          <p:cNvSpPr>
            <a:spLocks noGrp="1"/>
          </p:cNvSpPr>
          <p:nvPr>
            <p:ph type="body" idx="20"/>
          </p:nvPr>
        </p:nvSpPr>
        <p:spPr>
          <a:xfrm>
            <a:off x="914400" y="1810512"/>
            <a:ext cx="33324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4" name="Tile 1 Value"/>
          <p:cNvSpPr>
            <a:spLocks noGrp="1"/>
          </p:cNvSpPr>
          <p:nvPr>
            <p:ph type="body" idx="21"/>
          </p:nvPr>
        </p:nvSpPr>
        <p:spPr>
          <a:xfrm>
            <a:off x="914400" y="2084832"/>
            <a:ext cx="3332480" cy="64008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</a:t>
            </a:r>
          </a:p>
        </p:txBody>
      </p:sp>
      <p:sp>
        <p:nvSpPr>
          <p:cNvPr id="15" name="Tile 1 Delta"/>
          <p:cNvSpPr>
            <a:spLocks noGrp="1"/>
          </p:cNvSpPr>
          <p:nvPr>
            <p:ph type="body" idx="22"/>
          </p:nvPr>
        </p:nvSpPr>
        <p:spPr>
          <a:xfrm>
            <a:off x="914400" y="2743200"/>
            <a:ext cx="166624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▲ 0% จาก …</a:t>
            </a:r>
          </a:p>
        </p:txBody>
      </p:sp>
      <p:sp>
        <p:nvSpPr>
          <p:cNvPr id="16" name="Tile 2 Rule"/>
          <p:cNvSpPr/>
          <p:nvPr/>
        </p:nvSpPr>
        <p:spPr>
          <a:xfrm>
            <a:off x="4429760" y="1691640"/>
            <a:ext cx="333248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Tile 2 Label"/>
          <p:cNvSpPr>
            <a:spLocks noGrp="1"/>
          </p:cNvSpPr>
          <p:nvPr>
            <p:ph type="body" idx="23"/>
          </p:nvPr>
        </p:nvSpPr>
        <p:spPr>
          <a:xfrm>
            <a:off x="4429760" y="1810512"/>
            <a:ext cx="33324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8" name="Tile 2 Value"/>
          <p:cNvSpPr>
            <a:spLocks noGrp="1"/>
          </p:cNvSpPr>
          <p:nvPr>
            <p:ph type="body" idx="24"/>
          </p:nvPr>
        </p:nvSpPr>
        <p:spPr>
          <a:xfrm>
            <a:off x="4429760" y="2084832"/>
            <a:ext cx="3332480" cy="64008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</a:t>
            </a:r>
          </a:p>
        </p:txBody>
      </p:sp>
      <p:sp>
        <p:nvSpPr>
          <p:cNvPr id="19" name="Tile 2 Delta"/>
          <p:cNvSpPr>
            <a:spLocks noGrp="1"/>
          </p:cNvSpPr>
          <p:nvPr>
            <p:ph type="body" idx="25"/>
          </p:nvPr>
        </p:nvSpPr>
        <p:spPr>
          <a:xfrm>
            <a:off x="4429760" y="2743200"/>
            <a:ext cx="166624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▲ 0% จาก …</a:t>
            </a:r>
          </a:p>
        </p:txBody>
      </p:sp>
      <p:sp>
        <p:nvSpPr>
          <p:cNvPr id="20" name="Tile 3 Rule"/>
          <p:cNvSpPr/>
          <p:nvPr/>
        </p:nvSpPr>
        <p:spPr>
          <a:xfrm>
            <a:off x="7945120" y="1691640"/>
            <a:ext cx="333248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Tile 3 Label"/>
          <p:cNvSpPr>
            <a:spLocks noGrp="1"/>
          </p:cNvSpPr>
          <p:nvPr>
            <p:ph type="body" idx="26"/>
          </p:nvPr>
        </p:nvSpPr>
        <p:spPr>
          <a:xfrm>
            <a:off x="7945120" y="1810512"/>
            <a:ext cx="33324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22" name="Tile 3 Value"/>
          <p:cNvSpPr>
            <a:spLocks noGrp="1"/>
          </p:cNvSpPr>
          <p:nvPr>
            <p:ph type="body" idx="27"/>
          </p:nvPr>
        </p:nvSpPr>
        <p:spPr>
          <a:xfrm>
            <a:off x="7945120" y="2084832"/>
            <a:ext cx="3332480" cy="64008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</a:t>
            </a:r>
          </a:p>
        </p:txBody>
      </p:sp>
      <p:sp>
        <p:nvSpPr>
          <p:cNvPr id="23" name="Tile 3 Delta"/>
          <p:cNvSpPr>
            <a:spLocks noGrp="1"/>
          </p:cNvSpPr>
          <p:nvPr>
            <p:ph type="body" idx="28"/>
          </p:nvPr>
        </p:nvSpPr>
        <p:spPr>
          <a:xfrm>
            <a:off x="7945120" y="2743200"/>
            <a:ext cx="166624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▲ 0% จาก …</a:t>
            </a:r>
          </a:p>
        </p:txBody>
      </p:sp>
      <p:sp>
        <p:nvSpPr>
          <p:cNvPr id="24" name="Chart Placeholder"/>
          <p:cNvSpPr>
            <a:spLocks noGrp="1"/>
          </p:cNvSpPr>
          <p:nvPr>
            <p:ph type="chart" idx="1"/>
          </p:nvPr>
        </p:nvSpPr>
        <p:spPr>
          <a:xfrm>
            <a:off x="914400" y="3291840"/>
            <a:ext cx="10363200" cy="18745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25" name="Source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</a:t>
            </a:r>
          </a:p>
        </p:txBody>
      </p:sp>
      <p:sp>
        <p:nvSpPr>
          <p:cNvPr id="26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8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4 Before Af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64008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หน่วย · ทิศที่ดี (น้อยกว่าดีกว่า)</a:t>
            </a:r>
          </a:p>
        </p:txBody>
      </p:sp>
      <p:sp>
        <p:nvSpPr>
          <p:cNvPr id="13" name="Legend"/>
          <p:cNvSpPr>
            <a:spLocks noGrp="1"/>
          </p:cNvSpPr>
          <p:nvPr>
            <p:ph type="body" idx="3"/>
          </p:nvPr>
        </p:nvSpPr>
        <p:spPr>
          <a:xfrm>
            <a:off x="7620000" y="169164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● ก่อน   ● หลัง</a:t>
            </a:r>
          </a:p>
        </p:txBody>
      </p:sp>
      <p:sp>
        <p:nvSpPr>
          <p:cNvPr id="14" name="Chart Placeholder"/>
          <p:cNvSpPr>
            <a:spLocks noGrp="1"/>
          </p:cNvSpPr>
          <p:nvPr>
            <p:ph type="chart" idx="1"/>
          </p:nvPr>
        </p:nvSpPr>
        <p:spPr>
          <a:xfrm>
            <a:off x="3840480" y="2057400"/>
            <a:ext cx="5791200" cy="3072384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5" name="Row 1 Label"/>
          <p:cNvSpPr>
            <a:spLocks noGrp="1"/>
          </p:cNvSpPr>
          <p:nvPr>
            <p:ph type="body" idx="20"/>
          </p:nvPr>
        </p:nvSpPr>
        <p:spPr>
          <a:xfrm>
            <a:off x="914400" y="2377440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16" name="Row 1 Change"/>
          <p:cNvSpPr>
            <a:spLocks noGrp="1"/>
          </p:cNvSpPr>
          <p:nvPr>
            <p:ph type="body" idx="21"/>
          </p:nvPr>
        </p:nvSpPr>
        <p:spPr>
          <a:xfrm>
            <a:off x="9814560" y="2377440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17" name="Row 2 Label"/>
          <p:cNvSpPr>
            <a:spLocks noGrp="1"/>
          </p:cNvSpPr>
          <p:nvPr>
            <p:ph type="body" idx="22"/>
          </p:nvPr>
        </p:nvSpPr>
        <p:spPr>
          <a:xfrm>
            <a:off x="914400" y="2770632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18" name="Row 2 Change"/>
          <p:cNvSpPr>
            <a:spLocks noGrp="1"/>
          </p:cNvSpPr>
          <p:nvPr>
            <p:ph type="body" idx="23"/>
          </p:nvPr>
        </p:nvSpPr>
        <p:spPr>
          <a:xfrm>
            <a:off x="9814560" y="2770632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19" name="Row 3 Label"/>
          <p:cNvSpPr>
            <a:spLocks noGrp="1"/>
          </p:cNvSpPr>
          <p:nvPr>
            <p:ph type="body" idx="24"/>
          </p:nvPr>
        </p:nvSpPr>
        <p:spPr>
          <a:xfrm>
            <a:off x="914400" y="3163824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0" name="Row 3 Change"/>
          <p:cNvSpPr>
            <a:spLocks noGrp="1"/>
          </p:cNvSpPr>
          <p:nvPr>
            <p:ph type="body" idx="25"/>
          </p:nvPr>
        </p:nvSpPr>
        <p:spPr>
          <a:xfrm>
            <a:off x="9814560" y="3163824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1" name="Row 4 Label"/>
          <p:cNvSpPr>
            <a:spLocks noGrp="1"/>
          </p:cNvSpPr>
          <p:nvPr>
            <p:ph type="body" idx="26"/>
          </p:nvPr>
        </p:nvSpPr>
        <p:spPr>
          <a:xfrm>
            <a:off x="914400" y="3557016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2" name="Row 4 Change"/>
          <p:cNvSpPr>
            <a:spLocks noGrp="1"/>
          </p:cNvSpPr>
          <p:nvPr>
            <p:ph type="body" idx="27"/>
          </p:nvPr>
        </p:nvSpPr>
        <p:spPr>
          <a:xfrm>
            <a:off x="9814560" y="3557016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3" name="Row 5 Label"/>
          <p:cNvSpPr>
            <a:spLocks noGrp="1"/>
          </p:cNvSpPr>
          <p:nvPr>
            <p:ph type="body" idx="28"/>
          </p:nvPr>
        </p:nvSpPr>
        <p:spPr>
          <a:xfrm>
            <a:off x="914400" y="3950208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4" name="Row 5 Change"/>
          <p:cNvSpPr>
            <a:spLocks noGrp="1"/>
          </p:cNvSpPr>
          <p:nvPr>
            <p:ph type="body" idx="29"/>
          </p:nvPr>
        </p:nvSpPr>
        <p:spPr>
          <a:xfrm>
            <a:off x="9814560" y="3950208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5" name="Row 6 Label"/>
          <p:cNvSpPr>
            <a:spLocks noGrp="1"/>
          </p:cNvSpPr>
          <p:nvPr>
            <p:ph type="body" idx="30"/>
          </p:nvPr>
        </p:nvSpPr>
        <p:spPr>
          <a:xfrm>
            <a:off x="914400" y="4343400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6" name="Row 6 Change"/>
          <p:cNvSpPr>
            <a:spLocks noGrp="1"/>
          </p:cNvSpPr>
          <p:nvPr>
            <p:ph type="body" idx="31"/>
          </p:nvPr>
        </p:nvSpPr>
        <p:spPr>
          <a:xfrm>
            <a:off x="9814560" y="4343400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7" name="Row 7 Label"/>
          <p:cNvSpPr>
            <a:spLocks noGrp="1"/>
          </p:cNvSpPr>
          <p:nvPr>
            <p:ph type="body" idx="32"/>
          </p:nvPr>
        </p:nvSpPr>
        <p:spPr>
          <a:xfrm>
            <a:off x="914400" y="4736592"/>
            <a:ext cx="274320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รายการ</a:t>
            </a:r>
          </a:p>
        </p:txBody>
      </p:sp>
      <p:sp>
        <p:nvSpPr>
          <p:cNvPr id="28" name="Row 7 Change"/>
          <p:cNvSpPr>
            <a:spLocks noGrp="1"/>
          </p:cNvSpPr>
          <p:nvPr>
            <p:ph type="body" idx="33"/>
          </p:nvPr>
        </p:nvSpPr>
        <p:spPr>
          <a:xfrm>
            <a:off x="9814560" y="4736592"/>
            <a:ext cx="1463040" cy="393192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−0</a:t>
            </a:r>
          </a:p>
        </p:txBody>
      </p:sp>
      <p:sp>
        <p:nvSpPr>
          <p:cNvPr id="29" name="Source"/>
          <p:cNvSpPr>
            <a:spLocks noGrp="1"/>
          </p:cNvSpPr>
          <p:nvPr>
            <p:ph type="body" idx="4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ที่มาของตัวเลข · ตัวเลขเต็มอยู่ภาคผนวก</a:t>
            </a:r>
          </a:p>
        </p:txBody>
      </p:sp>
      <p:sp>
        <p:nvSpPr>
          <p:cNvPr id="30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Takeaway Label"/>
          <p:cNvSpPr>
            <a:spLocks noGrp="1"/>
          </p:cNvSpPr>
          <p:nvPr>
            <p:ph type="body" idx="5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2" name="Takeaway Copy"/>
          <p:cNvSpPr>
            <a:spLocks noGrp="1"/>
          </p:cNvSpPr>
          <p:nvPr>
            <p:ph type="body" idx="6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25 Project Team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ad Card"/>
          <p:cNvSpPr/>
          <p:nvPr/>
        </p:nvSpPr>
        <p:spPr>
          <a:xfrm>
            <a:off x="3550920" y="1691640"/>
            <a:ext cx="5090160" cy="105156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Lead Role"/>
          <p:cNvSpPr>
            <a:spLocks noGrp="1"/>
          </p:cNvSpPr>
          <p:nvPr>
            <p:ph type="body" idx="20"/>
          </p:nvPr>
        </p:nvSpPr>
        <p:spPr>
          <a:xfrm>
            <a:off x="3733800" y="1828800"/>
            <a:ext cx="219456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บทบาท</a:t>
            </a:r>
          </a:p>
        </p:txBody>
      </p:sp>
      <p:sp>
        <p:nvSpPr>
          <p:cNvPr id="14" name="Lead Name"/>
          <p:cNvSpPr>
            <a:spLocks noGrp="1"/>
          </p:cNvSpPr>
          <p:nvPr>
            <p:ph type="body" idx="21"/>
          </p:nvPr>
        </p:nvSpPr>
        <p:spPr>
          <a:xfrm>
            <a:off x="3733800" y="2112264"/>
            <a:ext cx="2194560" cy="338328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ชื่อหัวหน้าโครงการ</a:t>
            </a:r>
          </a:p>
        </p:txBody>
      </p:sp>
      <p:sp>
        <p:nvSpPr>
          <p:cNvPr id="15" name="Lead Credential"/>
          <p:cNvSpPr>
            <a:spLocks noGrp="1"/>
          </p:cNvSpPr>
          <p:nvPr>
            <p:ph type="body" idx="22"/>
          </p:nvPr>
        </p:nvSpPr>
        <p:spPr>
          <a:xfrm>
            <a:off x="3733800" y="2478024"/>
            <a:ext cx="219456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ประสบการณ์ · วุฒิบัตร</a:t>
            </a:r>
          </a:p>
        </p:txBody>
      </p:sp>
      <p:sp>
        <p:nvSpPr>
          <p:cNvPr id="16" name="Lead Duties"/>
          <p:cNvSpPr>
            <a:spLocks noGrp="1"/>
          </p:cNvSpPr>
          <p:nvPr>
            <p:ph type="body" idx="23"/>
          </p:nvPr>
        </p:nvSpPr>
        <p:spPr>
          <a:xfrm>
            <a:off x="6111240" y="1828800"/>
            <a:ext cx="2346960" cy="7772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</p:txBody>
      </p:sp>
      <p:sp>
        <p:nvSpPr>
          <p:cNvPr id="17" name="Stem"/>
          <p:cNvSpPr/>
          <p:nvPr/>
        </p:nvSpPr>
        <p:spPr>
          <a:xfrm>
            <a:off x="6089650" y="2743200"/>
            <a:ext cx="12700" cy="1600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Bar"/>
          <p:cNvSpPr/>
          <p:nvPr/>
        </p:nvSpPr>
        <p:spPr>
          <a:xfrm>
            <a:off x="2134870" y="2903220"/>
            <a:ext cx="7922260" cy="1270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Drop 1"/>
          <p:cNvSpPr/>
          <p:nvPr/>
        </p:nvSpPr>
        <p:spPr>
          <a:xfrm>
            <a:off x="2134870" y="2903220"/>
            <a:ext cx="12700" cy="1600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Card 1"/>
          <p:cNvSpPr/>
          <p:nvPr/>
        </p:nvSpPr>
        <p:spPr>
          <a:xfrm>
            <a:off x="914400" y="3063240"/>
            <a:ext cx="2453640" cy="21031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1 Role"/>
          <p:cNvSpPr>
            <a:spLocks noGrp="1"/>
          </p:cNvSpPr>
          <p:nvPr>
            <p:ph type="body" idx="24"/>
          </p:nvPr>
        </p:nvSpPr>
        <p:spPr>
          <a:xfrm>
            <a:off x="1097280" y="3246120"/>
            <a:ext cx="20878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บทบาท</a:t>
            </a:r>
          </a:p>
        </p:txBody>
      </p:sp>
      <p:sp>
        <p:nvSpPr>
          <p:cNvPr id="22" name="Card 1 Name"/>
          <p:cNvSpPr>
            <a:spLocks noGrp="1"/>
          </p:cNvSpPr>
          <p:nvPr>
            <p:ph type="body" idx="25"/>
          </p:nvPr>
        </p:nvSpPr>
        <p:spPr>
          <a:xfrm>
            <a:off x="1097280" y="3529584"/>
            <a:ext cx="2087880" cy="338328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ชื่อผู้รับผิดชอบ</a:t>
            </a:r>
          </a:p>
        </p:txBody>
      </p:sp>
      <p:sp>
        <p:nvSpPr>
          <p:cNvPr id="23" name="Card 1 Credential"/>
          <p:cNvSpPr>
            <a:spLocks noGrp="1"/>
          </p:cNvSpPr>
          <p:nvPr>
            <p:ph type="body" idx="26"/>
          </p:nvPr>
        </p:nvSpPr>
        <p:spPr>
          <a:xfrm>
            <a:off x="1097280" y="3895344"/>
            <a:ext cx="208788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ประสบการณ์ · วุฒิบัตร</a:t>
            </a:r>
          </a:p>
        </p:txBody>
      </p:sp>
      <p:sp>
        <p:nvSpPr>
          <p:cNvPr id="24" name="Card 1 Duties"/>
          <p:cNvSpPr>
            <a:spLocks noGrp="1"/>
          </p:cNvSpPr>
          <p:nvPr>
            <p:ph type="body" idx="27"/>
          </p:nvPr>
        </p:nvSpPr>
        <p:spPr>
          <a:xfrm>
            <a:off x="1097280" y="4251960"/>
            <a:ext cx="20878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</p:txBody>
      </p:sp>
      <p:sp>
        <p:nvSpPr>
          <p:cNvPr id="25" name="Drop 2"/>
          <p:cNvSpPr/>
          <p:nvPr/>
        </p:nvSpPr>
        <p:spPr>
          <a:xfrm>
            <a:off x="4771390" y="2903220"/>
            <a:ext cx="12700" cy="1600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Card 2"/>
          <p:cNvSpPr/>
          <p:nvPr/>
        </p:nvSpPr>
        <p:spPr>
          <a:xfrm>
            <a:off x="3550920" y="3063240"/>
            <a:ext cx="2453640" cy="21031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Card 2 Role"/>
          <p:cNvSpPr>
            <a:spLocks noGrp="1"/>
          </p:cNvSpPr>
          <p:nvPr>
            <p:ph type="body" idx="28"/>
          </p:nvPr>
        </p:nvSpPr>
        <p:spPr>
          <a:xfrm>
            <a:off x="3733800" y="3246120"/>
            <a:ext cx="20878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บทบาท</a:t>
            </a:r>
          </a:p>
        </p:txBody>
      </p:sp>
      <p:sp>
        <p:nvSpPr>
          <p:cNvPr id="28" name="Card 2 Name"/>
          <p:cNvSpPr>
            <a:spLocks noGrp="1"/>
          </p:cNvSpPr>
          <p:nvPr>
            <p:ph type="body" idx="29"/>
          </p:nvPr>
        </p:nvSpPr>
        <p:spPr>
          <a:xfrm>
            <a:off x="3733800" y="3529584"/>
            <a:ext cx="2087880" cy="338328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ชื่อผู้รับผิดชอบ</a:t>
            </a:r>
          </a:p>
        </p:txBody>
      </p:sp>
      <p:sp>
        <p:nvSpPr>
          <p:cNvPr id="29" name="Card 2 Credential"/>
          <p:cNvSpPr>
            <a:spLocks noGrp="1"/>
          </p:cNvSpPr>
          <p:nvPr>
            <p:ph type="body" idx="30"/>
          </p:nvPr>
        </p:nvSpPr>
        <p:spPr>
          <a:xfrm>
            <a:off x="3733800" y="3895344"/>
            <a:ext cx="208788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ประสบการณ์ · วุฒิบัตร</a:t>
            </a:r>
          </a:p>
        </p:txBody>
      </p:sp>
      <p:sp>
        <p:nvSpPr>
          <p:cNvPr id="30" name="Card 2 Duties"/>
          <p:cNvSpPr>
            <a:spLocks noGrp="1"/>
          </p:cNvSpPr>
          <p:nvPr>
            <p:ph type="body" idx="31"/>
          </p:nvPr>
        </p:nvSpPr>
        <p:spPr>
          <a:xfrm>
            <a:off x="3733800" y="4251960"/>
            <a:ext cx="20878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</p:txBody>
      </p:sp>
      <p:sp>
        <p:nvSpPr>
          <p:cNvPr id="31" name="Drop 3"/>
          <p:cNvSpPr/>
          <p:nvPr/>
        </p:nvSpPr>
        <p:spPr>
          <a:xfrm>
            <a:off x="7407910" y="2903220"/>
            <a:ext cx="12700" cy="1600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Card 3"/>
          <p:cNvSpPr/>
          <p:nvPr/>
        </p:nvSpPr>
        <p:spPr>
          <a:xfrm>
            <a:off x="6187440" y="3063240"/>
            <a:ext cx="2453640" cy="21031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Card 3 Role"/>
          <p:cNvSpPr>
            <a:spLocks noGrp="1"/>
          </p:cNvSpPr>
          <p:nvPr>
            <p:ph type="body" idx="32"/>
          </p:nvPr>
        </p:nvSpPr>
        <p:spPr>
          <a:xfrm>
            <a:off x="6370320" y="3246120"/>
            <a:ext cx="20878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บทบาท</a:t>
            </a:r>
          </a:p>
        </p:txBody>
      </p:sp>
      <p:sp>
        <p:nvSpPr>
          <p:cNvPr id="34" name="Card 3 Name"/>
          <p:cNvSpPr>
            <a:spLocks noGrp="1"/>
          </p:cNvSpPr>
          <p:nvPr>
            <p:ph type="body" idx="33"/>
          </p:nvPr>
        </p:nvSpPr>
        <p:spPr>
          <a:xfrm>
            <a:off x="6370320" y="3529584"/>
            <a:ext cx="2087880" cy="338328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ชื่อผู้รับผิดชอบ</a:t>
            </a:r>
          </a:p>
        </p:txBody>
      </p:sp>
      <p:sp>
        <p:nvSpPr>
          <p:cNvPr id="35" name="Card 3 Credential"/>
          <p:cNvSpPr>
            <a:spLocks noGrp="1"/>
          </p:cNvSpPr>
          <p:nvPr>
            <p:ph type="body" idx="34"/>
          </p:nvPr>
        </p:nvSpPr>
        <p:spPr>
          <a:xfrm>
            <a:off x="6370320" y="3895344"/>
            <a:ext cx="208788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ประสบการณ์ · วุฒิบัตร</a:t>
            </a:r>
          </a:p>
        </p:txBody>
      </p:sp>
      <p:sp>
        <p:nvSpPr>
          <p:cNvPr id="36" name="Card 3 Duties"/>
          <p:cNvSpPr>
            <a:spLocks noGrp="1"/>
          </p:cNvSpPr>
          <p:nvPr>
            <p:ph type="body" idx="35"/>
          </p:nvPr>
        </p:nvSpPr>
        <p:spPr>
          <a:xfrm>
            <a:off x="6370320" y="4251960"/>
            <a:ext cx="20878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</p:txBody>
      </p:sp>
      <p:sp>
        <p:nvSpPr>
          <p:cNvPr id="37" name="Drop 4"/>
          <p:cNvSpPr/>
          <p:nvPr/>
        </p:nvSpPr>
        <p:spPr>
          <a:xfrm>
            <a:off x="10044430" y="2903220"/>
            <a:ext cx="12700" cy="1600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Card 4"/>
          <p:cNvSpPr/>
          <p:nvPr/>
        </p:nvSpPr>
        <p:spPr>
          <a:xfrm>
            <a:off x="8823960" y="3063240"/>
            <a:ext cx="2453640" cy="21031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Card 4 Role"/>
          <p:cNvSpPr>
            <a:spLocks noGrp="1"/>
          </p:cNvSpPr>
          <p:nvPr>
            <p:ph type="body" idx="36"/>
          </p:nvPr>
        </p:nvSpPr>
        <p:spPr>
          <a:xfrm>
            <a:off x="9006840" y="3246120"/>
            <a:ext cx="208788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บทบาท</a:t>
            </a:r>
          </a:p>
        </p:txBody>
      </p:sp>
      <p:sp>
        <p:nvSpPr>
          <p:cNvPr id="40" name="Card 4 Name"/>
          <p:cNvSpPr>
            <a:spLocks noGrp="1"/>
          </p:cNvSpPr>
          <p:nvPr>
            <p:ph type="body" idx="37"/>
          </p:nvPr>
        </p:nvSpPr>
        <p:spPr>
          <a:xfrm>
            <a:off x="9006840" y="3529584"/>
            <a:ext cx="2087880" cy="338328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ชื่อผู้รับผิดชอบ</a:t>
            </a:r>
          </a:p>
        </p:txBody>
      </p:sp>
      <p:sp>
        <p:nvSpPr>
          <p:cNvPr id="41" name="Card 4 Credential"/>
          <p:cNvSpPr>
            <a:spLocks noGrp="1"/>
          </p:cNvSpPr>
          <p:nvPr>
            <p:ph type="body" idx="38"/>
          </p:nvPr>
        </p:nvSpPr>
        <p:spPr>
          <a:xfrm>
            <a:off x="9006840" y="3895344"/>
            <a:ext cx="208788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ประสบการณ์ · วุฒิบัตร</a:t>
            </a:r>
          </a:p>
        </p:txBody>
      </p:sp>
      <p:sp>
        <p:nvSpPr>
          <p:cNvPr id="42" name="Card 4 Duties"/>
          <p:cNvSpPr>
            <a:spLocks noGrp="1"/>
          </p:cNvSpPr>
          <p:nvPr>
            <p:ph type="body" idx="39"/>
          </p:nvPr>
        </p:nvSpPr>
        <p:spPr>
          <a:xfrm>
            <a:off x="9006840" y="4251960"/>
            <a:ext cx="20878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หน้าที่หลัก</a:t>
            </a:r>
          </a:p>
        </p:txBody>
      </p:sp>
      <p:sp>
        <p:nvSpPr>
          <p:cNvPr id="43" name="Note"/>
          <p:cNvSpPr>
            <a:spLocks noGrp="1"/>
          </p:cNvSpPr>
          <p:nvPr>
            <p:ph type="body" idx="1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จำนวนคนรวม · ประวัติเต็มอยู่ภาคผนวก</a:t>
            </a:r>
          </a:p>
        </p:txBody>
      </p:sp>
      <p:sp>
        <p:nvSpPr>
          <p:cNvPr id="44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5" name="Takeaway Label"/>
          <p:cNvSpPr>
            <a:spLocks noGrp="1"/>
          </p:cNvSpPr>
          <p:nvPr>
            <p:ph type="body" idx="2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46" name="Takeaway Copy"/>
          <p:cNvSpPr>
            <a:spLocks noGrp="1"/>
          </p:cNvSpPr>
          <p:nvPr>
            <p:ph type="body" idx="3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theme" Target="../theme/theme1.xml"/><Relationship Id="rId27" Type="http://schemas.openxmlformats.org/officeDocument/2006/relationships/image" Target="../media/mark-color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NCT 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แก้ไขรูปแบบชื่อเรื่องต้นแบบ</a:t>
            </a:r>
          </a:p>
        </p:txBody>
      </p:sp>
      <p:sp>
        <p:nvSpPr>
          <p:cNvPr id="3" name="Title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" name="Tex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แก้ไขรูปแบบข้อความต้นแบบ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txStyles>
    <p:titleStyle>
      <a:lvl1pPr algn="l" marL="0" indent="0">
        <a:lnSpc>
          <a:spcPct val="108000"/>
        </a:lnSpc>
        <a:buNone/>
        <a:defRPr lang="th-TH" sz="3200" b="1" dirty="0">
          <a:solidFill>
            <a:srgbClr val="23436D"/>
          </a:solidFill>
          <a:latin typeface="+mj-lt"/>
          <a:ea typeface="+mj-ea"/>
          <a:cs typeface="+mj-cs"/>
        </a:defRPr>
      </a:lvl1pPr>
    </p:titleStyle>
    <p:bodyStyle>
      <a:lvl1pPr algn="l" marL="228600" indent="-228600">
        <a:lnSpc>
          <a:spcPct val="124000"/>
        </a:lnSpc>
        <a:spcBef>
          <a:spcPts val="1000"/>
        </a:spcBef>
        <a:buClr>
          <a:srgbClr val="216B7F"/>
        </a:buClr>
        <a:buSzPct val="90000"/>
        <a:buFont typeface="Arial"/>
        <a:buChar char="•"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  <a:lvl2pPr algn="l" marL="685800" indent="-228600">
        <a:lnSpc>
          <a:spcPct val="124000"/>
        </a:lnSpc>
        <a:spcBef>
          <a:spcPts val="700"/>
        </a:spcBef>
        <a:buClr>
          <a:srgbClr val="5F5F5F"/>
        </a:buClr>
        <a:buSzPct val="90000"/>
        <a:buFont typeface="Arial"/>
        <a:buChar char="–"/>
        <a:defRPr lang="th-TH" sz="1600" dirty="0">
          <a:solidFill>
            <a:srgbClr val="333333"/>
          </a:solidFill>
          <a:latin typeface="+mn-lt"/>
          <a:ea typeface="+mn-ea"/>
          <a:cs typeface="+mn-cs"/>
        </a:defRPr>
      </a:lvl2pPr>
      <a:lvl3pPr algn="l" marL="1143000" indent="-228600">
        <a:lnSpc>
          <a:spcPct val="124000"/>
        </a:lnSpc>
        <a:spcBef>
          <a:spcPts val="5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3pPr>
      <a:lvl4pPr algn="l" marL="16002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4pPr>
      <a:lvl5pPr algn="l" marL="20574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5pPr>
    </p:bodyStyle>
    <p:otherStyle>
      <a:lvl1pPr algn="l" marL="0" indent="0">
        <a:lnSpc>
          <a:spcPct val="100000"/>
        </a:lnSpc>
        <a:buNone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chart" Target="../charts/char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chart" Target="../charts/chart2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chart" Target="../charts/chart3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chart" Target="../charts/chart4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chart" Target="../charts/chart5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ข้อเสนอโครงการวางระบบบัญชีอัตโนมัติ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New Computer Technology Consulting Co., Ltd. ·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เปลี่ยนงานบัญชีให้ระบบทำแทน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NCT · สัมมนาลูกค้า 2569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00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หัวข้อนำเสนอ</a:t>
            </a:r>
          </a:p>
        </p:txBody>
      </p:sp>
      <p:sp>
        <p:nvSpPr>
          <p:cNvPr id="4" name="Lis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บริบทและปัญหาที่พบ</a:t>
            </a:r>
          </a:p>
          <a:p>
            <a:pPr/>
            <a:r>
              <a:rPr lang="th-TH" dirty="0"/>
              <a:t>ผลลัพธ์ที่ข้อเสนอนี้ให้</a:t>
            </a:r>
          </a:p>
          <a:p>
            <a:pPr/>
            <a:r>
              <a:rPr lang="th-TH" dirty="0"/>
              <a:t>วิธีการทำงานและสถาปัตยกรรม</a:t>
            </a:r>
          </a:p>
          <a:p>
            <a:pPr/>
            <a:r>
              <a:rPr lang="th-TH" dirty="0"/>
              <a:t>ขอบเขตงานรายกระบวนการ</a:t>
            </a:r>
          </a:p>
          <a:p>
            <a:pPr/>
            <a:r>
              <a:rPr lang="th-TH" dirty="0"/>
              <a:t>ทีมงานและประสบการณ์</a:t>
            </a:r>
          </a:p>
          <a:p>
            <a:pPr/>
            <a:r>
              <a:rPr lang="th-TH" dirty="0"/>
              <a:t>แพ็กเกจและงบประมาณ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</a:t>
            </a:r>
          </a:p>
        </p:txBody>
      </p:sp>
      <p:sp>
        <p:nvSpPr>
          <p:cNvPr id="4" name="Des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สิ่งที่เราพบจากการสำรวจงานบัญชีของท่านสองสัปดาห์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สภาพระบบบัญชีปัจจุบัน</a:t>
            </a:r>
          </a:p>
        </p:txBody>
      </p:sp>
      <p:sp>
        <p:nvSpPr>
          <p:cNvPr id="3" name="Ctx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สภาพปัจจุบัน</a:t>
            </a:r>
          </a:p>
        </p:txBody>
      </p:sp>
      <p:sp>
        <p:nvSpPr>
          <p:cNvPr id="4" name="Ctx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คีย์เอกสารซ้ำสามระบบ ไม่มีจุดตรวจกลาง</a:t>
            </a:r>
          </a:p>
          <a:p>
            <a:pPr lvl="1"/>
            <a:r>
              <a:rPr lang="th-TH" dirty="0"/>
              <a:t>เอกสารเข้าเฉลี่ย 1,200 ใบต่อเดือน</a:t>
            </a:r>
          </a:p>
          <a:p>
            <a:pPr/>
            <a:r>
              <a:rPr lang="th-TH" dirty="0"/>
              <a:t>ปิดงบล่าช้าเฉลี่ย 6 วันทำการ</a:t>
            </a:r>
          </a:p>
          <a:p>
            <a:pPr/>
            <a:r>
              <a:rPr lang="th-TH" dirty="0"/>
              <a:t>ไม่มี audit trail ของการแก้ไขรายการ</a:t>
            </a:r>
          </a:p>
        </p:txBody>
      </p:sp>
      <p:sp>
        <p:nvSpPr>
          <p:cNvPr id="5" name="OutK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สิ่งที่จะเกิดขึ้น</a:t>
            </a:r>
          </a:p>
        </p:txBody>
      </p:sp>
      <p:sp>
        <p:nvSpPr>
          <p:cNvPr id="6" name="Out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คีย์จุดเดียว ระบบกระจายต่อให้อัตโนมัติ</a:t>
            </a:r>
          </a:p>
          <a:p>
            <a:pPr lvl="1"/>
            <a:r>
              <a:rPr lang="th-TH" dirty="0"/>
              <a:t>ลดเวลาคีย์ต่อใบจาก 4 นาที เหลือ 40 วินาที</a:t>
            </a:r>
          </a:p>
          <a:p>
            <a:pPr/>
            <a:r>
              <a:rPr lang="th-TH" dirty="0"/>
              <a:t>ปิดงบภายใน 2 วันทำการ</a:t>
            </a:r>
          </a:p>
          <a:p>
            <a:pPr/>
            <a:r>
              <a:rPr lang="th-TH" dirty="0"/>
              <a:t>บันทึกทุกการแก้ไขพร้อมผู้ทำและเวลา</a:t>
            </a:r>
          </a:p>
        </p:txBody>
      </p:sp>
      <p:sp>
        <p:nvSpPr>
          <p:cNvPr id="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ปัญหาหลักคือการคีย์ซ้ำ ไม่ใช่จำนวนเอกสาร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ปิดงบ พ.ค. ใช้ 9 วัน นานสุดในรอบครึ่งปี</a:t>
            </a:r>
          </a:p>
        </p:txBody>
      </p:sp>
      <p:graphicFrame>
        <p:nvGraphicFramePr>
          <p:cNvPr id="3" name="Close Days"/>
          <p:cNvGraphicFramePr>
            <a:graphicFrameLocks noGrp="1"/>
          </p:cNvGraphicFramePr>
          <p:nvPr>
            <p:ph type="chart" idx="1"/>
          </p:nvPr>
        </p:nvGraphicFramePr>
        <p:xfrm>
          <a:off x="914400" y="1691640"/>
          <a:ext cx="684784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Fi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9 วัน</a:t>
            </a:r>
          </a:p>
        </p:txBody>
      </p:sp>
      <p:sp>
        <p:nvSpPr>
          <p:cNvPr id="5" name="Fig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เวลาปิดงบ พ.ค. 2569 · เป้าหมาย 2 วัน</a:t>
            </a:r>
          </a:p>
        </p:txBody>
      </p:sp>
      <p:sp>
        <p:nvSpPr>
          <p:cNvPr id="6" name="Ins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เดือนที่เอกสารเข้ามากสุด คือเดือนที่ปิดงบนานสุด</a:t>
            </a:r>
          </a:p>
          <a:p>
            <a:pPr/>
            <a:r>
              <a:rPr lang="th-TH" dirty="0"/>
              <a:t>ทุกเดือนเกินเป้าอย่างน้อยสามเท่า</a:t>
            </a:r>
          </a:p>
          <a:p>
            <a:pPr/>
            <a:r>
              <a:rPr lang="th-TH" dirty="0"/>
              <a:t>ความล่าช้าเกิดที่ขั้นกระทบยอด ไม่ใช่ขั้นคีย์</a:t>
            </a:r>
          </a:p>
        </p:txBody>
      </p:sp>
      <p:sp>
        <p:nvSpPr>
          <p:cNvPr id="7" name="Sr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ระบบบัญชีของลูกค้า · ม.ค.–มิ.ย. 2569 · หน่วย: วันทำการ</a:t>
            </a:r>
          </a:p>
        </p:txBody>
      </p:sp>
      <p:sp>
        <p:nvSpPr>
          <p:cNvPr id="8" name="Tk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9" name="TkC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เวลาปิดงบแปรตามปริมาณเอกสาร การลดงานคีย์ซ้ำจึงลดเวลาปิดงบได้จริง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เอกสารเกินกำลังคีย์ 1,200 ใบครั้งแรกเดือน พ.ค.</a:t>
            </a:r>
          </a:p>
        </p:txBody>
      </p:sp>
      <p:sp>
        <p:nvSpPr>
          <p:cNvPr id="3" name="TL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เอกสารเข้า มิ.ย.</a:t>
            </a:r>
          </a:p>
        </p:txBody>
      </p:sp>
      <p:sp>
        <p:nvSpPr>
          <p:cNvPr id="4" name="TV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1,150 ใบ</a:t>
            </a:r>
          </a:p>
        </p:txBody>
      </p:sp>
      <p:sp>
        <p:nvSpPr>
          <p:cNvPr id="5" name="TD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>
                <a:solidFill>
                  <a:srgbClr val="B3261E"/>
                </a:solidFill>
              </a:rPr>
              <a:t>▲ </a:t>
            </a:r>
            <a:r>
              <a:rPr lang="th-TH" dirty="0"/>
              <a:t>15% จาก ม.ค.</a:t>
            </a:r>
          </a:p>
        </p:txBody>
      </p:sp>
      <p:sp>
        <p:nvSpPr>
          <p:cNvPr id="6" name="TL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เวลาคีย์ต่อใบ</a:t>
            </a:r>
          </a:p>
        </p:txBody>
      </p:sp>
      <p:sp>
        <p:nvSpPr>
          <p:cNvPr id="7" name="TV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4 นาที</a:t>
            </a:r>
          </a:p>
        </p:txBody>
      </p:sp>
      <p:sp>
        <p:nvSpPr>
          <p:cNvPr id="8" name="TD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>
                <a:solidFill>
                  <a:srgbClr val="1A6647"/>
                </a:solidFill>
              </a:rPr>
              <a:t>▼ </a:t>
            </a:r>
            <a:r>
              <a:rPr lang="th-TH" dirty="0"/>
              <a:t>0.5 นาที จากปีก่อน</a:t>
            </a:r>
          </a:p>
        </p:txBody>
      </p:sp>
      <p:sp>
        <p:nvSpPr>
          <p:cNvPr id="9" name="TL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ชั่วโมงคีย์ต่อเดือน</a:t>
            </a:r>
          </a:p>
        </p:txBody>
      </p:sp>
      <p:sp>
        <p:nvSpPr>
          <p:cNvPr id="10" name="TV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77 ชม.</a:t>
            </a:r>
          </a:p>
        </p:txBody>
      </p:sp>
      <p:sp>
        <p:nvSpPr>
          <p:cNvPr id="11" name="TD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>
                <a:solidFill>
                  <a:srgbClr val="B3261E"/>
                </a:solidFill>
              </a:rPr>
              <a:t>▲ </a:t>
            </a:r>
            <a:r>
              <a:rPr lang="th-TH" dirty="0"/>
              <a:t>10 ชม. จาก ม.ค.</a:t>
            </a:r>
          </a:p>
        </p:txBody>
      </p:sp>
      <p:graphicFrame>
        <p:nvGraphicFramePr>
          <p:cNvPr id="12" name="Trend"/>
          <p:cNvGraphicFramePr>
            <a:graphicFrameLocks noGrp="1"/>
          </p:cNvGraphicFramePr>
          <p:nvPr>
            <p:ph type="chart" idx="1"/>
          </p:nvPr>
        </p:nvGraphicFramePr>
        <p:xfrm>
          <a:off x="914400" y="3291840"/>
          <a:ext cx="10363200" cy="1874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Sr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ระบบบัญชีของลูกค้า · ม.ค.–มิ.ย. 2569 · หน่วย: ใบต่อเดือน</a:t>
            </a:r>
          </a:p>
        </p:txBody>
      </p:sp>
      <p:sp>
        <p:nvSpPr>
          <p:cNvPr id="14" name="Tk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5" name="Tk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เดือนที่เกินกำลังคีย์คือเดือนที่ปิดงบนานสุด ต้องลดงานคีย์ ไม่ใช่เพิ่มคน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ก่อนและหลังใช้บริการ</a:t>
            </a:r>
          </a:p>
        </p:txBody>
      </p:sp>
      <p:sp>
        <p:nvSpPr>
          <p:cNvPr id="3" name="L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ก่อน</a:t>
            </a:r>
          </a:p>
        </p:txBody>
      </p:sp>
      <p:sp>
        <p:nvSpPr>
          <p:cNvPr id="4" name="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ระบบล่มบ่อย ไม่มีคนดูแลประจำ</a:t>
            </a:r>
          </a:p>
          <a:p>
            <a:pPr/>
            <a:r>
              <a:rPr lang="th-TH" dirty="0"/>
              <a:t>ค่าใช้จ่ายไม่แน่นอน</a:t>
            </a:r>
          </a:p>
        </p:txBody>
      </p:sp>
      <p:sp>
        <p:nvSpPr>
          <p:cNvPr id="5" name="RH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หลัง</a:t>
            </a:r>
          </a:p>
        </p:txBody>
      </p:sp>
      <p:sp>
        <p:nvSpPr>
          <p:cNvPr id="6" name="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มอนิเตอร์ 24 ชั่วโมง แจ้งเตือนอัตโนมัติ</a:t>
            </a:r>
          </a:p>
          <a:p>
            <a:pPr/>
            <a:r>
              <a:rPr lang="th-TH" dirty="0"/>
              <a:t>ค่าใช้จ่ายคงที่ต่อเดือน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สี่ผลลัพธ์ที่ข้อเสนอนี้ให้</a:t>
            </a:r>
          </a:p>
        </p:txBody>
      </p:sp>
      <p:sp>
        <p:nvSpPr>
          <p:cNvPr id="3" name="N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4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ลดงานคีย์ซ้ำ</a:t>
            </a:r>
          </a:p>
        </p:txBody>
      </p:sp>
      <p:sp>
        <p:nvSpPr>
          <p:cNvPr id="5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รับเอกสารเข้าระบบเดียว แล้วกระจายต่อให้ทุกปลายทางอัตโนมัติ</a:t>
            </a:r>
          </a:p>
        </p:txBody>
      </p:sp>
      <p:sp>
        <p:nvSpPr>
          <p:cNvPr id="6" name="N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02</a:t>
            </a:r>
          </a:p>
        </p:txBody>
      </p:sp>
      <p:sp>
        <p:nvSpPr>
          <p:cNvPr id="7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ตรวจสอบได้</a:t>
            </a:r>
          </a:p>
        </p:txBody>
      </p:sp>
      <p:sp>
        <p:nvSpPr>
          <p:cNvPr id="8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ทุกรายการมี audit trail ผู้ทำ เวลา และค่าก่อนหลัง</a:t>
            </a:r>
          </a:p>
        </p:txBody>
      </p:sp>
      <p:sp>
        <p:nvSpPr>
          <p:cNvPr id="9" name="N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03</a:t>
            </a:r>
          </a:p>
        </p:txBody>
      </p:sp>
      <p:sp>
        <p:nvSpPr>
          <p:cNvPr id="10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ปิดงบเร็วขึ้น</a:t>
            </a:r>
          </a:p>
        </p:txBody>
      </p:sp>
      <p:sp>
        <p:nvSpPr>
          <p:cNvPr id="11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กระทบยอดอัตโนมัติรายวัน ไม่ต้องรอสิ้นเดือน</a:t>
            </a:r>
          </a:p>
        </p:txBody>
      </p:sp>
      <p:sp>
        <p:nvSpPr>
          <p:cNvPr id="12" name="N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04</a:t>
            </a:r>
          </a:p>
        </p:txBody>
      </p:sp>
      <p:sp>
        <p:nvSpPr>
          <p:cNvPr id="13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ขยายต่อได้</a:t>
            </a:r>
          </a:p>
        </p:txBody>
      </p:sp>
      <p:sp>
        <p:nvSpPr>
          <p:cNvPr id="14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เพิ่มกระบวนการใหม่โดยไม่แก้ของเดิม</a:t>
            </a:r>
          </a:p>
        </p:txBody>
      </p:sp>
      <p:sp>
        <p:nvSpPr>
          <p:cNvPr id="15" name="BL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6" name="BC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ทั้งสี่ข้อมาจากการแก้จุดเดียวกัน คือรวมจุดรับเอกสาร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วิธีการทำงาน</a:t>
            </a:r>
          </a:p>
        </p:txBody>
      </p:sp>
      <p:sp>
        <p:nvSpPr>
          <p:cNvPr id="3" name="Cap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กระบวนการ สถาปัตยกรรม และขอบเขตที่ตกลงกัน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กระบวนการที่เสนอ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ห้าขั้นตอน ทำงานต่อเนื่องโดยไม่ต้องคีย์ซ้ำ</a:t>
            </a:r>
          </a:p>
        </p:txBody>
      </p:sp>
      <p:sp>
        <p:nvSpPr>
          <p:cNvPr id="4" name="C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1</a:t>
            </a:r>
          </a:p>
        </p:txBody>
      </p:sp>
      <p:sp>
        <p:nvSpPr>
          <p:cNvPr id="5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รับเอกสาร</a:t>
            </a:r>
          </a:p>
        </p:txBody>
      </p:sp>
      <p:sp>
        <p:nvSpPr>
          <p:cNvPr id="6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สแกนหรือรับไฟล์เข้าคิวกลาง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2</a:t>
            </a:r>
          </a:p>
        </p:txBody>
      </p:sp>
      <p:sp>
        <p:nvSpPr>
          <p:cNvPr id="8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อ่านข้อมูล</a:t>
            </a:r>
          </a:p>
        </p:txBody>
      </p:sp>
      <p:sp>
        <p:nvSpPr>
          <p:cNvPr id="9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ดึงฟิลด์สำคัญ ตรวจกับต้นทาง</a:t>
            </a:r>
          </a:p>
        </p:txBody>
      </p:sp>
      <p:sp>
        <p:nvSpPr>
          <p:cNvPr id="10" name="C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3</a:t>
            </a:r>
          </a:p>
        </p:txBody>
      </p:sp>
      <p:sp>
        <p:nvSpPr>
          <p:cNvPr id="11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ตรวจสอบ</a:t>
            </a:r>
          </a:p>
        </p:txBody>
      </p:sp>
      <p:sp>
        <p:nvSpPr>
          <p:cNvPr id="12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กฎธุรกิจและวงเงินอนุมัติ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4</a:t>
            </a:r>
          </a:p>
        </p:txBody>
      </p:sp>
      <p:sp>
        <p:nvSpPr>
          <p:cNvPr id="14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บันทึก</a:t>
            </a:r>
          </a:p>
        </p:txBody>
      </p:sp>
      <p:sp>
        <p:nvSpPr>
          <p:cNvPr id="15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ลงระบบบัญชีพร้อม audit trail</a:t>
            </a:r>
          </a:p>
        </p:txBody>
      </p:sp>
      <p:sp>
        <p:nvSpPr>
          <p:cNvPr id="16" name="C4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5</a:t>
            </a:r>
          </a:p>
        </p:txBody>
      </p:sp>
      <p:sp>
        <p:nvSpPr>
          <p:cNvPr id="17" name="H4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กระทบยอด</a:t>
            </a:r>
          </a:p>
        </p:txBody>
      </p:sp>
      <p:sp>
        <p:nvSpPr>
          <p:cNvPr id="18" name="B4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จับคู่อัตโนมัติ ส่งรายงาน</a:t>
            </a:r>
          </a:p>
        </p:txBody>
      </p:sp>
      <p:sp>
        <p:nvSpPr>
          <p:cNvPr id="19" name="RL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ผลลัพธ์</a:t>
            </a:r>
          </a:p>
        </p:txBody>
      </p:sp>
      <p:sp>
        <p:nvSpPr>
          <p:cNvPr id="20" name="RC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เอกสารหนึ่งใบผ่านครบห้าขั้นโดยไม่มีการคีย์ซ้ำเลย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ภาพรวมสถาปัตยกรรมระบบ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ใช้ชุดชิ้นส่วนมาตรฐาน — กล่องมุมตรง เส้นหักมุมฉาก ไม่มีเงา</a:t>
            </a:r>
          </a:p>
        </p:txBody>
      </p:sp>
      <p:sp>
        <p:nvSpPr>
          <p:cNvPr id="4" name="Le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กล่องทึบ = ระบบที่มีอยู่  ·  กล่องมีสีหมวด = ส่วนที่เพิ่ม  ·  เส้นทึบ = ข้อมูลไหลอัตโนมัติ</a:t>
            </a:r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ระบบเดิมไม่ถูกแก้ ของใหม่แทรกเป็นคิวและตัวตรวจกฎคั่นกลางเท่านั้น</a:t>
            </a:r>
          </a:p>
        </p:txBody>
      </p:sp>
      <p:sp>
        <p:nvSpPr>
          <p:cNvPr id="10" name="Group Zone"/>
          <p:cNvSpPr/>
          <p:nvPr/>
        </p:nvSpPr>
        <p:spPr>
          <a:xfrm>
            <a:off x="3566160" y="2766060"/>
            <a:ext cx="5257800" cy="16459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Group Label"/>
          <p:cNvSpPr/>
          <p:nvPr/>
        </p:nvSpPr>
        <p:spPr>
          <a:xfrm>
            <a:off x="3840480" y="2926080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ส่วนที่เพิ่มใหม่</a:t>
            </a:r>
          </a:p>
        </p:txBody>
      </p:sp>
      <p:sp>
        <p:nvSpPr>
          <p:cNvPr id="12" name="Box 1"/>
          <p:cNvSpPr/>
          <p:nvPr/>
        </p:nvSpPr>
        <p:spPr>
          <a:xfrm>
            <a:off x="114300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 ERP ปัจจุบัน</a:t>
            </a:r>
          </a:p>
        </p:txBody>
      </p:sp>
      <p:sp>
        <p:nvSpPr>
          <p:cNvPr id="13" name="Box 2"/>
          <p:cNvSpPr/>
          <p:nvPr/>
        </p:nvSpPr>
        <p:spPr>
          <a:xfrm>
            <a:off x="384048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A5EA0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คิวเอกสารกลาง</a:t>
            </a:r>
          </a:p>
        </p:txBody>
      </p:sp>
      <p:sp>
        <p:nvSpPr>
          <p:cNvPr id="113" name="Box 2 Tab"/>
          <p:cNvSpPr/>
          <p:nvPr/>
        </p:nvSpPr>
        <p:spPr>
          <a:xfrm>
            <a:off x="3954780" y="333756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Box 3"/>
          <p:cNvSpPr/>
          <p:nvPr/>
        </p:nvSpPr>
        <p:spPr>
          <a:xfrm>
            <a:off x="653796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731B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ตัวตรวจกฎธุรกิจ</a:t>
            </a:r>
          </a:p>
        </p:txBody>
      </p:sp>
      <p:sp>
        <p:nvSpPr>
          <p:cNvPr id="114" name="Box 3 Tab"/>
          <p:cNvSpPr/>
          <p:nvPr/>
        </p:nvSpPr>
        <p:spPr>
          <a:xfrm>
            <a:off x="6652260" y="333756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Box 4"/>
          <p:cNvSpPr/>
          <p:nvPr/>
        </p:nvSpPr>
        <p:spPr>
          <a:xfrm>
            <a:off x="923544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ระบบบัญชี</a:t>
            </a:r>
          </a:p>
        </p:txBody>
      </p:sp>
      <p:sp>
        <p:nvSpPr>
          <p:cNvPr id="16" name="Link 1"/>
          <p:cNvSpPr/>
          <p:nvPr/>
        </p:nvSpPr>
        <p:spPr>
          <a:xfrm>
            <a:off x="326898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7" name="Link 2"/>
          <p:cNvSpPr/>
          <p:nvPr/>
        </p:nvSpPr>
        <p:spPr>
          <a:xfrm>
            <a:off x="596646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8" name="Link 3"/>
          <p:cNvSpPr/>
          <p:nvPr/>
        </p:nvSpPr>
        <p:spPr>
          <a:xfrm>
            <a:off x="866394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9" name="Edge Label"/>
          <p:cNvSpPr/>
          <p:nvPr/>
        </p:nvSpPr>
        <p:spPr>
          <a:xfrm>
            <a:off x="5806440" y="3268980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ผ่านกฎ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ขอบเขตงานรายกระบวนการ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แปดกระบวนการที่อยู่ในขอบเขต แบ่งตามหมวดและรอบส่งมอบ</a:t>
            </a:r>
          </a:p>
        </p:txBody>
      </p:sp>
      <p:graphicFrame>
        <p:nvGraphicFramePr>
          <p:cNvPr id="4" name="Scope Table"/>
          <p:cNvGraphicFramePr>
            <a:graphicFrameLocks noGrp="1"/>
          </p:cNvGraphicFramePr>
          <p:nvPr>
            <p:ph type="tbl" idx="1"/>
          </p:nvPr>
        </p:nvGraphicFramePr>
        <p:xfrm>
          <a:off x="914400" y="2011680"/>
          <a:ext cx="10363200" cy="3163824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594360"/>
                <a:gridCol w="3200400"/>
                <a:gridCol w="1965960"/>
                <a:gridCol w="1600200"/>
                <a:gridCol w="1554480"/>
                <a:gridCol w="1447800"/>
              </a:tblGrid>
              <a:tr h="347472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#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กระบวนการ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หมวด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ปริมาณ/เดือน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ความพร้อม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รอบที่ทำ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บันทึกใบแจ้งหนี้ซื้อ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420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กระทบยอดใบสั่งซื้อ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380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ออกใบแจ้งหนี้ขาย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260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ติดตามลูกหนี้ค้างชำระ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150 ราย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5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บันทึกค่าใช้จ่ายพนักงาน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310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ปรับปรุงบัญชีสิ้นเดือน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45 รายการ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7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กระทบยอดธนาคาร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12 บัญชี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รายงานภาษีซื้อ-ขาย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 ชุด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Key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■ AP · เจ้าหนี้   ■ AR · ลูกหนี้   ■ GL · บัญชีแยกประเภท</a:t>
            </a:r>
          </a:p>
        </p:txBody>
      </p:sp>
      <p:sp>
        <p:nvSpPr>
          <p:cNvPr id="6" name="Foo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ปริมาณเป็นค่าเฉลี่ยจากข้อมูล 3 เดือนล่าสุด</a:t>
            </a:r>
          </a:p>
        </p:txBody>
      </p:sp>
      <p:sp>
        <p:nvSpPr>
          <p:cNvPr id="7" name="T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หกในแปดกระบวนการเริ่มได้ทันทีในรอบ 1-2 อีกสองรายการรอสิทธิ์เข้าระบบ ยืนยันภายใน 15 วัน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ขอบเขตบริการของ NCT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วางระบบโครงสร้างพื้นฐานไอทีสำหรับองค์กร</a:t>
            </a:r>
          </a:p>
          <a:p>
            <a:pPr lvl="1"/>
            <a:r>
              <a:rPr lang="th-TH" dirty="0"/>
              <a:t>ออกแบบเครือข่าย ระบบสำรองข้อมูล และความปลอดภัย</a:t>
            </a:r>
          </a:p>
          <a:p>
            <a:pPr/>
            <a:r>
              <a:rPr lang="th-TH" dirty="0"/>
              <a:t>ดูแลระบบต่อเนื่องแบบ Managed Service</a:t>
            </a:r>
          </a:p>
          <a:p>
            <a:pPr lvl="1"/>
            <a:r>
              <a:rPr lang="th-TH" dirty="0"/>
              <a:t>มีทีมซัพพอร์ตตอบกลับภายใน SLA ที่ตกลงกัน</a:t>
            </a:r>
          </a:p>
          <a:p>
            <a:pPr/>
            <a:r>
              <a:rPr lang="th-TH" dirty="0"/>
              <a:t>ให้คำปรึกษาการย้ายระบบขึ้นคลาวด์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สามเสาหลักของบริการ</a:t>
            </a:r>
          </a:p>
        </p:txBody>
      </p:sp>
      <p:sp>
        <p:nvSpPr>
          <p:cNvPr id="3" name="C1H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Infrastructure</a:t>
            </a:r>
          </a:p>
        </p:txBody>
      </p:sp>
      <p:sp>
        <p:nvSpPr>
          <p:cNvPr id="4" name="C1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ออกแบบและติดตั้งเครือข่าย เซิร์ฟเวอร์ และระบบสำรองข้อมูล</a:t>
            </a:r>
          </a:p>
        </p:txBody>
      </p:sp>
      <p:sp>
        <p:nvSpPr>
          <p:cNvPr id="5" name="C2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Managed Service</a:t>
            </a:r>
          </a:p>
        </p:txBody>
      </p:sp>
      <p:sp>
        <p:nvSpPr>
          <p:cNvPr id="6" name="C2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ดูแลระบบรายเดือน พร้อมทีมซัพพอร์ตและรายงานสุขภาพระบบ</a:t>
            </a:r>
          </a:p>
        </p:txBody>
      </p:sp>
      <p:sp>
        <p:nvSpPr>
          <p:cNvPr id="7" name="C3H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Cloud &amp; Security</a:t>
            </a:r>
          </a:p>
        </p:txBody>
      </p:sp>
      <p:sp>
        <p:nvSpPr>
          <p:cNvPr id="8" name="C3B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ย้ายระบบขึ้นคลาวด์ และวางมาตรการความปลอดภัยตามมาตรฐาน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ตัวเลขที่บอกเรื่องเรา</a:t>
            </a:r>
          </a:p>
        </p:txBody>
      </p:sp>
      <p:sp>
        <p:nvSpPr>
          <p:cNvPr id="3" name="F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12</a:t>
            </a:r>
          </a:p>
        </p:txBody>
      </p:sp>
      <p:sp>
        <p:nvSpPr>
          <p:cNvPr id="4" name="F1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ปีที่ให้บริการองค์กรไทย</a:t>
            </a:r>
          </a:p>
        </p:txBody>
      </p:sp>
      <p:sp>
        <p:nvSpPr>
          <p:cNvPr id="5" name="F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99.9%</a:t>
            </a:r>
          </a:p>
        </p:txBody>
      </p:sp>
      <p:sp>
        <p:nvSpPr>
          <p:cNvPr id="6" name="F2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Uptime เฉลี่ยของระบบที่ดูแล</a:t>
            </a:r>
          </a:p>
        </p:txBody>
      </p:sp>
      <p:sp>
        <p:nvSpPr>
          <p:cNvPr id="7" name="F3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24/7</a:t>
            </a:r>
          </a:p>
        </p:txBody>
      </p:sp>
      <p:sp>
        <p:nvSpPr>
          <p:cNvPr id="8" name="F3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ทีมเฝ้าระวังและตอบกลับ</a:t>
            </a:r>
          </a:p>
        </p:txBody>
      </p:sp>
      <p:sp>
        <p:nvSpPr>
          <p:cNvPr id="9" name="FN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ข้อมูล ณ ไตรมาส 1 ปี 2569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ลูกค้ารายเดิมลดงานบัญชีจาก 114 เหลือ 31 ชั่วโมงต่อเดือน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ชั่วโมงทำงานต่อเดือน · น้อยกว่าดีกว่า</a:t>
            </a:r>
          </a:p>
        </p:txBody>
      </p:sp>
      <p:sp>
        <p:nvSpPr>
          <p:cNvPr id="4" name="Legend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>
                <a:solidFill>
                  <a:srgbClr val="90B4E4"/>
                </a:solidFill>
              </a:rPr>
              <a:t>● </a:t>
            </a:r>
            <a:r>
              <a:rPr lang="th-TH" dirty="0"/>
              <a:t>ก่อน   </a:t>
            </a:r>
            <a:r>
              <a:rPr lang="th-TH" dirty="0">
                <a:solidFill>
                  <a:srgbClr val="2A5EA0"/>
                </a:solidFill>
              </a:rPr>
              <a:t>● </a:t>
            </a:r>
            <a:r>
              <a:rPr lang="th-TH" dirty="0"/>
              <a:t>หลัง</a:t>
            </a:r>
          </a:p>
        </p:txBody>
      </p:sp>
      <p:graphicFrame>
        <p:nvGraphicFramePr>
          <p:cNvPr id="5" name="Before After"/>
          <p:cNvGraphicFramePr>
            <a:graphicFrameLocks noGrp="1"/>
          </p:cNvGraphicFramePr>
          <p:nvPr>
            <p:ph type="chart" idx="1"/>
          </p:nvPr>
        </p:nvGraphicFramePr>
        <p:xfrm>
          <a:off x="3840480" y="2057400"/>
          <a:ext cx="5791200" cy="307238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ปิดงบสิ้นเดือน</a:t>
            </a:r>
          </a:p>
        </p:txBody>
      </p:sp>
      <p:sp>
        <p:nvSpPr>
          <p:cNvPr id="7" name="C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−32 ชม.</a:t>
            </a:r>
          </a:p>
        </p:txBody>
      </p:sp>
      <p:sp>
        <p:nvSpPr>
          <p:cNvPr id="8" name="R1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คีย์ใบแจ้งหนี้ซื้อ</a:t>
            </a:r>
          </a:p>
        </p:txBody>
      </p:sp>
      <p:sp>
        <p:nvSpPr>
          <p:cNvPr id="9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−25 ชม.</a:t>
            </a:r>
          </a:p>
        </p:txBody>
      </p:sp>
      <p:sp>
        <p:nvSpPr>
          <p:cNvPr id="10" name="R2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กระทบยอดธนาคาร</a:t>
            </a:r>
          </a:p>
        </p:txBody>
      </p:sp>
      <p:sp>
        <p:nvSpPr>
          <p:cNvPr id="11" name="C2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−14 ชม.</a:t>
            </a:r>
          </a:p>
        </p:txBody>
      </p:sp>
      <p:sp>
        <p:nvSpPr>
          <p:cNvPr id="12" name="R3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ออกใบแจ้งหนี้ขาย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−8 ชม.</a:t>
            </a:r>
          </a:p>
        </p:txBody>
      </p:sp>
      <p:sp>
        <p:nvSpPr>
          <p:cNvPr id="14" name="R4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ติดตามลูกหนี้</a:t>
            </a:r>
          </a:p>
        </p:txBody>
      </p:sp>
      <p:sp>
        <p:nvSpPr>
          <p:cNvPr id="15" name="C4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−4 ชม.</a:t>
            </a:r>
          </a:p>
        </p:txBody>
      </p:sp>
      <p:sp>
        <p:nvSpPr>
          <p:cNvPr id="16" name="Sr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ลูกค้าธุรกิจค้าปลีก ปี 2568 · วัดก่อนขึ้นระบบและหลังขึ้นระบบ 3 เดือน</a:t>
            </a:r>
          </a:p>
        </p:txBody>
      </p:sp>
      <p:sp>
        <p:nvSpPr>
          <p:cNvPr id="1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ปิดงบลดได้มากสุด ไม่ใช่งานคีย์ เพราะระบบกระทบยอดให้ทุกวัน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ระบบไม่ล่มอีกเลยตั้งแต่เปลี่ยนมาใช้ทีมนี้ดูแล และเราวางแผนงบประมาณได้ล่วงหน้าจริง ๆ</a:t>
            </a:r>
          </a:p>
        </p:txBody>
      </p:sp>
      <p:sp>
        <p:nvSpPr>
          <p:cNvPr id="3" name="A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คุณสมชาย ป. — ผู้จัดการฝ่ายไอที, บริษัทตัวอย่าง จำกัด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แพ็กเกจและงบประมาณ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เลือกระดับบริการให้ตรงกับขนาดองค์กร ราคาไม่รวมภาษีมูลค่าเพิ่ม</a:t>
            </a:r>
          </a:p>
        </p:txBody>
      </p:sp>
      <p:graphicFrame>
        <p:nvGraphicFramePr>
          <p:cNvPr id="4" name="Package Table"/>
          <p:cNvGraphicFramePr>
            <a:graphicFrameLocks noGrp="1"/>
          </p:cNvGraphicFramePr>
          <p:nvPr>
            <p:ph type="tbl" idx="1"/>
          </p:nvPr>
        </p:nvGraphicFramePr>
        <p:xfrm>
          <a:off x="914400" y="2286000"/>
          <a:ext cx="10363200" cy="2107692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3181080"/>
                <a:gridCol w="2394040"/>
                <a:gridCol w="2394040"/>
                <a:gridCol w="239404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endParaRPr lang="th-TH" sz="1100"/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Essential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Business</a:t>
                      </a:r>
                    </a:p>
                  </a:txBody>
                  <a:tcPr marL="73152" marR="73152" marT="73152" marB="73152" anchor="ctr">
                    <a:solidFill>
                      <a:srgbClr val="216B7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Enterprise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ชั่วโมงซัพพอร์ต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จันทร์–ศุกร์ 9–18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จันทร์–เสาร์ 8–20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24/7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เวลาตอบกลับ (SLA)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 ชั่วโมง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มอนิเตอร์ระบบ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 + แจ้งเตือน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รายงานสุขภาพระบบ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ไตรมาส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รายเดือน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รายสัปดาห์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ค่าบริการต่อเดือน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18,000 บาท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32,000 บาท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65,000 บาท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9" name="Recommended Cap"/>
          <p:cNvSpPr/>
          <p:nvPr/>
        </p:nvSpPr>
        <p:spPr>
          <a:xfrm>
            <a:off x="6489520" y="2240280"/>
            <a:ext cx="23940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องค์กร 50-200 ที่นั่งเลือก Business เป็นค่าเริ่มต้น ตอบกลับ 4 ชั่วโมงครอบคลุมงานปิดงบรายเดือน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แผนงาน 12 เดือน ขึ้นระบบต้นเดือนที่ 7</a:t>
            </a:r>
          </a:p>
        </p:txBody>
      </p:sp>
      <p:graphicFrame>
        <p:nvGraphicFramePr>
          <p:cNvPr id="3" name="Plan"/>
          <p:cNvGraphicFramePr>
            <a:graphicFrameLocks noGrp="1"/>
          </p:cNvGraphicFramePr>
          <p:nvPr>
            <p:ph type="chart" idx="1"/>
          </p:nvPr>
        </p:nvGraphicFramePr>
        <p:xfrm>
          <a:off x="3566160" y="2057400"/>
          <a:ext cx="771144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P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ด.1</a:t>
            </a:r>
          </a:p>
        </p:txBody>
      </p:sp>
      <p:sp>
        <p:nvSpPr>
          <p:cNvPr id="5" name="P2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ด.2</a:t>
            </a:r>
          </a:p>
        </p:txBody>
      </p:sp>
      <p:sp>
        <p:nvSpPr>
          <p:cNvPr id="6" name="P3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ด.3</a:t>
            </a:r>
          </a:p>
        </p:txBody>
      </p:sp>
      <p:sp>
        <p:nvSpPr>
          <p:cNvPr id="7" name="P4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ด.4</a:t>
            </a:r>
          </a:p>
        </p:txBody>
      </p:sp>
      <p:sp>
        <p:nvSpPr>
          <p:cNvPr id="8" name="P5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ด.5</a:t>
            </a:r>
          </a:p>
        </p:txBody>
      </p:sp>
      <p:sp>
        <p:nvSpPr>
          <p:cNvPr id="9" name="P6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ด.6</a:t>
            </a:r>
          </a:p>
        </p:txBody>
      </p:sp>
      <p:sp>
        <p:nvSpPr>
          <p:cNvPr id="10" name="P7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ด.7</a:t>
            </a:r>
          </a:p>
        </p:txBody>
      </p:sp>
      <p:sp>
        <p:nvSpPr>
          <p:cNvPr id="11" name="P8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ด.8</a:t>
            </a:r>
          </a:p>
        </p:txBody>
      </p:sp>
      <p:sp>
        <p:nvSpPr>
          <p:cNvPr id="12" name="P9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ด.9</a:t>
            </a:r>
          </a:p>
        </p:txBody>
      </p:sp>
      <p:sp>
        <p:nvSpPr>
          <p:cNvPr id="13" name="P10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ด.10</a:t>
            </a:r>
          </a:p>
        </p:txBody>
      </p:sp>
      <p:sp>
        <p:nvSpPr>
          <p:cNvPr id="14" name="P11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ด.11</a:t>
            </a:r>
          </a:p>
        </p:txBody>
      </p:sp>
      <p:sp>
        <p:nvSpPr>
          <p:cNvPr id="15" name="P12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ด.12</a:t>
            </a:r>
          </a:p>
        </p:txBody>
      </p:sp>
      <p:sp>
        <p:nvSpPr>
          <p:cNvPr id="16" name="R1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1. เตรียมระบบ</a:t>
            </a:r>
          </a:p>
        </p:txBody>
      </p:sp>
      <p:sp>
        <p:nvSpPr>
          <p:cNvPr id="17" name="D1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4 สัปดาห์</a:t>
            </a:r>
          </a:p>
        </p:txBody>
      </p:sp>
      <p:sp>
        <p:nvSpPr>
          <p:cNvPr id="18" name="R2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2. วิเคราะห์และออกแบบ</a:t>
            </a:r>
          </a:p>
        </p:txBody>
      </p:sp>
      <p:sp>
        <p:nvSpPr>
          <p:cNvPr id="19" name="D2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6 สัปดาห์</a:t>
            </a:r>
          </a:p>
        </p:txBody>
      </p:sp>
      <p:sp>
        <p:nvSpPr>
          <p:cNvPr id="20" name="R3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3. พัฒนาและตั้งค่าระบบ</a:t>
            </a:r>
          </a:p>
        </p:txBody>
      </p:sp>
      <p:sp>
        <p:nvSpPr>
          <p:cNvPr id="21" name="D3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/>
            <a:r>
              <a:rPr lang="th-TH" dirty="0"/>
              <a:t>10 สัปดาห์</a:t>
            </a:r>
          </a:p>
        </p:txBody>
      </p:sp>
      <p:sp>
        <p:nvSpPr>
          <p:cNvPr id="22" name="R4"/>
          <p:cNvSpPr>
            <a:spLocks noGrp="1"/>
          </p:cNvSpPr>
          <p:nvPr>
            <p:ph type="body" idx="38"/>
          </p:nvPr>
        </p:nvSpPr>
        <p:spPr/>
        <p:txBody>
          <a:bodyPr/>
          <a:lstStyle/>
          <a:p>
            <a:pPr/>
            <a:r>
              <a:rPr lang="th-TH" dirty="0"/>
              <a:t>4. ทดสอบ UAT</a:t>
            </a:r>
          </a:p>
        </p:txBody>
      </p:sp>
      <p:sp>
        <p:nvSpPr>
          <p:cNvPr id="23" name="D4"/>
          <p:cNvSpPr>
            <a:spLocks noGrp="1"/>
          </p:cNvSpPr>
          <p:nvPr>
            <p:ph type="body" idx="39"/>
          </p:nvPr>
        </p:nvSpPr>
        <p:spPr/>
        <p:txBody>
          <a:bodyPr/>
          <a:lstStyle/>
          <a:p>
            <a:pPr/>
            <a:r>
              <a:rPr lang="th-TH" dirty="0"/>
              <a:t>4 สัปดาห์</a:t>
            </a:r>
          </a:p>
        </p:txBody>
      </p:sp>
      <p:sp>
        <p:nvSpPr>
          <p:cNvPr id="24" name="R5"/>
          <p:cNvSpPr>
            <a:spLocks noGrp="1"/>
          </p:cNvSpPr>
          <p:nvPr>
            <p:ph type="body" idx="40"/>
          </p:nvPr>
        </p:nvSpPr>
        <p:spPr/>
        <p:txBody>
          <a:bodyPr/>
          <a:lstStyle/>
          <a:p>
            <a:pPr/>
            <a:r>
              <a:rPr lang="th-TH" dirty="0"/>
              <a:t>5. อบรมผู้ใช้</a:t>
            </a:r>
          </a:p>
        </p:txBody>
      </p:sp>
      <p:sp>
        <p:nvSpPr>
          <p:cNvPr id="25" name="D5"/>
          <p:cNvSpPr>
            <a:spLocks noGrp="1"/>
          </p:cNvSpPr>
          <p:nvPr>
            <p:ph type="body" idx="41"/>
          </p:nvPr>
        </p:nvSpPr>
        <p:spPr/>
        <p:txBody>
          <a:bodyPr/>
          <a:lstStyle/>
          <a:p>
            <a:pPr/>
            <a:r>
              <a:rPr lang="th-TH" dirty="0"/>
              <a:t>1 สัปดาห์</a:t>
            </a:r>
          </a:p>
        </p:txBody>
      </p:sp>
      <p:sp>
        <p:nvSpPr>
          <p:cNvPr id="26" name="R6"/>
          <p:cNvSpPr>
            <a:spLocks noGrp="1"/>
          </p:cNvSpPr>
          <p:nvPr>
            <p:ph type="body" idx="42"/>
          </p:nvPr>
        </p:nvSpPr>
        <p:spPr/>
        <p:txBody>
          <a:bodyPr/>
          <a:lstStyle/>
          <a:p>
            <a:pPr/>
            <a:r>
              <a:rPr lang="th-TH" dirty="0"/>
              <a:t>6. ขึ้นระบบ</a:t>
            </a:r>
          </a:p>
        </p:txBody>
      </p:sp>
      <p:sp>
        <p:nvSpPr>
          <p:cNvPr id="27" name="D6"/>
          <p:cNvSpPr>
            <a:spLocks noGrp="1"/>
          </p:cNvSpPr>
          <p:nvPr>
            <p:ph type="body" idx="43"/>
          </p:nvPr>
        </p:nvSpPr>
        <p:spPr/>
        <p:txBody>
          <a:bodyPr/>
          <a:lstStyle/>
          <a:p>
            <a:pPr/>
            <a:r>
              <a:rPr lang="th-TH" dirty="0"/>
              <a:t>2 สัปดาห์</a:t>
            </a:r>
          </a:p>
        </p:txBody>
      </p:sp>
      <p:sp>
        <p:nvSpPr>
          <p:cNvPr id="28" name="R7"/>
          <p:cNvSpPr>
            <a:spLocks noGrp="1"/>
          </p:cNvSpPr>
          <p:nvPr>
            <p:ph type="body" idx="44"/>
          </p:nvPr>
        </p:nvSpPr>
        <p:spPr/>
        <p:txBody>
          <a:bodyPr/>
          <a:lstStyle/>
          <a:p>
            <a:pPr/>
            <a:r>
              <a:rPr lang="th-TH" dirty="0"/>
              <a:t>7. ดูแลหลังขึ้นระบบ</a:t>
            </a:r>
          </a:p>
        </p:txBody>
      </p:sp>
      <p:sp>
        <p:nvSpPr>
          <p:cNvPr id="29" name="D7"/>
          <p:cNvSpPr>
            <a:spLocks noGrp="1"/>
          </p:cNvSpPr>
          <p:nvPr>
            <p:ph type="body" idx="45"/>
          </p:nvPr>
        </p:nvSpPr>
        <p:spPr/>
        <p:txBody>
          <a:bodyPr/>
          <a:lstStyle/>
          <a:p>
            <a:pPr/>
            <a:r>
              <a:rPr lang="th-TH" dirty="0"/>
              <a:t>3 เดือน</a:t>
            </a:r>
          </a:p>
        </p:txBody>
      </p:sp>
      <p:sp>
        <p:nvSpPr>
          <p:cNvPr id="30" name="R8"/>
          <p:cNvSpPr>
            <a:spLocks noGrp="1"/>
          </p:cNvSpPr>
          <p:nvPr>
            <p:ph type="body" idx="46"/>
          </p:nvPr>
        </p:nvSpPr>
        <p:spPr/>
        <p:txBody>
          <a:bodyPr/>
          <a:lstStyle/>
          <a:p>
            <a:pPr/>
            <a:r>
              <a:rPr lang="th-TH" dirty="0"/>
              <a:t>8. รับประกันระบบ</a:t>
            </a:r>
          </a:p>
        </p:txBody>
      </p:sp>
      <p:sp>
        <p:nvSpPr>
          <p:cNvPr id="31" name="D8"/>
          <p:cNvSpPr>
            <a:spLocks noGrp="1"/>
          </p:cNvSpPr>
          <p:nvPr>
            <p:ph type="body" idx="47"/>
          </p:nvPr>
        </p:nvSpPr>
        <p:spPr/>
        <p:txBody>
          <a:bodyPr/>
          <a:lstStyle/>
          <a:p>
            <a:pPr/>
            <a:r>
              <a:rPr lang="th-TH" dirty="0"/>
              <a:t>2.5 เดือน</a:t>
            </a:r>
          </a:p>
        </p:txBody>
      </p:sp>
      <p:sp>
        <p:nvSpPr>
          <p:cNvPr id="32" name="Key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■ ช่วงงาน   ◆ ส่งมอบ / ตรวจรับ</a:t>
            </a:r>
          </a:p>
        </p:txBody>
      </p:sp>
      <p:sp>
        <p:nvSpPr>
          <p:cNvPr id="33" name="Asm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นับจากวันลงนามสัญญา · หน่วย: เดือน</a:t>
            </a:r>
          </a:p>
        </p:txBody>
      </p:sp>
      <p:sp>
        <p:nvSpPr>
          <p:cNvPr id="34" name="T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35" name="T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ขึ้นระบบต้นเดือนที่ 7 ตรวจรับ 3 งวดตามจุดส่งมอบ</a:t>
            </a:r>
          </a:p>
        </p:txBody>
      </p:sp>
      <p:sp>
        <p:nvSpPr>
          <p:cNvPr id="36" name="Milestone 2"/>
          <p:cNvSpPr/>
          <p:nvPr/>
        </p:nvSpPr>
        <p:spPr>
          <a:xfrm>
            <a:off x="5099558" y="2567178"/>
            <a:ext cx="146304" cy="146304"/>
          </a:xfrm>
          <a:prstGeom prst="diamond">
            <a:avLst/>
          </a:prstGeom>
          <a:solidFill>
            <a:srgbClr val="BB731B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7" name="Milestone 2 Label"/>
          <p:cNvSpPr/>
          <p:nvPr/>
        </p:nvSpPr>
        <p:spPr>
          <a:xfrm>
            <a:off x="5291582" y="2446020"/>
            <a:ext cx="1463040" cy="3886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ตรวจรับงวด 1</a:t>
            </a:r>
          </a:p>
        </p:txBody>
      </p:sp>
      <p:sp>
        <p:nvSpPr>
          <p:cNvPr id="38" name="Milestone 4"/>
          <p:cNvSpPr/>
          <p:nvPr/>
        </p:nvSpPr>
        <p:spPr>
          <a:xfrm>
            <a:off x="7348728" y="3344418"/>
            <a:ext cx="146304" cy="146304"/>
          </a:xfrm>
          <a:prstGeom prst="diamond">
            <a:avLst/>
          </a:prstGeom>
          <a:solidFill>
            <a:srgbClr val="BB731B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9" name="Milestone 4 Label"/>
          <p:cNvSpPr/>
          <p:nvPr/>
        </p:nvSpPr>
        <p:spPr>
          <a:xfrm>
            <a:off x="7540752" y="3223260"/>
            <a:ext cx="1463040" cy="3886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ตรวจรับงวด 2</a:t>
            </a:r>
          </a:p>
        </p:txBody>
      </p:sp>
      <p:sp>
        <p:nvSpPr>
          <p:cNvPr id="40" name="Milestone 7"/>
          <p:cNvSpPr/>
          <p:nvPr/>
        </p:nvSpPr>
        <p:spPr>
          <a:xfrm>
            <a:off x="9597898" y="4510278"/>
            <a:ext cx="146304" cy="146304"/>
          </a:xfrm>
          <a:prstGeom prst="diamond">
            <a:avLst/>
          </a:prstGeom>
          <a:solidFill>
            <a:srgbClr val="BB731B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41" name="Milestone 7 Label"/>
          <p:cNvSpPr/>
          <p:nvPr/>
        </p:nvSpPr>
        <p:spPr>
          <a:xfrm>
            <a:off x="9789922" y="4389120"/>
            <a:ext cx="1463040" cy="3886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ตรวจรับงวด 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ครึ่งหนึ่งของงบ 4.8 ล้านบาท คือค่าพัฒนาระบบ</a:t>
            </a:r>
          </a:p>
        </p:txBody>
      </p:sp>
      <p:sp>
        <p:nvSpPr>
          <p:cNvPr id="3" name="Tota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4.8 ล้านบาท</a:t>
            </a:r>
          </a:p>
        </p:txBody>
      </p:sp>
      <p:sp>
        <p:nvSpPr>
          <p:cNvPr id="4" name="Total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งบโครงการรวมทั้งสิ้น</a:t>
            </a:r>
          </a:p>
        </p:txBody>
      </p:sp>
      <p:sp>
        <p:nvSpPr>
          <p:cNvPr id="5" name="Intro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รวมภาษีมูลค่าเพิ่ม · สัญญา 12 เดือน ไม่รวมค่าบริการรายเดือนหลังปีแรก</a:t>
            </a:r>
          </a:p>
        </p:txBody>
      </p:sp>
      <p:graphicFrame>
        <p:nvGraphicFramePr>
          <p:cNvPr id="6" name="Composition"/>
          <p:cNvGraphicFramePr>
            <a:graphicFrameLocks noGrp="1"/>
          </p:cNvGraphicFramePr>
          <p:nvPr>
            <p:ph type="chart" idx="1"/>
          </p:nvPr>
        </p:nvGraphicFramePr>
        <p:xfrm>
          <a:off x="2697480" y="3703320"/>
          <a:ext cx="7299960" cy="1371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B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งบโครงการ</a:t>
            </a:r>
          </a:p>
        </p:txBody>
      </p:sp>
      <p:sp>
        <p:nvSpPr>
          <p:cNvPr id="8" name="SN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พัฒนาและตั้งค่าระบบ</a:t>
            </a:r>
          </a:p>
        </p:txBody>
      </p:sp>
      <p:sp>
        <p:nvSpPr>
          <p:cNvPr id="9" name="SV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2.4 ล้านบาท</a:t>
            </a:r>
          </a:p>
        </p:txBody>
      </p:sp>
      <p:sp>
        <p:nvSpPr>
          <p:cNvPr id="10" name="SP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50%</a:t>
            </a:r>
          </a:p>
        </p:txBody>
      </p:sp>
      <p:sp>
        <p:nvSpPr>
          <p:cNvPr id="11" name="SN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ไลเซนส์ซอฟต์แวร์</a:t>
            </a:r>
          </a:p>
        </p:txBody>
      </p:sp>
      <p:sp>
        <p:nvSpPr>
          <p:cNvPr id="12" name="SV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1.2 ล้านบาท</a:t>
            </a:r>
          </a:p>
        </p:txBody>
      </p:sp>
      <p:sp>
        <p:nvSpPr>
          <p:cNvPr id="13" name="SP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25%</a:t>
            </a:r>
          </a:p>
        </p:txBody>
      </p:sp>
      <p:sp>
        <p:nvSpPr>
          <p:cNvPr id="14" name="SN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คลาวด์ปีแรก</a:t>
            </a:r>
          </a:p>
        </p:txBody>
      </p:sp>
      <p:sp>
        <p:nvSpPr>
          <p:cNvPr id="15" name="SV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0.7 ล้านบาท</a:t>
            </a:r>
          </a:p>
        </p:txBody>
      </p:sp>
      <p:sp>
        <p:nvSpPr>
          <p:cNvPr id="16" name="SP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15%</a:t>
            </a:r>
          </a:p>
        </p:txBody>
      </p:sp>
      <p:sp>
        <p:nvSpPr>
          <p:cNvPr id="17" name="SN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อื่น ๆ</a:t>
            </a:r>
          </a:p>
        </p:txBody>
      </p:sp>
      <p:sp>
        <p:nvSpPr>
          <p:cNvPr id="18" name="SV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0.5 ล้านบาท</a:t>
            </a:r>
          </a:p>
        </p:txBody>
      </p:sp>
      <p:sp>
        <p:nvSpPr>
          <p:cNvPr id="19" name="SP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/>
            <a:r>
              <a:rPr lang="th-TH" dirty="0"/>
              <a:t>10%</a:t>
            </a:r>
          </a:p>
        </p:txBody>
      </p:sp>
      <p:sp>
        <p:nvSpPr>
          <p:cNvPr id="20" name="Sr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ใบเสนอราคา NCT-2569-041 · ปัดเป็นแสนบาท</a:t>
            </a:r>
          </a:p>
        </p:txBody>
      </p:sp>
      <p:sp>
        <p:nvSpPr>
          <p:cNvPr id="21" name="T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22" name="TC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ไลเซนส์กับคลาวด์รวมกันไม่ถึง 40% งบส่วนใหญ่จ่ายให้งานที่ทำครั้งเดียว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5. Implementation Stage</a:t>
            </a:r>
          </a:p>
        </p:txBody>
      </p:sp>
      <p:sp>
        <p:nvSpPr>
          <p:cNvPr id="3" name="KA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Key Activity :</a:t>
            </a:r>
          </a:p>
        </p:txBody>
      </p:sp>
      <p:sp>
        <p:nvSpPr>
          <p:cNvPr id="4" name="KAV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ตั้งค่าสภาพแวดล้อม ติดตั้งฮาร์ดแวร์และซอฟต์แวร์</a:t>
            </a:r>
          </a:p>
        </p:txBody>
      </p:sp>
      <p:sp>
        <p:nvSpPr>
          <p:cNvPr id="5" name="P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Participant :</a:t>
            </a:r>
          </a:p>
        </p:txBody>
      </p:sp>
      <p:sp>
        <p:nvSpPr>
          <p:cNvPr id="6" name="PV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NCT Infra Engineer, ทีมไอทีลูกค้า, Business Analyst</a:t>
            </a:r>
          </a:p>
        </p:txBody>
      </p:sp>
      <p:sp>
        <p:nvSpPr>
          <p:cNvPr id="7" name="PN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8" name="PP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Preparation Phase</a:t>
            </a:r>
          </a:p>
        </p:txBody>
      </p:sp>
      <p:sp>
        <p:nvSpPr>
          <p:cNvPr id="9" name="PI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สรุปสเปกเครื่องและบริการคลาวด์ที่ต้องเตรียมให้พร้อมก่อนเริ่มงานพัฒนา</a:t>
            </a:r>
          </a:p>
        </p:txBody>
      </p:sp>
      <p:sp>
        <p:nvSpPr>
          <p:cNvPr id="10" name="PB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PRD · 4 คอร์ / 16GB / SSD 300GB</a:t>
            </a:r>
          </a:p>
          <a:p>
            <a:pPr/>
            <a:r>
              <a:rPr lang="th-TH" dirty="0"/>
              <a:t>QA · 4 คอร์ / 16GB / SSD 150GB</a:t>
            </a:r>
          </a:p>
          <a:p>
            <a:pPr/>
            <a:r>
              <a:rPr lang="th-TH" dirty="0"/>
              <a:t>Windows Server 2022 ทั้งสองเครื่อง</a:t>
            </a:r>
          </a:p>
          <a:p>
            <a:pPr/>
            <a:r>
              <a:rPr lang="th-TH" dirty="0"/>
              <a:t>Lambda, EC2 และ Cognito เปิดทั้งสองสภาพแวดล้อม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8. Project Training</a:t>
            </a:r>
          </a:p>
        </p:txBody>
      </p:sp>
      <p:sp>
        <p:nvSpPr>
          <p:cNvPr id="3" name="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วัตถุประสงค์ของการอบรม</a:t>
            </a:r>
          </a:p>
        </p:txBody>
      </p:sp>
      <p:graphicFrame>
        <p:nvGraphicFramePr>
          <p:cNvPr id="4" name="Training Table"/>
          <p:cNvGraphicFramePr>
            <a:graphicFrameLocks noGrp="1"/>
          </p:cNvGraphicFramePr>
          <p:nvPr>
            <p:ph type="tbl" idx="2"/>
          </p:nvPr>
        </p:nvGraphicFramePr>
        <p:xfrm>
          <a:off x="914400" y="2240280"/>
          <a:ext cx="8092440" cy="1051560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1600200"/>
                <a:gridCol w="3200400"/>
                <a:gridCol w="1188720"/>
                <a:gridCol w="210312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หลักสูตร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วัตถุประสงค์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ระยะเวลา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เงื่อนไขการจัด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1. การใช้งานสำหรับผู้ใช้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เข้าใจการใช้งานระบบในงานประจำวัน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2. การดูแลสำหรับผู้ดูแลระบบ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เข้าใจการบำรุงรักษาและแก้ปัญหาเบื้องต้น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อบรมสองหลักสูตร รวม 8 ชั่วโมง จบภายในสัปดาห์เดียวก่อนวันขึ้นระบบ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อบรมที่สำนักงานลูกค้า 20-50 คน</a:t>
            </a:r>
          </a:p>
        </p:txBody>
      </p:sp>
      <p:sp>
        <p:nvSpPr>
          <p:cNvPr id="8" name="C2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อบรมกลุ่มย่อยในห้องประชุม 2-20 คน</a:t>
            </a:r>
          </a:p>
        </p:txBody>
      </p:sp>
      <p:sp>
        <p:nvSpPr>
          <p:cNvPr id="9" name="C3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อบรมออนไลน์ผ่าน MS Teams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ทีม 7 คน ทำเองตั้งแต่ออกแบบจนถึงอบรม</a:t>
            </a:r>
          </a:p>
        </p:txBody>
      </p:sp>
      <p:sp>
        <p:nvSpPr>
          <p:cNvPr id="3" name="Note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ทีมรวม 7 คน · ประวัติและวุฒิบัตรเต็มอยู่ภาคผนวก ข</a:t>
            </a:r>
          </a:p>
        </p:txBody>
      </p:sp>
      <p:sp>
        <p:nvSpPr>
          <p:cNvPr id="4" name="T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5" name="TC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ทุกตำแหน่งมีคุณวุฒิครบตาม TOR ข้อ 5.3 ไม่มีงานส่วนไหนจ้างช่วง</a:t>
            </a:r>
          </a:p>
        </p:txBody>
      </p:sp>
      <p:sp>
        <p:nvSpPr>
          <p:cNvPr id="10" name="R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ผู้จัดการโครงการ</a:t>
            </a:r>
          </a:p>
        </p:txBody>
      </p:sp>
      <p:sp>
        <p:nvSpPr>
          <p:cNvPr id="11" name="N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กานดา ศรีสุข</a:t>
            </a:r>
          </a:p>
        </p:txBody>
      </p:sp>
      <p:sp>
        <p:nvSpPr>
          <p:cNvPr id="12" name="C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PMP · ประสบการณ์ 15 ปี</a:t>
            </a:r>
          </a:p>
        </p:txBody>
      </p:sp>
      <p:sp>
        <p:nvSpPr>
          <p:cNvPr id="13" name="D0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คุมแผนและการส่งมอบทั้ง 3 งวด</a:t>
            </a:r>
          </a:p>
          <a:p>
            <a:pPr/>
            <a:r>
              <a:rPr lang="th-TH" dirty="0"/>
              <a:t>ประสานกับคณะกรรมการตรวจรับ</a:t>
            </a:r>
          </a:p>
        </p:txBody>
      </p:sp>
      <p:sp>
        <p:nvSpPr>
          <p:cNvPr id="14" name="R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นักวิเคราะห์ธุรกิจ</a:t>
            </a:r>
          </a:p>
        </p:txBody>
      </p:sp>
      <p:sp>
        <p:nvSpPr>
          <p:cNvPr id="15" name="N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ปวีณา ทองดี</a:t>
            </a:r>
          </a:p>
        </p:txBody>
      </p:sp>
      <p:sp>
        <p:nvSpPr>
          <p:cNvPr id="16" name="C1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CPA · ประสบการณ์ 10 ปี</a:t>
            </a:r>
          </a:p>
        </p:txBody>
      </p:sp>
      <p:sp>
        <p:nvSpPr>
          <p:cNvPr id="17" name="D1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เก็บความต้องการงานบัญชี</a:t>
            </a:r>
          </a:p>
          <a:p>
            <a:pPr/>
            <a:r>
              <a:rPr lang="th-TH" dirty="0"/>
              <a:t>ออกแบบผังบัญชีและกฎตรวจ</a:t>
            </a:r>
          </a:p>
        </p:txBody>
      </p:sp>
      <p:sp>
        <p:nvSpPr>
          <p:cNvPr id="18" name="R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นักพัฒนาระบบ × 3</a:t>
            </a:r>
          </a:p>
        </p:txBody>
      </p:sp>
      <p:sp>
        <p:nvSpPr>
          <p:cNvPr id="19" name="N2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ธนพล มีสุข</a:t>
            </a:r>
          </a:p>
        </p:txBody>
      </p:sp>
      <p:sp>
        <p:nvSpPr>
          <p:cNvPr id="20" name="C2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AWS · ประสบการณ์ 8 ปี</a:t>
            </a:r>
          </a:p>
        </p:txBody>
      </p:sp>
      <p:sp>
        <p:nvSpPr>
          <p:cNvPr id="21" name="D2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ตัวเชื่อม ERP</a:t>
            </a:r>
          </a:p>
          <a:p>
            <a:pPr/>
            <a:r>
              <a:rPr lang="th-TH" dirty="0"/>
              <a:t>คิวเอกสารและตัวตรวจกฎ</a:t>
            </a:r>
          </a:p>
        </p:txBody>
      </p:sp>
      <p:sp>
        <p:nvSpPr>
          <p:cNvPr id="22" name="R3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วิศวกรระบบ</a:t>
            </a:r>
          </a:p>
        </p:txBody>
      </p:sp>
      <p:sp>
        <p:nvSpPr>
          <p:cNvPr id="23" name="N3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อนุชา แก้วใส</a:t>
            </a:r>
          </a:p>
        </p:txBody>
      </p:sp>
      <p:sp>
        <p:nvSpPr>
          <p:cNvPr id="24" name="C3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MCSA · ประสบการณ์ 7 ปี</a:t>
            </a:r>
          </a:p>
        </p:txBody>
      </p:sp>
      <p:sp>
        <p:nvSpPr>
          <p:cNvPr id="25" name="D3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ติดตั้ง PRD และ QA</a:t>
            </a:r>
          </a:p>
          <a:p>
            <a:pPr/>
            <a:r>
              <a:rPr lang="th-TH" dirty="0"/>
              <a:t>สำรองข้อมูลและกู้คืน</a:t>
            </a:r>
          </a:p>
        </p:txBody>
      </p:sp>
      <p:sp>
        <p:nvSpPr>
          <p:cNvPr id="26" name="R4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ทดสอบและอบรม</a:t>
            </a:r>
          </a:p>
        </p:txBody>
      </p:sp>
      <p:sp>
        <p:nvSpPr>
          <p:cNvPr id="27" name="N4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/>
            <a:r>
              <a:rPr lang="th-TH" dirty="0"/>
              <a:t>นภา รุ่งเรือง</a:t>
            </a:r>
          </a:p>
        </p:txBody>
      </p:sp>
      <p:sp>
        <p:nvSpPr>
          <p:cNvPr id="28" name="C4"/>
          <p:cNvSpPr>
            <a:spLocks noGrp="1"/>
          </p:cNvSpPr>
          <p:nvPr>
            <p:ph type="body" idx="38"/>
          </p:nvPr>
        </p:nvSpPr>
        <p:spPr/>
        <p:txBody>
          <a:bodyPr/>
          <a:lstStyle/>
          <a:p>
            <a:pPr/>
            <a:r>
              <a:rPr lang="th-TH" dirty="0"/>
              <a:t>ISTQB · ประสบการณ์ 5 ปี</a:t>
            </a:r>
          </a:p>
        </p:txBody>
      </p:sp>
      <p:sp>
        <p:nvSpPr>
          <p:cNvPr id="29" name="D4"/>
          <p:cNvSpPr>
            <a:spLocks noGrp="1"/>
          </p:cNvSpPr>
          <p:nvPr>
            <p:ph type="body" idx="39"/>
          </p:nvPr>
        </p:nvSpPr>
        <p:spPr/>
        <p:txBody>
          <a:bodyPr/>
          <a:lstStyle/>
          <a:p>
            <a:pPr/>
            <a:r>
              <a:rPr lang="th-TH" dirty="0"/>
              <a:t>ทดสอบรับรองก่อนขึ้นระบบ</a:t>
            </a:r>
          </a:p>
          <a:p>
            <a:pPr/>
            <a:r>
              <a:rPr lang="th-TH" dirty="0"/>
              <a:t>อบรมผู้ใช้ 2 หลักสูตร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ขอบคุณครับ</a:t>
            </a:r>
          </a:p>
        </p:txBody>
      </p:sp>
      <p:sp>
        <p:nvSpPr>
          <p:cNvPr id="3" name="NS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ขั้นตอนถัดไป</a:t>
            </a:r>
          </a:p>
        </p:txBody>
      </p:sp>
      <p:sp>
        <p:nvSpPr>
          <p:cNvPr id="4" name="NS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ยืนยันแพ็กเกจและขอบเขตงานรายกระบวนการ</a:t>
            </a:r>
          </a:p>
          <a:p>
            <a:pPr/>
            <a:r>
              <a:rPr lang="th-TH" dirty="0"/>
              <a:t>เปิดสิทธิ์เข้าระบบให้ทีมสำรวจ 2 รายการที่ยังติดข้อจำกัด</a:t>
            </a:r>
          </a:p>
          <a:p>
            <a:pPr/>
            <a:r>
              <a:rPr lang="th-TH" dirty="0"/>
              <a:t>ลงนามสัญญาและเริ่มรอบที่ 1 ภายใน 30 วัน</a:t>
            </a:r>
          </a:p>
        </p:txBody>
      </p:sp>
      <p:sp>
        <p:nvSpPr>
          <p:cNvPr id="5" name="DB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ต้องการคำตอบภายใน 30 กันยายน 2569 เพื่อเริ่มรอบแรกในไตรมาสนี้</a:t>
            </a:r>
          </a:p>
        </p:txBody>
      </p:sp>
      <p:sp>
        <p:nvSpPr>
          <p:cNvPr id="6" name="Contac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โทร · 02-XXX-XXXX</a:t>
            </a:r>
          </a:p>
          <a:p>
            <a:pPr/>
            <a:r>
              <a:rPr lang="th-TH" dirty="0"/>
              <a:t>อีเมล · contact@nctthai.com</a:t>
            </a:r>
          </a:p>
          <a:p>
            <a:pPr/>
            <a:r>
              <a:rPr lang="th-TH" dirty="0"/>
              <a:t>เว็บไซต์ · nctthai.com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CT">
  <a:themeElements>
    <a:clrScheme name="NCT">
      <a:dk1>
        <a:srgbClr val="333333"/>
      </a:dk1>
      <a:lt1>
        <a:srgbClr val="FFFFFF"/>
      </a:lt1>
      <a:dk2>
        <a:srgbClr val="23436D"/>
      </a:dk2>
      <a:lt2>
        <a:srgbClr val="E8F6F5"/>
      </a:lt2>
      <a:accent1>
        <a:srgbClr val="2A5EA0"/>
      </a:accent1>
      <a:accent2>
        <a:srgbClr val="BB731B"/>
      </a:accent2>
      <a:accent3>
        <a:srgbClr val="0D9298"/>
      </a:accent3>
      <a:accent4>
        <a:srgbClr val="6C4289"/>
      </a:accent4>
      <a:accent5>
        <a:srgbClr val="A4A4A4"/>
      </a:accent5>
      <a:accent6>
        <a:srgbClr val="216B7F"/>
      </a:accent6>
      <a:hlink>
        <a:srgbClr val="216B7F"/>
      </a:hlink>
      <a:folHlink>
        <a:srgbClr val="23436D"/>
      </a:folHlink>
    </a:clrScheme>
    <a:fontScheme name="NCT">
      <a:majorFont>
        <a:latin typeface="Kanit" pitchFamily="2" charset="0"/>
        <a:ea typeface=""/>
        <a:cs typeface="Kanit" pitchFamily="2" charset="-34"/>
        <a:font script="Thai" typeface="Kanit"/>
      </a:majorFont>
      <a:minorFont>
        <a:latin typeface="Noto Sans Thai" pitchFamily="2" charset="0"/>
        <a:ea typeface=""/>
        <a:cs typeface="Noto Sans Thai" pitchFamily="2" charset="-34"/>
        <a:font script="Thai" typeface="Noto Sans Thai"/>
      </a:minorFont>
    </a:fontScheme>
    <a:fmtScheme name="NCT">
      <a:fillStyleLst>
        <a:solidFill>
          <a:schemeClr val="phClr"/>
        </a:solidFill>
        <a:solidFill>
          <a:schemeClr val="phClr">
            <a:tint val="88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80000"/>
              </a:schemeClr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75000"/>
              </a:schemeClr>
            </a:gs>
          </a:gsLst>
          <a:lin ang="27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Company>New Computer Technology Consulting Co., Ltd.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NCT Slide Template — แบบฟอร์มบริษัท ตัวอย่าง</dc:title>
  <dc:creator>New Computer Technology Consulting Co., Ltd.</dc:creator>
  <cp:lastModifiedBy>NCT</cp:lastModifiedBy>
  <dcterms:created xsi:type="dcterms:W3CDTF">2026-10-01T18:45:35Z</dcterms:created>
  <dcterms:modified xsi:type="dcterms:W3CDTF">2026-10-01T18:45:35Z</dcterms:modified>
</cp:coreProperties>
</file>