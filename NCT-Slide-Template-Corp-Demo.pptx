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เอกสารเข้า</c:v>
                </c:pt>
              </c:strCache>
            </c:strRef>
          </c:tx>
          <c:spPr>
            <a:ln w="19050" cap="rnd">
              <a:solidFill>
                <a:srgbClr val="2A5EA0"/>
              </a:solidFill>
              <a:round/>
            </a:ln>
          </c:spPr>
          <c:marker>
            <c:symbol val="none"/>
          </c:marker>
          <c:dPt>
            <c:idx val="5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dLbls>
            <c:dLbl>
              <c:idx val="5"/>
              <c:numFmt formatCode="#,##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ม.ค.</c:v>
                </c:pt>
                <c:pt idx="1">
                  <c:v>ก.พ.</c:v>
                </c:pt>
                <c:pt idx="2">
                  <c:v>มี.ค.</c:v>
                </c:pt>
                <c:pt idx="3">
                  <c:v>เม.ย.</c:v>
                </c:pt>
                <c:pt idx="4">
                  <c:v>พ.ค.</c:v>
                </c:pt>
                <c:pt idx="5">
                  <c:v>มิ.ย.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1000</c:v>
                </c:pt>
                <c:pt idx="1">
                  <c:v>1100</c:v>
                </c:pt>
                <c:pt idx="2">
                  <c:v>1000</c:v>
                </c:pt>
                <c:pt idx="3">
                  <c:v>1200</c:v>
                </c:pt>
                <c:pt idx="4">
                  <c:v>1350</c:v>
                </c:pt>
                <c:pt idx="5">
                  <c:v>1150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กำลังคีย์ 1,200 ใบ</c:v>
                </c:pt>
              </c:strCache>
            </c:strRef>
          </c:tx>
          <c:spPr>
            <a:ln w="9525">
              <a:solidFill>
                <a:srgbClr val="A4A4A4"/>
              </a:solidFill>
            </a:ln>
          </c:spPr>
          <c:marker>
            <c:symbol val="none"/>
          </c:marker>
          <c:dLbls>
            <c:dLbl>
              <c:idx val="0"/>
              <c:numFmt formatCode="#,##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>
                      <a:solidFill>
                        <a:srgbClr val="5F5F5F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t"/>
              <c:showLegendKey val="0"/>
              <c:showVal val="0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ม.ค.</c:v>
                </c:pt>
                <c:pt idx="1">
                  <c:v>ก.พ.</c:v>
                </c:pt>
                <c:pt idx="2">
                  <c:v>มี.ค.</c:v>
                </c:pt>
                <c:pt idx="3">
                  <c:v>เม.ย.</c:v>
                </c:pt>
                <c:pt idx="4">
                  <c:v>พ.ค.</c:v>
                </c:pt>
                <c:pt idx="5">
                  <c:v>มิ.ย.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1200</c:v>
                </c:pt>
                <c:pt idx="1">
                  <c:v>1200</c:v>
                </c:pt>
                <c:pt idx="2">
                  <c:v>1200</c:v>
                </c:pt>
                <c:pt idx="3">
                  <c:v>1200</c:v>
                </c:pt>
                <c:pt idx="4">
                  <c:v>1200</c:v>
                </c:pt>
                <c:pt idx="5">
                  <c:v>1200</c:v>
                </c:pt>
              </c:numCache>
            </c:numRef>
          </c:val>
          <c:smooth val="0"/>
        </c:ser>
        <c:marker val="1"/>
        <c:axId val="23001"/>
        <c:axId val="23002"/>
      </c:lineChart>
      <c:catAx>
        <c:axId val="23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3002"/>
        <c:crosses val="autoZero"/>
        <c:auto val="1"/>
        <c:lblAlgn val="ctr"/>
        <c:lblOffset val="100"/>
        <c:noMultiLvlLbl val="0"/>
      </c:catAx>
      <c:valAx>
        <c:axId val="23002"/>
        <c:scaling>
          <c:orientation val="minMax"/>
          <c:max val="1500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3001"/>
        <c:crosses val="autoZero"/>
        <c:crossBetween val="between"/>
        <c:majorUnit val="50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.1042"/>
          <c:w val="1"/>
          <c:h val="0.8958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ปิดงบสิ้นเดือน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Sheet1!$B$2:$C$2</c:f>
              <c:numCache>
                <c:formatCode>General</c:formatCode>
                <c:ptCount val="2"/>
                <c:pt idx="0">
                  <c:v>48</c:v>
                </c:pt>
                <c:pt idx="1">
                  <c:v>16</c:v>
                </c:pt>
              </c:numCache>
            </c:numRef>
          </c:xVal>
          <c:yVal>
            <c:numRef>
              <c:f>Sheet1!$D$2:$E$2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คีย์ใบแจ้งหนี้ซื้อ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Sheet1!$B$3:$C$3</c:f>
              <c:numCache>
                <c:formatCode>General</c:formatCode>
                <c:ptCount val="2"/>
                <c:pt idx="0">
                  <c:v>28</c:v>
                </c:pt>
                <c:pt idx="1">
                  <c:v>3</c:v>
                </c:pt>
              </c:numCache>
            </c:numRef>
          </c:xVal>
          <c:yVal>
            <c:numRef>
              <c:f>Sheet1!$D$3:$E$3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กระทบยอดธนาคาร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Sheet1!$B$4:$C$4</c:f>
              <c:numCache>
                <c:formatCode>General</c:formatCode>
                <c:ptCount val="2"/>
                <c:pt idx="0">
                  <c:v>16</c:v>
                </c:pt>
                <c:pt idx="1">
                  <c:v>2</c:v>
                </c:pt>
              </c:numCache>
            </c:numRef>
          </c:xVal>
          <c:yVal>
            <c:numRef>
              <c:f>Sheet1!$D$4:$E$4</c:f>
              <c:numCache>
                <c:formatCode>General</c:formatCode>
                <c:ptCount val="2"/>
                <c:pt idx="0">
                  <c:v>3</c:v>
                </c:pt>
                <c:pt idx="1">
                  <c:v>3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ออกใบแจ้งหนี้ขาย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Sheet1!$B$5:$C$5</c:f>
              <c:numCache>
                <c:formatCode>General</c:formatCode>
                <c:ptCount val="2"/>
                <c:pt idx="0">
                  <c:v>12</c:v>
                </c:pt>
                <c:pt idx="1">
                  <c:v>4</c:v>
                </c:pt>
              </c:numCache>
            </c:numRef>
          </c:xVal>
          <c:yVal>
            <c:numRef>
              <c:f>Sheet1!$D$5:$E$5</c:f>
              <c:numCache>
                <c:formatCode>General</c:formatCode>
                <c:ptCount val="2"/>
                <c:pt idx="0">
                  <c:v>4</c:v>
                </c:pt>
                <c:pt idx="1">
                  <c:v>4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ติดตามลูกหนี้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Sheet1!$B$6:$C$6</c:f>
              <c:numCache>
                <c:formatCode>General</c:formatCode>
                <c:ptCount val="2"/>
                <c:pt idx="0">
                  <c:v>10</c:v>
                </c:pt>
                <c:pt idx="1">
                  <c:v>6</c:v>
                </c:pt>
              </c:numCache>
            </c:numRef>
          </c:xVal>
          <c:yVal>
            <c:numRef>
              <c:f>Sheet1!$D$6:$E$6</c:f>
              <c:numCache>
                <c:formatCode>General</c:formatCode>
                <c:ptCount val="2"/>
                <c:pt idx="0">
                  <c:v>5</c:v>
                </c:pt>
                <c:pt idx="1">
                  <c:v>5</c:v>
                </c:pt>
              </c:numCache>
            </c:numRef>
          </c:yVal>
          <c:smooth val="0"/>
        </c:ser>
        <c:axId val="24001"/>
        <c:axId val="24002"/>
      </c:scatterChart>
      <c:valAx>
        <c:axId val="24001"/>
        <c:scaling>
          <c:orientation val="minMax"/>
          <c:max val="50"/>
          <c:min val="0"/>
        </c:scaling>
        <c:delete val="0"/>
        <c:axPos val="t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4002"/>
        <c:crosses val="min"/>
        <c:crossBetween val="midCat"/>
        <c:majorUnit val="10"/>
      </c:valAx>
      <c:valAx>
        <c:axId val="24002"/>
        <c:scaling>
          <c:orientation val="maxMin"/>
          <c:max val="7.5"/>
          <c:min val="0.5"/>
        </c:scaling>
        <c:delete val="1"/>
        <c:axPos val="l"/>
        <c:numFmt formatCode="General" sourceLinked="0"/>
        <c:majorTickMark val="none"/>
        <c:minorTickMark val="none"/>
        <c:tickLblPos val="none"/>
        <c:crossAx val="24001"/>
        <c:crosses val="autoZero"/>
        <c:crossBetween val="midCat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เริ่ม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1</c:v>
                </c:pt>
                <c:pt idx="2">
                  <c:v>2.5</c:v>
                </c:pt>
                <c:pt idx="3">
                  <c:v>5</c:v>
                </c:pt>
                <c:pt idx="4">
                  <c:v>5.75</c:v>
                </c:pt>
                <c:pt idx="5">
                  <c:v>6</c:v>
                </c:pt>
                <c:pt idx="6">
                  <c:v>6.5</c:v>
                </c:pt>
                <c:pt idx="7">
                  <c:v>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ระยะเวลา</c:v>
                </c:pt>
              </c:strCache>
            </c:strRef>
          </c:tx>
          <c:spPr>
            <a:solidFill>
              <a:srgbClr val="90B4E4"/>
            </a:solidFill>
            <a:ln>
              <a:noFill/>
            </a:ln>
          </c:spPr>
          <c:invertIfNegative val="0"/>
          <c:dPt>
            <c:idx val="5"/>
            <c:invertIfNegative val="0"/>
            <c:bubble3D val="0"/>
            <c:spPr>
              <a:solidFill>
                <a:srgbClr val="2A5EA0"/>
              </a:solidFill>
              <a:ln>
                <a:noFill/>
              </a:ln>
            </c:spPr>
          </c:dPt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1.5</c:v>
                </c:pt>
                <c:pt idx="2">
                  <c:v>2.5</c:v>
                </c:pt>
                <c:pt idx="3">
                  <c:v>1</c:v>
                </c:pt>
                <c:pt idx="4">
                  <c:v>0.25</c:v>
                </c:pt>
                <c:pt idx="5">
                  <c:v>0.5</c:v>
                </c:pt>
                <c:pt idx="6">
                  <c:v>3</c:v>
                </c:pt>
                <c:pt idx="7">
                  <c:v>2.5</c:v>
                </c:pt>
              </c:numCache>
            </c:numRef>
          </c:val>
        </c:ser>
        <c:gapWidth val="113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2"/>
          <c:min val="0"/>
        </c:scaling>
        <c:delete val="0"/>
        <c:axPos val="b"/>
        <c:majorGridlines>
          <c:spPr>
            <a:ln w="9525">
              <a:solidFill>
                <a:srgbClr val="E5E5E5"/>
              </a:solidFill>
            </a:ln>
          </c:spPr>
        </c:majorGridlines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พัฒนาและตั้งค่าระบบ</c:v>
                </c:pt>
              </c:strCache>
            </c:strRef>
          </c:tx>
          <c:spPr>
            <a:solidFill>
              <a:srgbClr val="2A5EA0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ไลเซนส์ซอฟต์แวร์</c:v>
                </c:pt>
              </c:strCache>
            </c:strRef>
          </c:tx>
          <c:spPr>
            <a:solidFill>
              <a:srgbClr val="BB731B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คลาวด์ปีแรก</c:v>
                </c:pt>
              </c:strCache>
            </c:strRef>
          </c:tx>
          <c:spPr>
            <a:solidFill>
              <a:srgbClr val="0D9298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อื่น ๆ</c:v>
                </c:pt>
              </c:strCache>
            </c:strRef>
          </c:tx>
          <c:spPr>
            <a:solidFill>
              <a:srgbClr val="A4A4A4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0.5</c:v>
                </c:pt>
              </c:numCache>
            </c:numRef>
          </c:val>
        </c:ser>
        <c:gapWidth val="100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"/>
          <c:min val="0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Relationship Id="rId3" Type="http://schemas.openxmlformats.org/officeDocument/2006/relationships/image" Target="../media/mark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Watermark A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1371600" y="-2103120"/>
            <a:ext cx="7315200" cy="4653280"/>
          </a:xfrm>
          <a:prstGeom prst="rect">
            <a:avLst/>
          </a:prstGeom>
        </p:spPr>
      </p:pic>
      <p:pic>
        <p:nvPicPr>
          <p:cNvPr id="11" name="Watermark B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4114800" y="2286000"/>
            <a:ext cx="7315200" cy="4653280"/>
          </a:xfrm>
          <a:prstGeom prst="rect">
            <a:avLst/>
          </a:prstGeom>
        </p:spPr>
      </p:pic>
      <p:sp>
        <p:nvSpPr>
          <p:cNvPr id="12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216B7F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216B7F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40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750" y="685800"/>
            <a:ext cx="4000500" cy="2035725"/>
          </a:xfrm>
          <a:prstGeom prst="rect">
            <a:avLst/>
          </a:prstGeom>
        </p:spPr>
      </p:pic>
      <p:sp>
        <p:nvSpPr>
          <p:cNvPr id="41" name="Accent Rule"/>
          <p:cNvSpPr/>
          <p:nvPr/>
        </p:nvSpPr>
        <p:spPr>
          <a:xfrm>
            <a:off x="2941320" y="3429000"/>
            <a:ext cx="6309360" cy="28575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Title Placeholder"/>
          <p:cNvSpPr>
            <a:spLocks noGrp="1"/>
          </p:cNvSpPr>
          <p:nvPr>
            <p:ph type="ctrTitle"/>
          </p:nvPr>
        </p:nvSpPr>
        <p:spPr>
          <a:xfrm>
            <a:off x="914400" y="3715200"/>
            <a:ext cx="10363200" cy="2057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15000"/>
              </a:lnSpc>
              <a:buNone/>
              <a:def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15000"/>
              </a:lnSpc>
              <a:buNone/>
            </a:pPr>
            <a:r>
              <a: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PROPOSAL</a:t>
            </a:r>
          </a:p>
        </p:txBody>
      </p:sp>
      <p:sp>
        <p:nvSpPr>
          <p:cNvPr id="43" name="Subtitle"/>
          <p:cNvSpPr>
            <a:spLocks noGrp="1"/>
          </p:cNvSpPr>
          <p:nvPr>
            <p:ph type="subTitle" idx="1"/>
          </p:nvPr>
        </p:nvSpPr>
        <p:spPr>
          <a:xfrm>
            <a:off x="914400" y="590976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ctr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4" name="Date Placeholder"/>
          <p:cNvSpPr>
            <a:spLocks noGrp="1"/>
          </p:cNvSpPr>
          <p:nvPr>
            <p:ph type="dt" idx="10"/>
          </p:nvPr>
        </p:nvSpPr>
        <p:spPr>
          <a:xfrm>
            <a:off x="22860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4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Heading"/>
          <p:cNvSpPr>
            <a:spLocks noGrp="1"/>
          </p:cNvSpPr>
          <p:nvPr>
            <p:ph type="body" idx="3"/>
          </p:nvPr>
        </p:nvSpPr>
        <p:spPr>
          <a:xfrm>
            <a:off x="91440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หัวคอลัมน์ซ้าย</a:t>
            </a:r>
          </a:p>
        </p:txBody>
      </p:sp>
      <p:sp>
        <p:nvSpPr>
          <p:cNvPr id="13" name="Left Content"/>
          <p:cNvSpPr>
            <a:spLocks noGrp="1"/>
          </p:cNvSpPr>
          <p:nvPr>
            <p:ph type="body" idx="1"/>
          </p:nvPr>
        </p:nvSpPr>
        <p:spPr>
          <a:xfrm>
            <a:off x="91440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4" name="Right Heading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หัวคอลัมน์ขวา</a:t>
            </a:r>
          </a:p>
        </p:txBody>
      </p:sp>
      <p:sp>
        <p:nvSpPr>
          <p:cNvPr id="15" name="Right Content"/>
          <p:cNvSpPr>
            <a:spLocks noGrp="1"/>
          </p:cNvSpPr>
          <p:nvPr>
            <p:ph type="body" idx="2"/>
          </p:nvPr>
        </p:nvSpPr>
        <p:spPr>
          <a:xfrm>
            <a:off x="618744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0" y="438912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Ask Veil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6324F">
              <a:alpha val="5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89000"/>
              </a:lnSpc>
              <a:buNone/>
              <a:def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89000"/>
              </a:lnSpc>
              <a:buNone/>
            </a:pPr>
            <a:r>
              <a: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1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20 Title Slide Gradient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1 Plan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3566160" y="2057400"/>
            <a:ext cx="7711440" cy="31089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Period 1"/>
          <p:cNvSpPr>
            <a:spLocks noGrp="1"/>
          </p:cNvSpPr>
          <p:nvPr>
            <p:ph type="body" idx="20"/>
          </p:nvPr>
        </p:nvSpPr>
        <p:spPr>
          <a:xfrm>
            <a:off x="35661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</a:t>
            </a:r>
          </a:p>
        </p:txBody>
      </p:sp>
      <p:sp>
        <p:nvSpPr>
          <p:cNvPr id="14" name="Period 2"/>
          <p:cNvSpPr>
            <a:spLocks noGrp="1"/>
          </p:cNvSpPr>
          <p:nvPr>
            <p:ph type="body" idx="21"/>
          </p:nvPr>
        </p:nvSpPr>
        <p:spPr>
          <a:xfrm>
            <a:off x="42087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ด.2</a:t>
            </a:r>
          </a:p>
        </p:txBody>
      </p:sp>
      <p:sp>
        <p:nvSpPr>
          <p:cNvPr id="15" name="Period 3"/>
          <p:cNvSpPr>
            <a:spLocks noGrp="1"/>
          </p:cNvSpPr>
          <p:nvPr>
            <p:ph type="body" idx="22"/>
          </p:nvPr>
        </p:nvSpPr>
        <p:spPr>
          <a:xfrm>
            <a:off x="48514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ด.3</a:t>
            </a:r>
          </a:p>
        </p:txBody>
      </p:sp>
      <p:sp>
        <p:nvSpPr>
          <p:cNvPr id="16" name="Period 4"/>
          <p:cNvSpPr>
            <a:spLocks noGrp="1"/>
          </p:cNvSpPr>
          <p:nvPr>
            <p:ph type="body" idx="23"/>
          </p:nvPr>
        </p:nvSpPr>
        <p:spPr>
          <a:xfrm>
            <a:off x="54940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ด.4</a:t>
            </a:r>
          </a:p>
        </p:txBody>
      </p:sp>
      <p:sp>
        <p:nvSpPr>
          <p:cNvPr id="17" name="Period 5"/>
          <p:cNvSpPr>
            <a:spLocks noGrp="1"/>
          </p:cNvSpPr>
          <p:nvPr>
            <p:ph type="body" idx="24"/>
          </p:nvPr>
        </p:nvSpPr>
        <p:spPr>
          <a:xfrm>
            <a:off x="61366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ด.5</a:t>
            </a:r>
          </a:p>
        </p:txBody>
      </p:sp>
      <p:sp>
        <p:nvSpPr>
          <p:cNvPr id="18" name="Period 6"/>
          <p:cNvSpPr>
            <a:spLocks noGrp="1"/>
          </p:cNvSpPr>
          <p:nvPr>
            <p:ph type="body" idx="25"/>
          </p:nvPr>
        </p:nvSpPr>
        <p:spPr>
          <a:xfrm>
            <a:off x="67792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ด.6</a:t>
            </a:r>
          </a:p>
        </p:txBody>
      </p:sp>
      <p:sp>
        <p:nvSpPr>
          <p:cNvPr id="19" name="Period 7"/>
          <p:cNvSpPr>
            <a:spLocks noGrp="1"/>
          </p:cNvSpPr>
          <p:nvPr>
            <p:ph type="body" idx="26"/>
          </p:nvPr>
        </p:nvSpPr>
        <p:spPr>
          <a:xfrm>
            <a:off x="74218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ด.7</a:t>
            </a:r>
          </a:p>
        </p:txBody>
      </p:sp>
      <p:sp>
        <p:nvSpPr>
          <p:cNvPr id="20" name="Period 8"/>
          <p:cNvSpPr>
            <a:spLocks noGrp="1"/>
          </p:cNvSpPr>
          <p:nvPr>
            <p:ph type="body" idx="27"/>
          </p:nvPr>
        </p:nvSpPr>
        <p:spPr>
          <a:xfrm>
            <a:off x="80645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ด.8</a:t>
            </a:r>
          </a:p>
        </p:txBody>
      </p:sp>
      <p:sp>
        <p:nvSpPr>
          <p:cNvPr id="21" name="Period 9"/>
          <p:cNvSpPr>
            <a:spLocks noGrp="1"/>
          </p:cNvSpPr>
          <p:nvPr>
            <p:ph type="body" idx="28"/>
          </p:nvPr>
        </p:nvSpPr>
        <p:spPr>
          <a:xfrm>
            <a:off x="87071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ด.9</a:t>
            </a:r>
          </a:p>
        </p:txBody>
      </p:sp>
      <p:sp>
        <p:nvSpPr>
          <p:cNvPr id="22" name="Period 10"/>
          <p:cNvSpPr>
            <a:spLocks noGrp="1"/>
          </p:cNvSpPr>
          <p:nvPr>
            <p:ph type="body" idx="29"/>
          </p:nvPr>
        </p:nvSpPr>
        <p:spPr>
          <a:xfrm>
            <a:off x="93497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ด.10</a:t>
            </a:r>
          </a:p>
        </p:txBody>
      </p:sp>
      <p:sp>
        <p:nvSpPr>
          <p:cNvPr id="23" name="Period 11"/>
          <p:cNvSpPr>
            <a:spLocks noGrp="1"/>
          </p:cNvSpPr>
          <p:nvPr>
            <p:ph type="body" idx="30"/>
          </p:nvPr>
        </p:nvSpPr>
        <p:spPr>
          <a:xfrm>
            <a:off x="99923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ด.11</a:t>
            </a:r>
          </a:p>
        </p:txBody>
      </p:sp>
      <p:sp>
        <p:nvSpPr>
          <p:cNvPr id="24" name="Period 12"/>
          <p:cNvSpPr>
            <a:spLocks noGrp="1"/>
          </p:cNvSpPr>
          <p:nvPr>
            <p:ph type="body" idx="31"/>
          </p:nvPr>
        </p:nvSpPr>
        <p:spPr>
          <a:xfrm>
            <a:off x="106349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ด.12</a:t>
            </a:r>
          </a:p>
        </p:txBody>
      </p:sp>
      <p:sp>
        <p:nvSpPr>
          <p:cNvPr id="25" name="Row 1 Label"/>
          <p:cNvSpPr>
            <a:spLocks noGrp="1"/>
          </p:cNvSpPr>
          <p:nvPr>
            <p:ph type="body" idx="32"/>
          </p:nvPr>
        </p:nvSpPr>
        <p:spPr>
          <a:xfrm>
            <a:off x="914400" y="20574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1. ชื่อเฟส</a:t>
            </a:r>
          </a:p>
        </p:txBody>
      </p:sp>
      <p:sp>
        <p:nvSpPr>
          <p:cNvPr id="26" name="Row 1 Duration"/>
          <p:cNvSpPr>
            <a:spLocks noGrp="1"/>
          </p:cNvSpPr>
          <p:nvPr>
            <p:ph type="body" idx="33"/>
          </p:nvPr>
        </p:nvSpPr>
        <p:spPr>
          <a:xfrm>
            <a:off x="2651760" y="20574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7" name="Row 2 Label"/>
          <p:cNvSpPr>
            <a:spLocks noGrp="1"/>
          </p:cNvSpPr>
          <p:nvPr>
            <p:ph type="body" idx="34"/>
          </p:nvPr>
        </p:nvSpPr>
        <p:spPr>
          <a:xfrm>
            <a:off x="914400" y="24460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2. ชื่อเฟส</a:t>
            </a:r>
          </a:p>
        </p:txBody>
      </p:sp>
      <p:sp>
        <p:nvSpPr>
          <p:cNvPr id="28" name="Row 2 Duration"/>
          <p:cNvSpPr>
            <a:spLocks noGrp="1"/>
          </p:cNvSpPr>
          <p:nvPr>
            <p:ph type="body" idx="35"/>
          </p:nvPr>
        </p:nvSpPr>
        <p:spPr>
          <a:xfrm>
            <a:off x="2651760" y="24460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9" name="Row 3 Label"/>
          <p:cNvSpPr>
            <a:spLocks noGrp="1"/>
          </p:cNvSpPr>
          <p:nvPr>
            <p:ph type="body" idx="36"/>
          </p:nvPr>
        </p:nvSpPr>
        <p:spPr>
          <a:xfrm>
            <a:off x="914400" y="28346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3. ชื่อเฟส</a:t>
            </a:r>
          </a:p>
        </p:txBody>
      </p:sp>
      <p:sp>
        <p:nvSpPr>
          <p:cNvPr id="30" name="Row 3 Duration"/>
          <p:cNvSpPr>
            <a:spLocks noGrp="1"/>
          </p:cNvSpPr>
          <p:nvPr>
            <p:ph type="body" idx="37"/>
          </p:nvPr>
        </p:nvSpPr>
        <p:spPr>
          <a:xfrm>
            <a:off x="2651760" y="28346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1" name="Row 4 Label"/>
          <p:cNvSpPr>
            <a:spLocks noGrp="1"/>
          </p:cNvSpPr>
          <p:nvPr>
            <p:ph type="body" idx="38"/>
          </p:nvPr>
        </p:nvSpPr>
        <p:spPr>
          <a:xfrm>
            <a:off x="914400" y="322326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4. ชื่อเฟส</a:t>
            </a:r>
          </a:p>
        </p:txBody>
      </p:sp>
      <p:sp>
        <p:nvSpPr>
          <p:cNvPr id="32" name="Row 4 Duration"/>
          <p:cNvSpPr>
            <a:spLocks noGrp="1"/>
          </p:cNvSpPr>
          <p:nvPr>
            <p:ph type="body" idx="39"/>
          </p:nvPr>
        </p:nvSpPr>
        <p:spPr>
          <a:xfrm>
            <a:off x="2651760" y="322326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3" name="Row 5 Label"/>
          <p:cNvSpPr>
            <a:spLocks noGrp="1"/>
          </p:cNvSpPr>
          <p:nvPr>
            <p:ph type="body" idx="40"/>
          </p:nvPr>
        </p:nvSpPr>
        <p:spPr>
          <a:xfrm>
            <a:off x="914400" y="361188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5. ชื่อเฟส</a:t>
            </a:r>
          </a:p>
        </p:txBody>
      </p:sp>
      <p:sp>
        <p:nvSpPr>
          <p:cNvPr id="34" name="Row 5 Duration"/>
          <p:cNvSpPr>
            <a:spLocks noGrp="1"/>
          </p:cNvSpPr>
          <p:nvPr>
            <p:ph type="body" idx="41"/>
          </p:nvPr>
        </p:nvSpPr>
        <p:spPr>
          <a:xfrm>
            <a:off x="2651760" y="361188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5" name="Row 6 Label"/>
          <p:cNvSpPr>
            <a:spLocks noGrp="1"/>
          </p:cNvSpPr>
          <p:nvPr>
            <p:ph type="body" idx="42"/>
          </p:nvPr>
        </p:nvSpPr>
        <p:spPr>
          <a:xfrm>
            <a:off x="914400" y="40005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6. ชื่อเฟส</a:t>
            </a:r>
          </a:p>
        </p:txBody>
      </p:sp>
      <p:sp>
        <p:nvSpPr>
          <p:cNvPr id="36" name="Row 6 Duration"/>
          <p:cNvSpPr>
            <a:spLocks noGrp="1"/>
          </p:cNvSpPr>
          <p:nvPr>
            <p:ph type="body" idx="43"/>
          </p:nvPr>
        </p:nvSpPr>
        <p:spPr>
          <a:xfrm>
            <a:off x="2651760" y="40005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7" name="Row 7 Label"/>
          <p:cNvSpPr>
            <a:spLocks noGrp="1"/>
          </p:cNvSpPr>
          <p:nvPr>
            <p:ph type="body" idx="44"/>
          </p:nvPr>
        </p:nvSpPr>
        <p:spPr>
          <a:xfrm>
            <a:off x="914400" y="43891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7. ชื่อเฟส</a:t>
            </a:r>
          </a:p>
        </p:txBody>
      </p:sp>
      <p:sp>
        <p:nvSpPr>
          <p:cNvPr id="38" name="Row 7 Duration"/>
          <p:cNvSpPr>
            <a:spLocks noGrp="1"/>
          </p:cNvSpPr>
          <p:nvPr>
            <p:ph type="body" idx="45"/>
          </p:nvPr>
        </p:nvSpPr>
        <p:spPr>
          <a:xfrm>
            <a:off x="2651760" y="43891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9" name="Row 8 Label"/>
          <p:cNvSpPr>
            <a:spLocks noGrp="1"/>
          </p:cNvSpPr>
          <p:nvPr>
            <p:ph type="body" idx="46"/>
          </p:nvPr>
        </p:nvSpPr>
        <p:spPr>
          <a:xfrm>
            <a:off x="914400" y="47777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8. ชื่อเฟส</a:t>
            </a:r>
          </a:p>
        </p:txBody>
      </p:sp>
      <p:sp>
        <p:nvSpPr>
          <p:cNvPr id="40" name="Row 8 Duration"/>
          <p:cNvSpPr>
            <a:spLocks noGrp="1"/>
          </p:cNvSpPr>
          <p:nvPr>
            <p:ph type="body" idx="47"/>
          </p:nvPr>
        </p:nvSpPr>
        <p:spPr>
          <a:xfrm>
            <a:off x="2651760" y="47777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41" name="Key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■ ช่วงงาน   ◆ ส่งมอบ / ตรวจรับ</a:t>
            </a:r>
          </a:p>
        </p:txBody>
      </p:sp>
      <p:sp>
        <p:nvSpPr>
          <p:cNvPr id="42" name="Assumption"/>
          <p:cNvSpPr>
            <a:spLocks noGrp="1"/>
          </p:cNvSpPr>
          <p:nvPr>
            <p:ph type="body" idx="3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นับจากวันลงนามสัญญา</a:t>
            </a:r>
          </a:p>
        </p:txBody>
      </p:sp>
      <p:sp>
        <p:nvSpPr>
          <p:cNvPr id="43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4" name="Takeaway Label"/>
          <p:cNvSpPr>
            <a:spLocks noGrp="1"/>
          </p:cNvSpPr>
          <p:nvPr>
            <p:ph type="body" idx="4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5" name="Takeaway Copy"/>
          <p:cNvSpPr>
            <a:spLocks noGrp="1"/>
          </p:cNvSpPr>
          <p:nvPr>
            <p:ph type="body" idx="5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2 Compos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otal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509016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0.0 ล้านบาท</a:t>
            </a:r>
          </a:p>
        </p:txBody>
      </p:sp>
      <p:sp>
        <p:nvSpPr>
          <p:cNvPr id="13" name="Total Label"/>
          <p:cNvSpPr>
            <a:spLocks noGrp="1"/>
          </p:cNvSpPr>
          <p:nvPr>
            <p:ph type="body" idx="3"/>
          </p:nvPr>
        </p:nvSpPr>
        <p:spPr>
          <a:xfrm>
            <a:off x="914400" y="2423160"/>
            <a:ext cx="509016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ยอดรวมนี้คืออะไร</a:t>
            </a:r>
          </a:p>
        </p:txBody>
      </p:sp>
      <p:sp>
        <p:nvSpPr>
          <p:cNvPr id="14" name="Intro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10058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เงื่อนไขของตัวเลข: รวม VAT หรือไม่ ระยะสัญญา</a:t>
            </a:r>
          </a:p>
        </p:txBody>
      </p:sp>
      <p:sp>
        <p:nvSpPr>
          <p:cNvPr id="15" name="Chart Placeholder"/>
          <p:cNvSpPr>
            <a:spLocks noGrp="1"/>
          </p:cNvSpPr>
          <p:nvPr>
            <p:ph type="chart" idx="1"/>
          </p:nvPr>
        </p:nvSpPr>
        <p:spPr>
          <a:xfrm>
            <a:off x="2697480" y="3703320"/>
            <a:ext cx="7299960" cy="1371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6" name="Bar 1 Label"/>
          <p:cNvSpPr>
            <a:spLocks noGrp="1"/>
          </p:cNvSpPr>
          <p:nvPr>
            <p:ph type="body" idx="20"/>
          </p:nvPr>
        </p:nvSpPr>
        <p:spPr>
          <a:xfrm>
            <a:off x="914400" y="37033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7" name="Bar 1 Total"/>
          <p:cNvSpPr>
            <a:spLocks noGrp="1"/>
          </p:cNvSpPr>
          <p:nvPr>
            <p:ph type="body" idx="21"/>
          </p:nvPr>
        </p:nvSpPr>
        <p:spPr>
          <a:xfrm>
            <a:off x="10180320" y="37033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18" name="Bar 2 Label"/>
          <p:cNvSpPr>
            <a:spLocks noGrp="1"/>
          </p:cNvSpPr>
          <p:nvPr>
            <p:ph type="body" idx="22"/>
          </p:nvPr>
        </p:nvSpPr>
        <p:spPr>
          <a:xfrm>
            <a:off x="914400" y="41605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9" name="Bar 2 Total"/>
          <p:cNvSpPr>
            <a:spLocks noGrp="1"/>
          </p:cNvSpPr>
          <p:nvPr>
            <p:ph type="body" idx="23"/>
          </p:nvPr>
        </p:nvSpPr>
        <p:spPr>
          <a:xfrm>
            <a:off x="10180320" y="41605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0" name="Bar 3 Label"/>
          <p:cNvSpPr>
            <a:spLocks noGrp="1"/>
          </p:cNvSpPr>
          <p:nvPr>
            <p:ph type="body" idx="24"/>
          </p:nvPr>
        </p:nvSpPr>
        <p:spPr>
          <a:xfrm>
            <a:off x="914400" y="46177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21" name="Bar 3 Total"/>
          <p:cNvSpPr>
            <a:spLocks noGrp="1"/>
          </p:cNvSpPr>
          <p:nvPr>
            <p:ph type="body" idx="25"/>
          </p:nvPr>
        </p:nvSpPr>
        <p:spPr>
          <a:xfrm>
            <a:off x="10180320" y="46177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2" name="Swatch 1"/>
          <p:cNvSpPr/>
          <p:nvPr/>
        </p:nvSpPr>
        <p:spPr>
          <a:xfrm>
            <a:off x="914400" y="2999740"/>
            <a:ext cx="127000" cy="12700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egment 1 Name"/>
          <p:cNvSpPr>
            <a:spLocks noGrp="1"/>
          </p:cNvSpPr>
          <p:nvPr>
            <p:ph type="body" idx="26"/>
          </p:nvPr>
        </p:nvSpPr>
        <p:spPr>
          <a:xfrm>
            <a:off x="113284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1</a:t>
            </a:r>
          </a:p>
        </p:txBody>
      </p:sp>
      <p:sp>
        <p:nvSpPr>
          <p:cNvPr id="24" name="Segment 1 Value"/>
          <p:cNvSpPr>
            <a:spLocks noGrp="1"/>
          </p:cNvSpPr>
          <p:nvPr>
            <p:ph type="body" idx="27"/>
          </p:nvPr>
        </p:nvSpPr>
        <p:spPr>
          <a:xfrm>
            <a:off x="91440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5" name="Segment 1 Share"/>
          <p:cNvSpPr>
            <a:spLocks noGrp="1"/>
          </p:cNvSpPr>
          <p:nvPr>
            <p:ph type="body" idx="28"/>
          </p:nvPr>
        </p:nvSpPr>
        <p:spPr>
          <a:xfrm>
            <a:off x="224028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26" name="Swatch 2"/>
          <p:cNvSpPr/>
          <p:nvPr/>
        </p:nvSpPr>
        <p:spPr>
          <a:xfrm>
            <a:off x="3550920" y="2999740"/>
            <a:ext cx="127000" cy="12700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egment 2 Name"/>
          <p:cNvSpPr>
            <a:spLocks noGrp="1"/>
          </p:cNvSpPr>
          <p:nvPr>
            <p:ph type="body" idx="29"/>
          </p:nvPr>
        </p:nvSpPr>
        <p:spPr>
          <a:xfrm>
            <a:off x="376936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2</a:t>
            </a:r>
          </a:p>
        </p:txBody>
      </p:sp>
      <p:sp>
        <p:nvSpPr>
          <p:cNvPr id="28" name="Segment 2 Value"/>
          <p:cNvSpPr>
            <a:spLocks noGrp="1"/>
          </p:cNvSpPr>
          <p:nvPr>
            <p:ph type="body" idx="30"/>
          </p:nvPr>
        </p:nvSpPr>
        <p:spPr>
          <a:xfrm>
            <a:off x="355092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9" name="Segment 2 Share"/>
          <p:cNvSpPr>
            <a:spLocks noGrp="1"/>
          </p:cNvSpPr>
          <p:nvPr>
            <p:ph type="body" idx="31"/>
          </p:nvPr>
        </p:nvSpPr>
        <p:spPr>
          <a:xfrm>
            <a:off x="487680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0" name="Swatch 3"/>
          <p:cNvSpPr/>
          <p:nvPr/>
        </p:nvSpPr>
        <p:spPr>
          <a:xfrm>
            <a:off x="6187440" y="2999740"/>
            <a:ext cx="127000" cy="12700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egment 3 Name"/>
          <p:cNvSpPr>
            <a:spLocks noGrp="1"/>
          </p:cNvSpPr>
          <p:nvPr>
            <p:ph type="body" idx="32"/>
          </p:nvPr>
        </p:nvSpPr>
        <p:spPr>
          <a:xfrm>
            <a:off x="640588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32" name="Segment 3 Value"/>
          <p:cNvSpPr>
            <a:spLocks noGrp="1"/>
          </p:cNvSpPr>
          <p:nvPr>
            <p:ph type="body" idx="33"/>
          </p:nvPr>
        </p:nvSpPr>
        <p:spPr>
          <a:xfrm>
            <a:off x="618744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3" name="Segment 3 Share"/>
          <p:cNvSpPr>
            <a:spLocks noGrp="1"/>
          </p:cNvSpPr>
          <p:nvPr>
            <p:ph type="body" idx="34"/>
          </p:nvPr>
        </p:nvSpPr>
        <p:spPr>
          <a:xfrm>
            <a:off x="751332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4" name="Swatch 4"/>
          <p:cNvSpPr/>
          <p:nvPr/>
        </p:nvSpPr>
        <p:spPr>
          <a:xfrm>
            <a:off x="8823960" y="2999740"/>
            <a:ext cx="127000" cy="127000"/>
          </a:xfrm>
          <a:prstGeom prst="rect">
            <a:avLst/>
          </a:prstGeom>
          <a:solidFill>
            <a:srgbClr val="A4A4A4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egment 4 Name"/>
          <p:cNvSpPr>
            <a:spLocks noGrp="1"/>
          </p:cNvSpPr>
          <p:nvPr>
            <p:ph type="body" idx="35"/>
          </p:nvPr>
        </p:nvSpPr>
        <p:spPr>
          <a:xfrm>
            <a:off x="904240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4</a:t>
            </a:r>
          </a:p>
        </p:txBody>
      </p:sp>
      <p:sp>
        <p:nvSpPr>
          <p:cNvPr id="36" name="Segment 4 Value"/>
          <p:cNvSpPr>
            <a:spLocks noGrp="1"/>
          </p:cNvSpPr>
          <p:nvPr>
            <p:ph type="body" idx="36"/>
          </p:nvPr>
        </p:nvSpPr>
        <p:spPr>
          <a:xfrm>
            <a:off x="882396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7" name="Segment 4 Share"/>
          <p:cNvSpPr>
            <a:spLocks noGrp="1"/>
          </p:cNvSpPr>
          <p:nvPr>
            <p:ph type="body" idx="37"/>
          </p:nvPr>
        </p:nvSpPr>
        <p:spPr>
          <a:xfrm>
            <a:off x="1014984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8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ที่มาของตัวเลข · ปัดเศษ</a:t>
            </a:r>
          </a:p>
        </p:txBody>
      </p:sp>
      <p:sp>
        <p:nvSpPr>
          <p:cNvPr id="39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0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1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3 KPI + Tr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le 1 Rule"/>
          <p:cNvSpPr/>
          <p:nvPr/>
        </p:nvSpPr>
        <p:spPr>
          <a:xfrm>
            <a:off x="914400" y="1691640"/>
            <a:ext cx="333248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le 1 Label"/>
          <p:cNvSpPr>
            <a:spLocks noGrp="1"/>
          </p:cNvSpPr>
          <p:nvPr>
            <p:ph type="body" idx="20"/>
          </p:nvPr>
        </p:nvSpPr>
        <p:spPr>
          <a:xfrm>
            <a:off x="91440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4" name="Tile 1 Value"/>
          <p:cNvSpPr>
            <a:spLocks noGrp="1"/>
          </p:cNvSpPr>
          <p:nvPr>
            <p:ph type="body" idx="21"/>
          </p:nvPr>
        </p:nvSpPr>
        <p:spPr>
          <a:xfrm>
            <a:off x="91440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15" name="Tile 1 Delta"/>
          <p:cNvSpPr>
            <a:spLocks noGrp="1"/>
          </p:cNvSpPr>
          <p:nvPr>
            <p:ph type="body" idx="22"/>
          </p:nvPr>
        </p:nvSpPr>
        <p:spPr>
          <a:xfrm>
            <a:off x="91440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16" name="Tile 2 Rule"/>
          <p:cNvSpPr/>
          <p:nvPr/>
        </p:nvSpPr>
        <p:spPr>
          <a:xfrm>
            <a:off x="4429760" y="1691640"/>
            <a:ext cx="333248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Tile 2 Label"/>
          <p:cNvSpPr>
            <a:spLocks noGrp="1"/>
          </p:cNvSpPr>
          <p:nvPr>
            <p:ph type="body" idx="23"/>
          </p:nvPr>
        </p:nvSpPr>
        <p:spPr>
          <a:xfrm>
            <a:off x="442976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8" name="Tile 2 Value"/>
          <p:cNvSpPr>
            <a:spLocks noGrp="1"/>
          </p:cNvSpPr>
          <p:nvPr>
            <p:ph type="body" idx="24"/>
          </p:nvPr>
        </p:nvSpPr>
        <p:spPr>
          <a:xfrm>
            <a:off x="442976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19" name="Tile 2 Delta"/>
          <p:cNvSpPr>
            <a:spLocks noGrp="1"/>
          </p:cNvSpPr>
          <p:nvPr>
            <p:ph type="body" idx="25"/>
          </p:nvPr>
        </p:nvSpPr>
        <p:spPr>
          <a:xfrm>
            <a:off x="442976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20" name="Tile 3 Rule"/>
          <p:cNvSpPr/>
          <p:nvPr/>
        </p:nvSpPr>
        <p:spPr>
          <a:xfrm>
            <a:off x="7945120" y="1691640"/>
            <a:ext cx="333248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Tile 3 Label"/>
          <p:cNvSpPr>
            <a:spLocks noGrp="1"/>
          </p:cNvSpPr>
          <p:nvPr>
            <p:ph type="body" idx="26"/>
          </p:nvPr>
        </p:nvSpPr>
        <p:spPr>
          <a:xfrm>
            <a:off x="794512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22" name="Tile 3 Value"/>
          <p:cNvSpPr>
            <a:spLocks noGrp="1"/>
          </p:cNvSpPr>
          <p:nvPr>
            <p:ph type="body" idx="27"/>
          </p:nvPr>
        </p:nvSpPr>
        <p:spPr>
          <a:xfrm>
            <a:off x="794512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23" name="Tile 3 Delta"/>
          <p:cNvSpPr>
            <a:spLocks noGrp="1"/>
          </p:cNvSpPr>
          <p:nvPr>
            <p:ph type="body" idx="28"/>
          </p:nvPr>
        </p:nvSpPr>
        <p:spPr>
          <a:xfrm>
            <a:off x="794512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24" name="Chart Placeholder"/>
          <p:cNvSpPr>
            <a:spLocks noGrp="1"/>
          </p:cNvSpPr>
          <p:nvPr>
            <p:ph type="chart" idx="1"/>
          </p:nvPr>
        </p:nvSpPr>
        <p:spPr>
          <a:xfrm>
            <a:off x="914400" y="3291840"/>
            <a:ext cx="10363200" cy="18745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25" name="Source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26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8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4 Before Af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64008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หน่วย · ทิศที่ดี (น้อยกว่าดีกว่า)</a:t>
            </a:r>
          </a:p>
        </p:txBody>
      </p:sp>
      <p:sp>
        <p:nvSpPr>
          <p:cNvPr id="13" name="Legend"/>
          <p:cNvSpPr>
            <a:spLocks noGrp="1"/>
          </p:cNvSpPr>
          <p:nvPr>
            <p:ph type="body" idx="3"/>
          </p:nvPr>
        </p:nvSpPr>
        <p:spPr>
          <a:xfrm>
            <a:off x="7620000" y="169164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● ก่อน   ● หลัง</a:t>
            </a:r>
          </a:p>
        </p:txBody>
      </p:sp>
      <p:sp>
        <p:nvSpPr>
          <p:cNvPr id="14" name="Chart Placeholder"/>
          <p:cNvSpPr>
            <a:spLocks noGrp="1"/>
          </p:cNvSpPr>
          <p:nvPr>
            <p:ph type="chart" idx="1"/>
          </p:nvPr>
        </p:nvSpPr>
        <p:spPr>
          <a:xfrm>
            <a:off x="3840480" y="2057400"/>
            <a:ext cx="5791200" cy="3072384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5" name="Row 1 Label"/>
          <p:cNvSpPr>
            <a:spLocks noGrp="1"/>
          </p:cNvSpPr>
          <p:nvPr>
            <p:ph type="body" idx="20"/>
          </p:nvPr>
        </p:nvSpPr>
        <p:spPr>
          <a:xfrm>
            <a:off x="914400" y="2377440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16" name="Row 1 Change"/>
          <p:cNvSpPr>
            <a:spLocks noGrp="1"/>
          </p:cNvSpPr>
          <p:nvPr>
            <p:ph type="body" idx="21"/>
          </p:nvPr>
        </p:nvSpPr>
        <p:spPr>
          <a:xfrm>
            <a:off x="9814560" y="2377440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17" name="Row 2 Label"/>
          <p:cNvSpPr>
            <a:spLocks noGrp="1"/>
          </p:cNvSpPr>
          <p:nvPr>
            <p:ph type="body" idx="22"/>
          </p:nvPr>
        </p:nvSpPr>
        <p:spPr>
          <a:xfrm>
            <a:off x="914400" y="2770632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18" name="Row 2 Change"/>
          <p:cNvSpPr>
            <a:spLocks noGrp="1"/>
          </p:cNvSpPr>
          <p:nvPr>
            <p:ph type="body" idx="23"/>
          </p:nvPr>
        </p:nvSpPr>
        <p:spPr>
          <a:xfrm>
            <a:off x="9814560" y="2770632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19" name="Row 3 Label"/>
          <p:cNvSpPr>
            <a:spLocks noGrp="1"/>
          </p:cNvSpPr>
          <p:nvPr>
            <p:ph type="body" idx="24"/>
          </p:nvPr>
        </p:nvSpPr>
        <p:spPr>
          <a:xfrm>
            <a:off x="914400" y="3163824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0" name="Row 3 Change"/>
          <p:cNvSpPr>
            <a:spLocks noGrp="1"/>
          </p:cNvSpPr>
          <p:nvPr>
            <p:ph type="body" idx="25"/>
          </p:nvPr>
        </p:nvSpPr>
        <p:spPr>
          <a:xfrm>
            <a:off x="9814560" y="3163824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1" name="Row 4 Label"/>
          <p:cNvSpPr>
            <a:spLocks noGrp="1"/>
          </p:cNvSpPr>
          <p:nvPr>
            <p:ph type="body" idx="26"/>
          </p:nvPr>
        </p:nvSpPr>
        <p:spPr>
          <a:xfrm>
            <a:off x="914400" y="3557016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2" name="Row 4 Change"/>
          <p:cNvSpPr>
            <a:spLocks noGrp="1"/>
          </p:cNvSpPr>
          <p:nvPr>
            <p:ph type="body" idx="27"/>
          </p:nvPr>
        </p:nvSpPr>
        <p:spPr>
          <a:xfrm>
            <a:off x="9814560" y="3557016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3" name="Row 5 Label"/>
          <p:cNvSpPr>
            <a:spLocks noGrp="1"/>
          </p:cNvSpPr>
          <p:nvPr>
            <p:ph type="body" idx="28"/>
          </p:nvPr>
        </p:nvSpPr>
        <p:spPr>
          <a:xfrm>
            <a:off x="914400" y="3950208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4" name="Row 5 Change"/>
          <p:cNvSpPr>
            <a:spLocks noGrp="1"/>
          </p:cNvSpPr>
          <p:nvPr>
            <p:ph type="body" idx="29"/>
          </p:nvPr>
        </p:nvSpPr>
        <p:spPr>
          <a:xfrm>
            <a:off x="9814560" y="3950208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5" name="Row 6 Label"/>
          <p:cNvSpPr>
            <a:spLocks noGrp="1"/>
          </p:cNvSpPr>
          <p:nvPr>
            <p:ph type="body" idx="30"/>
          </p:nvPr>
        </p:nvSpPr>
        <p:spPr>
          <a:xfrm>
            <a:off x="914400" y="4343400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6" name="Row 6 Change"/>
          <p:cNvSpPr>
            <a:spLocks noGrp="1"/>
          </p:cNvSpPr>
          <p:nvPr>
            <p:ph type="body" idx="31"/>
          </p:nvPr>
        </p:nvSpPr>
        <p:spPr>
          <a:xfrm>
            <a:off x="9814560" y="4343400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7" name="Row 7 Label"/>
          <p:cNvSpPr>
            <a:spLocks noGrp="1"/>
          </p:cNvSpPr>
          <p:nvPr>
            <p:ph type="body" idx="32"/>
          </p:nvPr>
        </p:nvSpPr>
        <p:spPr>
          <a:xfrm>
            <a:off x="914400" y="4736592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8" name="Row 7 Change"/>
          <p:cNvSpPr>
            <a:spLocks noGrp="1"/>
          </p:cNvSpPr>
          <p:nvPr>
            <p:ph type="body" idx="33"/>
          </p:nvPr>
        </p:nvSpPr>
        <p:spPr>
          <a:xfrm>
            <a:off x="9814560" y="4736592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9" name="Source"/>
          <p:cNvSpPr>
            <a:spLocks noGrp="1"/>
          </p:cNvSpPr>
          <p:nvPr>
            <p:ph type="body" idx="4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ที่มาของตัวเลข · ตัวเลขเต็มอยู่ภาคผนวก</a:t>
            </a:r>
          </a:p>
        </p:txBody>
      </p:sp>
      <p:sp>
        <p:nvSpPr>
          <p:cNvPr id="30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2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theme" Target="../theme/theme1.xml"/><Relationship Id="rId26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chart" Target="../charts/chart2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chart" Target="../charts/chart3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chart" Target="../charts/chart4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chart" Target="../charts/chart5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เปลี่ยนงานบัญชีให้ระบบทำแทน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NCT · สัมมนาลูกค้า 2569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เอกสารเกินกำลังคีย์ 1,200 ใบครั้งแรกเดือน พ.ค.</a:t>
            </a:r>
          </a:p>
        </p:txBody>
      </p:sp>
      <p:sp>
        <p:nvSpPr>
          <p:cNvPr id="3" name="TL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เอกสารเข้า มิ.ย.</a:t>
            </a:r>
          </a:p>
        </p:txBody>
      </p:sp>
      <p:sp>
        <p:nvSpPr>
          <p:cNvPr id="4" name="TV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1,150 ใบ</a:t>
            </a:r>
          </a:p>
        </p:txBody>
      </p:sp>
      <p:sp>
        <p:nvSpPr>
          <p:cNvPr id="5" name="TD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B3261E"/>
                </a:solidFill>
              </a:rPr>
              <a:t>▲ </a:t>
            </a:r>
            <a:r>
              <a:rPr lang="th-TH" dirty="0"/>
              <a:t>15% จาก ม.ค.</a:t>
            </a:r>
          </a:p>
        </p:txBody>
      </p:sp>
      <p:sp>
        <p:nvSpPr>
          <p:cNvPr id="6" name="TL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เวลาคีย์ต่อใบ</a:t>
            </a:r>
          </a:p>
        </p:txBody>
      </p:sp>
      <p:sp>
        <p:nvSpPr>
          <p:cNvPr id="7" name="TV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4 นาที</a:t>
            </a:r>
          </a:p>
        </p:txBody>
      </p:sp>
      <p:sp>
        <p:nvSpPr>
          <p:cNvPr id="8" name="TD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1A6647"/>
                </a:solidFill>
              </a:rPr>
              <a:t>▼ </a:t>
            </a:r>
            <a:r>
              <a:rPr lang="th-TH" dirty="0"/>
              <a:t>0.5 นาที จากปีก่อน</a:t>
            </a:r>
          </a:p>
        </p:txBody>
      </p:sp>
      <p:sp>
        <p:nvSpPr>
          <p:cNvPr id="9" name="TL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ชั่วโมงคีย์ต่อเดือน</a:t>
            </a:r>
          </a:p>
        </p:txBody>
      </p:sp>
      <p:sp>
        <p:nvSpPr>
          <p:cNvPr id="10" name="TV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77 ชม.</a:t>
            </a:r>
          </a:p>
        </p:txBody>
      </p:sp>
      <p:sp>
        <p:nvSpPr>
          <p:cNvPr id="11" name="TD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B3261E"/>
                </a:solidFill>
              </a:rPr>
              <a:t>▲ </a:t>
            </a:r>
            <a:r>
              <a:rPr lang="th-TH" dirty="0"/>
              <a:t>10 ชม. จาก ม.ค.</a:t>
            </a:r>
          </a:p>
        </p:txBody>
      </p:sp>
      <p:graphicFrame>
        <p:nvGraphicFramePr>
          <p:cNvPr id="12" name="Trend"/>
          <p:cNvGraphicFramePr>
            <a:graphicFrameLocks noGrp="1"/>
          </p:cNvGraphicFramePr>
          <p:nvPr>
            <p:ph type="chart" idx="1"/>
          </p:nvPr>
        </p:nvGraphicFramePr>
        <p:xfrm>
          <a:off x="914400" y="3291840"/>
          <a:ext cx="10363200" cy="1874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r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ใบต่อเดือน</a:t>
            </a:r>
          </a:p>
        </p:txBody>
      </p:sp>
      <p:sp>
        <p:nvSpPr>
          <p:cNvPr id="14" name="Tk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5" name="Tk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เดือนที่เกินกำลังคีย์คือเดือนที่ปิดงบนานสุด ต้องลดงานคีย์ ไม่ใช่เพิ่มคน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</p:txBody>
      </p:sp>
      <p:sp>
        <p:nvSpPr>
          <p:cNvPr id="4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ระบบล่มบ่อย ไม่มีคนดูแลประจำ</a:t>
            </a:r>
          </a:p>
          <a:p>
            <a:pPr/>
            <a:r>
              <a:rPr lang="th-TH" dirty="0"/>
              <a:t>ค่าใช้จ่ายไม่แน่นอน</a:t>
            </a:r>
          </a:p>
        </p:txBody>
      </p:sp>
      <p:sp>
        <p:nvSpPr>
          <p:cNvPr id="5" name="RH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</p:txBody>
      </p:sp>
      <p:sp>
        <p:nvSpPr>
          <p:cNvPr id="6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มอนิเตอร์ 24 ชั่วโมง แจ้งเตือนอัตโนมัติ</a:t>
            </a:r>
          </a:p>
          <a:p>
            <a:pPr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ลูกค้ารายเดิมลดงานบัญชีจาก 114 เหลือ 31 ชั่วโมงต่อเดือน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ชั่วโมงทำงานต่อเดือน · น้อยกว่าดีกว่า</a:t>
            </a:r>
          </a:p>
        </p:txBody>
      </p:sp>
      <p:sp>
        <p:nvSpPr>
          <p:cNvPr id="4" name="Legend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90B4E4"/>
                </a:solidFill>
              </a:rPr>
              <a:t>● </a:t>
            </a:r>
            <a:r>
              <a:rPr lang="th-TH" dirty="0"/>
              <a:t>ก่อน   </a:t>
            </a:r>
            <a:r>
              <a:rPr lang="th-TH" dirty="0">
                <a:solidFill>
                  <a:srgbClr val="2A5EA0"/>
                </a:solidFill>
              </a:rPr>
              <a:t>● </a:t>
            </a:r>
            <a:r>
              <a:rPr lang="th-TH" dirty="0"/>
              <a:t>หลัง</a:t>
            </a:r>
          </a:p>
        </p:txBody>
      </p:sp>
      <p:graphicFrame>
        <p:nvGraphicFramePr>
          <p:cNvPr id="5" name="Before After"/>
          <p:cNvGraphicFramePr>
            <a:graphicFrameLocks noGrp="1"/>
          </p:cNvGraphicFramePr>
          <p:nvPr>
            <p:ph type="chart" idx="1"/>
          </p:nvPr>
        </p:nvGraphicFramePr>
        <p:xfrm>
          <a:off x="3840480" y="2057400"/>
          <a:ext cx="5791200" cy="307238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ปิดงบสิ้นเดือน</a:t>
            </a:r>
          </a:p>
        </p:txBody>
      </p:sp>
      <p:sp>
        <p:nvSpPr>
          <p:cNvPr id="7" name="C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−32 ชม.</a:t>
            </a:r>
          </a:p>
        </p:txBody>
      </p:sp>
      <p:sp>
        <p:nvSpPr>
          <p:cNvPr id="8" name="R1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คีย์ใบแจ้งหนี้ซื้อ</a:t>
            </a:r>
          </a:p>
        </p:txBody>
      </p:sp>
      <p:sp>
        <p:nvSpPr>
          <p:cNvPr id="9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−25 ชม.</a:t>
            </a:r>
          </a:p>
        </p:txBody>
      </p:sp>
      <p:sp>
        <p:nvSpPr>
          <p:cNvPr id="10" name="R2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กระทบยอดธนาคาร</a:t>
            </a:r>
          </a:p>
        </p:txBody>
      </p:sp>
      <p:sp>
        <p:nvSpPr>
          <p:cNvPr id="11" name="C2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−14 ชม.</a:t>
            </a:r>
          </a:p>
        </p:txBody>
      </p:sp>
      <p:sp>
        <p:nvSpPr>
          <p:cNvPr id="12" name="R3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ออกใบแจ้งหนี้ขาย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−8 ชม.</a:t>
            </a:r>
          </a:p>
        </p:txBody>
      </p:sp>
      <p:sp>
        <p:nvSpPr>
          <p:cNvPr id="14" name="R4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ติดตามลูกหนี้</a:t>
            </a:r>
          </a:p>
        </p:txBody>
      </p:sp>
      <p:sp>
        <p:nvSpPr>
          <p:cNvPr id="15" name="C4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−4 ชม.</a:t>
            </a:r>
          </a:p>
        </p:txBody>
      </p:sp>
      <p:sp>
        <p:nvSpPr>
          <p:cNvPr id="16" name="Sr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ลูกค้าธุรกิจค้าปลีก ปี 2568 · วัดก่อนขึ้นระบบและหลังขึ้นระบบ 3 เดือน</a:t>
            </a:r>
          </a:p>
        </p:txBody>
      </p:sp>
      <p:sp>
        <p:nvSpPr>
          <p:cNvPr id="1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ปิดงบลดได้มากสุด ไม่ใช่งานคีย์ เพราะระบบกระทบยอดให้ทุกวัน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แผนงาน 12 เดือน ขึ้นระบบต้นเดือนที่ 7</a:t>
            </a:r>
          </a:p>
        </p:txBody>
      </p:sp>
      <p:graphicFrame>
        <p:nvGraphicFramePr>
          <p:cNvPr id="3" name="Plan"/>
          <p:cNvGraphicFramePr>
            <a:graphicFrameLocks noGrp="1"/>
          </p:cNvGraphicFramePr>
          <p:nvPr>
            <p:ph type="chart" idx="1"/>
          </p:nvPr>
        </p:nvGraphicFramePr>
        <p:xfrm>
          <a:off x="3566160" y="2057400"/>
          <a:ext cx="77114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P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ด.1</a:t>
            </a:r>
          </a:p>
        </p:txBody>
      </p:sp>
      <p:sp>
        <p:nvSpPr>
          <p:cNvPr id="5" name="P2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ด.2</a:t>
            </a:r>
          </a:p>
        </p:txBody>
      </p:sp>
      <p:sp>
        <p:nvSpPr>
          <p:cNvPr id="6" name="P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ด.3</a:t>
            </a:r>
          </a:p>
        </p:txBody>
      </p:sp>
      <p:sp>
        <p:nvSpPr>
          <p:cNvPr id="7" name="P4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ด.4</a:t>
            </a:r>
          </a:p>
        </p:txBody>
      </p:sp>
      <p:sp>
        <p:nvSpPr>
          <p:cNvPr id="8" name="P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ด.5</a:t>
            </a:r>
          </a:p>
        </p:txBody>
      </p:sp>
      <p:sp>
        <p:nvSpPr>
          <p:cNvPr id="9" name="P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ด.6</a:t>
            </a:r>
          </a:p>
        </p:txBody>
      </p:sp>
      <p:sp>
        <p:nvSpPr>
          <p:cNvPr id="10" name="P7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ด.7</a:t>
            </a:r>
          </a:p>
        </p:txBody>
      </p:sp>
      <p:sp>
        <p:nvSpPr>
          <p:cNvPr id="11" name="P8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ด.8</a:t>
            </a:r>
          </a:p>
        </p:txBody>
      </p:sp>
      <p:sp>
        <p:nvSpPr>
          <p:cNvPr id="12" name="P9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ด.9</a:t>
            </a:r>
          </a:p>
        </p:txBody>
      </p:sp>
      <p:sp>
        <p:nvSpPr>
          <p:cNvPr id="13" name="P10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ด.10</a:t>
            </a:r>
          </a:p>
        </p:txBody>
      </p:sp>
      <p:sp>
        <p:nvSpPr>
          <p:cNvPr id="14" name="P11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ด.11</a:t>
            </a:r>
          </a:p>
        </p:txBody>
      </p:sp>
      <p:sp>
        <p:nvSpPr>
          <p:cNvPr id="15" name="P1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ด.12</a:t>
            </a:r>
          </a:p>
        </p:txBody>
      </p:sp>
      <p:sp>
        <p:nvSpPr>
          <p:cNvPr id="16" name="R1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1. เตรียมระบบ</a:t>
            </a:r>
          </a:p>
        </p:txBody>
      </p:sp>
      <p:sp>
        <p:nvSpPr>
          <p:cNvPr id="17" name="D1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18" name="R2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2. วิเคราะห์และออกแบบ</a:t>
            </a:r>
          </a:p>
        </p:txBody>
      </p:sp>
      <p:sp>
        <p:nvSpPr>
          <p:cNvPr id="19" name="D2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6 สัปดาห์</a:t>
            </a:r>
          </a:p>
        </p:txBody>
      </p:sp>
      <p:sp>
        <p:nvSpPr>
          <p:cNvPr id="20" name="R3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3. พัฒนาและตั้งค่าระบบ</a:t>
            </a:r>
          </a:p>
        </p:txBody>
      </p:sp>
      <p:sp>
        <p:nvSpPr>
          <p:cNvPr id="21" name="D3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 สัปดาห์</a:t>
            </a:r>
          </a:p>
        </p:txBody>
      </p:sp>
      <p:sp>
        <p:nvSpPr>
          <p:cNvPr id="22" name="R4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/>
            <a:r>
              <a:rPr lang="th-TH" dirty="0"/>
              <a:t>4. ทดสอบ UAT</a:t>
            </a:r>
          </a:p>
        </p:txBody>
      </p:sp>
      <p:sp>
        <p:nvSpPr>
          <p:cNvPr id="23" name="D4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24" name="R5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/>
            <a:r>
              <a:rPr lang="th-TH" dirty="0"/>
              <a:t>5. อบรมผู้ใช้</a:t>
            </a:r>
          </a:p>
        </p:txBody>
      </p:sp>
      <p:sp>
        <p:nvSpPr>
          <p:cNvPr id="25" name="D5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/>
            <a:r>
              <a:rPr lang="th-TH" dirty="0"/>
              <a:t>1 สัปดาห์</a:t>
            </a:r>
          </a:p>
        </p:txBody>
      </p:sp>
      <p:sp>
        <p:nvSpPr>
          <p:cNvPr id="26" name="R6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pPr/>
            <a:r>
              <a:rPr lang="th-TH" dirty="0"/>
              <a:t>6. ขึ้นระบบ</a:t>
            </a:r>
          </a:p>
        </p:txBody>
      </p:sp>
      <p:sp>
        <p:nvSpPr>
          <p:cNvPr id="27" name="D6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/>
            <a:r>
              <a:rPr lang="th-TH" dirty="0"/>
              <a:t>2 สัปดาห์</a:t>
            </a:r>
          </a:p>
        </p:txBody>
      </p:sp>
      <p:sp>
        <p:nvSpPr>
          <p:cNvPr id="28" name="R7"/>
          <p:cNvSpPr>
            <a:spLocks noGrp="1"/>
          </p:cNvSpPr>
          <p:nvPr>
            <p:ph type="body" idx="44"/>
          </p:nvPr>
        </p:nvSpPr>
        <p:spPr/>
        <p:txBody>
          <a:bodyPr/>
          <a:lstStyle/>
          <a:p>
            <a:pPr/>
            <a:r>
              <a:rPr lang="th-TH" dirty="0"/>
              <a:t>7. ดูแลหลังขึ้นระบบ</a:t>
            </a:r>
          </a:p>
        </p:txBody>
      </p:sp>
      <p:sp>
        <p:nvSpPr>
          <p:cNvPr id="29" name="D7"/>
          <p:cNvSpPr>
            <a:spLocks noGrp="1"/>
          </p:cNvSpPr>
          <p:nvPr>
            <p:ph type="body" idx="45"/>
          </p:nvPr>
        </p:nvSpPr>
        <p:spPr/>
        <p:txBody>
          <a:bodyPr/>
          <a:lstStyle/>
          <a:p>
            <a:pPr/>
            <a:r>
              <a:rPr lang="th-TH" dirty="0"/>
              <a:t>3 เดือน</a:t>
            </a:r>
          </a:p>
        </p:txBody>
      </p:sp>
      <p:sp>
        <p:nvSpPr>
          <p:cNvPr id="30" name="R8"/>
          <p:cNvSpPr>
            <a:spLocks noGrp="1"/>
          </p:cNvSpPr>
          <p:nvPr>
            <p:ph type="body" idx="46"/>
          </p:nvPr>
        </p:nvSpPr>
        <p:spPr/>
        <p:txBody>
          <a:bodyPr/>
          <a:lstStyle/>
          <a:p>
            <a:pPr/>
            <a:r>
              <a:rPr lang="th-TH" dirty="0"/>
              <a:t>8. รับประกันระบบ</a:t>
            </a:r>
          </a:p>
        </p:txBody>
      </p:sp>
      <p:sp>
        <p:nvSpPr>
          <p:cNvPr id="31" name="D8"/>
          <p:cNvSpPr>
            <a:spLocks noGrp="1"/>
          </p:cNvSpPr>
          <p:nvPr>
            <p:ph type="body" idx="47"/>
          </p:nvPr>
        </p:nvSpPr>
        <p:spPr/>
        <p:txBody>
          <a:bodyPr/>
          <a:lstStyle/>
          <a:p>
            <a:pPr/>
            <a:r>
              <a:rPr lang="th-TH" dirty="0"/>
              <a:t>2.5 เดือน</a:t>
            </a:r>
          </a:p>
        </p:txBody>
      </p:sp>
      <p:sp>
        <p:nvSpPr>
          <p:cNvPr id="32" name="Key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■ ช่วงงาน   ◆ ส่งมอบ / ตรวจรับ</a:t>
            </a:r>
          </a:p>
        </p:txBody>
      </p:sp>
      <p:sp>
        <p:nvSpPr>
          <p:cNvPr id="33" name="Asm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นับจากวันลงนามสัญญา · หน่วย: เดือน</a:t>
            </a:r>
          </a:p>
        </p:txBody>
      </p:sp>
      <p:sp>
        <p:nvSpPr>
          <p:cNvPr id="34" name="T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35" name="T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ขึ้นระบบต้นเดือนที่ 7 ตรวจรับ 3 งวดตามจุดส่งมอบ</a:t>
            </a:r>
          </a:p>
        </p:txBody>
      </p:sp>
      <p:sp>
        <p:nvSpPr>
          <p:cNvPr id="36" name="Milestone 2"/>
          <p:cNvSpPr/>
          <p:nvPr/>
        </p:nvSpPr>
        <p:spPr>
          <a:xfrm>
            <a:off x="5099558" y="25671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7" name="Milestone 2 Label"/>
          <p:cNvSpPr/>
          <p:nvPr/>
        </p:nvSpPr>
        <p:spPr>
          <a:xfrm>
            <a:off x="5291582" y="24460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1</a:t>
            </a:r>
          </a:p>
        </p:txBody>
      </p:sp>
      <p:sp>
        <p:nvSpPr>
          <p:cNvPr id="38" name="Milestone 4"/>
          <p:cNvSpPr/>
          <p:nvPr/>
        </p:nvSpPr>
        <p:spPr>
          <a:xfrm>
            <a:off x="7348728" y="334441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9" name="Milestone 4 Label"/>
          <p:cNvSpPr/>
          <p:nvPr/>
        </p:nvSpPr>
        <p:spPr>
          <a:xfrm>
            <a:off x="7540752" y="322326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2</a:t>
            </a:r>
          </a:p>
        </p:txBody>
      </p:sp>
      <p:sp>
        <p:nvSpPr>
          <p:cNvPr id="40" name="Milestone 7"/>
          <p:cNvSpPr/>
          <p:nvPr/>
        </p:nvSpPr>
        <p:spPr>
          <a:xfrm>
            <a:off x="9597898" y="45102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1" name="Milestone 7 Label"/>
          <p:cNvSpPr/>
          <p:nvPr/>
        </p:nvSpPr>
        <p:spPr>
          <a:xfrm>
            <a:off x="9789922" y="43891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ครึ่งหนึ่งของงบ 4.8 ล้านบาท คือค่าพัฒนาระบบ</a:t>
            </a:r>
          </a:p>
        </p:txBody>
      </p:sp>
      <p:sp>
        <p:nvSpPr>
          <p:cNvPr id="3" name="Tota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4.8 ล้านบาท</a:t>
            </a:r>
          </a:p>
        </p:txBody>
      </p:sp>
      <p:sp>
        <p:nvSpPr>
          <p:cNvPr id="4" name="Total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งบโครงการรวมทั้งสิ้น</a:t>
            </a:r>
          </a:p>
        </p:txBody>
      </p:sp>
      <p:sp>
        <p:nvSpPr>
          <p:cNvPr id="5" name="Intro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รวมภาษีมูลค่าเพิ่ม · สัญญา 12 เดือน ไม่รวมค่าบริการรายเดือนหลังปีแรก</a:t>
            </a:r>
          </a:p>
        </p:txBody>
      </p:sp>
      <p:graphicFrame>
        <p:nvGraphicFramePr>
          <p:cNvPr id="6" name="Composition"/>
          <p:cNvGraphicFramePr>
            <a:graphicFrameLocks noGrp="1"/>
          </p:cNvGraphicFramePr>
          <p:nvPr>
            <p:ph type="chart" idx="1"/>
          </p:nvPr>
        </p:nvGraphicFramePr>
        <p:xfrm>
          <a:off x="2697480" y="3703320"/>
          <a:ext cx="7299960" cy="1371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B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งบโครงการ</a:t>
            </a:r>
          </a:p>
        </p:txBody>
      </p:sp>
      <p:sp>
        <p:nvSpPr>
          <p:cNvPr id="8" name="SN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พัฒนาและตั้งค่าระบบ</a:t>
            </a:r>
          </a:p>
        </p:txBody>
      </p:sp>
      <p:sp>
        <p:nvSpPr>
          <p:cNvPr id="9" name="SV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2.4 ล้านบาท</a:t>
            </a:r>
          </a:p>
        </p:txBody>
      </p:sp>
      <p:sp>
        <p:nvSpPr>
          <p:cNvPr id="10" name="SP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50%</a:t>
            </a:r>
          </a:p>
        </p:txBody>
      </p:sp>
      <p:sp>
        <p:nvSpPr>
          <p:cNvPr id="11" name="SN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ไลเซนส์ซอฟต์แวร์</a:t>
            </a:r>
          </a:p>
        </p:txBody>
      </p:sp>
      <p:sp>
        <p:nvSpPr>
          <p:cNvPr id="12" name="SV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1.2 ล้านบาท</a:t>
            </a:r>
          </a:p>
        </p:txBody>
      </p:sp>
      <p:sp>
        <p:nvSpPr>
          <p:cNvPr id="13" name="SP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25%</a:t>
            </a:r>
          </a:p>
        </p:txBody>
      </p:sp>
      <p:sp>
        <p:nvSpPr>
          <p:cNvPr id="14" name="SN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คลาวด์ปีแรก</a:t>
            </a:r>
          </a:p>
        </p:txBody>
      </p:sp>
      <p:sp>
        <p:nvSpPr>
          <p:cNvPr id="15" name="SV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0.7 ล้านบาท</a:t>
            </a:r>
          </a:p>
        </p:txBody>
      </p:sp>
      <p:sp>
        <p:nvSpPr>
          <p:cNvPr id="16" name="SP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15%</a:t>
            </a:r>
          </a:p>
        </p:txBody>
      </p:sp>
      <p:sp>
        <p:nvSpPr>
          <p:cNvPr id="17" name="SN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อื่น ๆ</a:t>
            </a:r>
          </a:p>
        </p:txBody>
      </p:sp>
      <p:sp>
        <p:nvSpPr>
          <p:cNvPr id="18" name="SV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0.5 ล้านบาท</a:t>
            </a:r>
          </a:p>
        </p:txBody>
      </p:sp>
      <p:sp>
        <p:nvSpPr>
          <p:cNvPr id="19" name="SP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10%</a:t>
            </a:r>
          </a:p>
        </p:txBody>
      </p:sp>
      <p:sp>
        <p:nvSpPr>
          <p:cNvPr id="20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ใบเสนอราคา NCT-2569-041 · ปัดเป็นแสนบาท</a:t>
            </a:r>
          </a:p>
        </p:txBody>
      </p:sp>
      <p:sp>
        <p:nvSpPr>
          <p:cNvPr id="21" name="T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22" name="T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ไลเซนส์กับคลาวด์รวมกันไม่ถึง 40% งบส่วนใหญ่จ่ายให้งานที่ทำครั้งเดียว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แบบฟอร์มบริษัท ตัวอย่าง</dc:title>
  <dc:creator>New Computer Technology Consulting Co., Ltd.</dc:creator>
  <cp:lastModifiedBy>NCT</cp:lastModifiedBy>
  <dcterms:created xsi:type="dcterms:W3CDTF">2026-10-01T15:29:26Z</dcterms:created>
  <dcterms:modified xsi:type="dcterms:W3CDTF">2026-10-01T15:29:26Z</dcterms:modified>
</cp:coreProperties>
</file>