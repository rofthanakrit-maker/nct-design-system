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เวลาปิดงบ</c:v>
          </c:tx>
          <c:spPr>
            <a:solidFill>
              <a:srgbClr val="A4A4A4"/>
            </a:solidFill>
          </c:spPr>
          <c:invertIfNegative val="0"/>
          <c:dPt>
            <c:idx val="4"/>
            <c:invertIfNegative val="0"/>
            <c:bubble3D val="0"/>
            <c:spPr>
              <a:solidFill>
                <a:srgbClr val="2A5EA0"/>
              </a:solidFill>
            </c:spPr>
          </c:dPt>
          <c:dLbls>
            <c:dLbl>
              <c:idx val="4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400" b="1">
                      <a:solidFill>
                        <a:srgbClr val="33333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th-TH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200">
                    <a:solidFill>
                      <a:srgbClr val="5F5F5F"/>
                    </a:solidFill>
                    <a:latin typeface="+mn-lt"/>
                    <a:ea typeface="+mn-ea"/>
                    <a:cs typeface="+mn-cs"/>
                  </a:defRPr>
                </a:pPr>
                <a:endParaRPr lang="th-T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Lit>
              <c:ptCount val="6"/>
              <c:pt idx="0">
                <c:v>ม.ค.</c:v>
              </c:pt>
              <c:pt idx="1">
                <c:v>ก.พ.</c:v>
              </c:pt>
              <c:pt idx="2">
                <c:v>มี.ค.</c:v>
              </c:pt>
              <c:pt idx="3">
                <c:v>เม.ย.</c:v>
              </c:pt>
              <c:pt idx="4">
                <c:v>พ.ค.</c:v>
              </c:pt>
              <c:pt idx="5">
                <c:v>มิ.ย.</c:v>
              </c:pt>
            </c:strLit>
          </c:cat>
          <c:val>
            <c:numLit>
              <c:formatCode>General</c:formatCode>
              <c:ptCount val="6"/>
              <c:pt idx="0">
                <c:v>6</c:v>
              </c:pt>
              <c:pt idx="1">
                <c:v>7</c:v>
              </c:pt>
              <c:pt idx="2">
                <c:v>6</c:v>
              </c:pt>
              <c:pt idx="3">
                <c:v>8</c:v>
              </c:pt>
              <c:pt idx="4">
                <c:v>9</c:v>
              </c:pt>
              <c:pt idx="5">
                <c:v>7</c:v>
              </c:pt>
            </c:numLit>
          </c:val>
        </c:ser>
        <c:gapWidth val="360"/>
        <c:overlap val="0"/>
        <c:axId val="19001"/>
        <c:axId val="19002"/>
      </c:barChart>
      <c:catAx>
        <c:axId val="19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A4A4A4"/>
            </a:solidFill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2"/>
        <c:crosses val="autoZero"/>
        <c:auto val="1"/>
        <c:lblAlgn val="ctr"/>
        <c:lblOffset val="100"/>
        <c:noMultiLvlLbl val="0"/>
      </c:catAx>
      <c:valAx>
        <c:axId val="19002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5E5E5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pPr>
            <a:endParaRPr lang="th-TH"/>
          </a:p>
        </c:txPr>
        <c:crossAx val="19001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200">
          <a:solidFill>
            <a:srgbClr val="5F5F5F"/>
          </a:solidFill>
          <a:latin typeface="+mn-lt"/>
          <a:ea typeface="+mn-ea"/>
          <a:cs typeface="+mn-cs"/>
        </a:defRPr>
      </a:pPr>
      <a:endParaRPr lang="th-TH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เริ่ม</c:v>
                </c:pt>
              </c:strCache>
            </c:strRef>
          </c:tx>
          <c:spPr>
            <a:noFill/>
            <a:ln>
              <a:noFill/>
            </a:ln>
          </c:spPr>
          <c:invertIfNegative val="0"/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1</c:v>
                </c:pt>
                <c:pt idx="2">
                  <c:v>2.5</c:v>
                </c:pt>
                <c:pt idx="3">
                  <c:v>5</c:v>
                </c:pt>
                <c:pt idx="4">
                  <c:v>5.75</c:v>
                </c:pt>
                <c:pt idx="5">
                  <c:v>6</c:v>
                </c:pt>
                <c:pt idx="6">
                  <c:v>6.5</c:v>
                </c:pt>
                <c:pt idx="7">
                  <c:v>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ระยะเวลา</c:v>
                </c:pt>
              </c:strCache>
            </c:strRef>
          </c:tx>
          <c:spPr>
            <a:solidFill>
              <a:srgbClr val="90B4E4"/>
            </a:solidFill>
            <a:ln>
              <a:noFill/>
            </a:ln>
          </c:spPr>
          <c:invertIfNegative val="0"/>
          <c:dPt>
            <c:idx val="5"/>
            <c:invertIfNegative val="0"/>
            <c:bubble3D val="0"/>
            <c:spPr>
              <a:solidFill>
                <a:srgbClr val="2A5EA0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1. เตรียมระบบ</c:v>
                </c:pt>
                <c:pt idx="1">
                  <c:v>2. วิเคราะห์และออกแบบ</c:v>
                </c:pt>
                <c:pt idx="2">
                  <c:v>3. พัฒนาและตั้งค่าระบบ</c:v>
                </c:pt>
                <c:pt idx="3">
                  <c:v>4. ทดสอบ UAT</c:v>
                </c:pt>
                <c:pt idx="4">
                  <c:v>5. อบรมผู้ใช้</c:v>
                </c:pt>
                <c:pt idx="5">
                  <c:v>6. ขึ้นระบบ</c:v>
                </c:pt>
                <c:pt idx="6">
                  <c:v>7. ดูแลหลังขึ้นระบบ</c:v>
                </c:pt>
                <c:pt idx="7">
                  <c:v>8. รับประกันระบบ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</c:v>
                </c:pt>
                <c:pt idx="1">
                  <c:v>1.5</c:v>
                </c:pt>
                <c:pt idx="2">
                  <c:v>2.5</c:v>
                </c:pt>
                <c:pt idx="3">
                  <c:v>1</c:v>
                </c:pt>
                <c:pt idx="4">
                  <c:v>0.25</c:v>
                </c:pt>
                <c:pt idx="5">
                  <c:v>0.5</c:v>
                </c:pt>
                <c:pt idx="6">
                  <c:v>3</c:v>
                </c:pt>
                <c:pt idx="7">
                  <c:v>2.5</c:v>
                </c:pt>
              </c:numCache>
            </c:numRef>
          </c:val>
        </c:ser>
        <c:gapWidth val="113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2"/>
          <c:min val="0"/>
        </c:scaling>
        <c:delete val="0"/>
        <c:axPos val="b"/>
        <c:majorGridlines>
          <c:spPr>
            <a:ln w="9525">
              <a:solidFill>
                <a:srgbClr val="E5E5E5"/>
              </a:solidFill>
            </a:ln>
          </c:spPr>
        </c:majorGridlines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พัฒนาและตั้งค่าระบบ</c:v>
                </c:pt>
              </c:strCache>
            </c:strRef>
          </c:tx>
          <c:spPr>
            <a:solidFill>
              <a:srgbClr val="2A5EA0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ไลเซนส์ซอฟต์แวร์</c:v>
                </c:pt>
              </c:strCache>
            </c:strRef>
          </c:tx>
          <c:spPr>
            <a:solidFill>
              <a:srgbClr val="BB731B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คลาวด์ปีแรก</c:v>
                </c:pt>
              </c:strCache>
            </c:strRef>
          </c:tx>
          <c:spPr>
            <a:solidFill>
              <a:srgbClr val="0D9298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อื่น ๆ</c:v>
                </c:pt>
              </c:strCache>
            </c:strRef>
          </c:tx>
          <c:spPr>
            <a:solidFill>
              <a:srgbClr val="A4A4A4"/>
            </a:solidFill>
            <a:ln w="19050">
              <a:solidFill>
                <a:srgbClr val="FFFFFF"/>
              </a:solidFill>
            </a:ln>
          </c:spPr>
          <c:invertIfNegative val="0"/>
          <c:cat>
            <c:strRef>
              <c:f>Sheet1!$A$2:$A$4</c:f>
              <c:strCache>
                <c:ptCount val="3"/>
                <c:pt idx="0">
                  <c:v>งบโครงการ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0.5</c:v>
                </c:pt>
              </c:numCache>
            </c:numRef>
          </c:val>
        </c:ser>
        <c:gapWidth val="100"/>
        <c:overlap val="100"/>
        <c:axId val="21001"/>
        <c:axId val="21002"/>
      </c:barChart>
      <c:catAx>
        <c:axId val="21001"/>
        <c:scaling>
          <c:orientation val="maxMin"/>
        </c:scaling>
        <c:delete val="1"/>
        <c:axPos val="l"/>
        <c:majorTickMark val="none"/>
        <c:minorTickMark val="none"/>
        <c:tickLblPos val="none"/>
        <c:crossAx val="21002"/>
        <c:crosses val="autoZero"/>
        <c:auto val="1"/>
        <c:lblAlgn val="ctr"/>
        <c:lblOffset val="100"/>
        <c:noMultiLvlLbl val="0"/>
      </c:catAx>
      <c:valAx>
        <c:axId val="21002"/>
        <c:scaling>
          <c:orientation val="minMax"/>
          <c:max val="1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>
            <a:noFill/>
          </a:ln>
        </c:spPr>
        <c:crossAx val="21001"/>
        <c:crosses val="max"/>
        <c:crossBetween val="between"/>
        <c:majorUnit val="1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externalData r:id="rId1">
    <c:autoUpdate val="0"/>
  </c:externalData>
</c:chartSpace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color.png"/><Relationship Id="rId3" Type="http://schemas.openxmlformats.org/officeDocument/2006/relationships/image" Target="../media/mark-color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2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Watermark A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1371600" y="-2103120"/>
            <a:ext cx="7315200" cy="4653280"/>
          </a:xfrm>
          <a:prstGeom prst="rect">
            <a:avLst/>
          </a:prstGeom>
        </p:spPr>
      </p:pic>
      <p:pic>
        <p:nvPicPr>
          <p:cNvPr id="11" name="Watermark B"/>
          <p:cNvPicPr>
            <a:picLocks noChangeAspect="1"/>
          </p:cNvPicPr>
          <p:nvPr/>
        </p:nvPicPr>
        <p:blipFill>
          <a:blip r:embed="rId3">
            <a:alphaModFix amt="3500"/>
          </a:blip>
          <a:stretch>
            <a:fillRect/>
          </a:stretch>
        </p:blipFill>
        <p:spPr>
          <a:xfrm>
            <a:off x="4114800" y="2286000"/>
            <a:ext cx="7315200" cy="4653280"/>
          </a:xfrm>
          <a:prstGeom prst="rect">
            <a:avLst/>
          </a:prstGeom>
        </p:spPr>
      </p:pic>
      <p:sp>
        <p:nvSpPr>
          <p:cNvPr id="12" name="Scatter 1"/>
          <p:cNvSpPr/>
          <p:nvPr/>
        </p:nvSpPr>
        <p:spPr>
          <a:xfrm>
            <a:off x="10290552" y="298450"/>
            <a:ext cx="491103" cy="4318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Scatter 2"/>
          <p:cNvSpPr/>
          <p:nvPr/>
        </p:nvSpPr>
        <p:spPr>
          <a:xfrm>
            <a:off x="10517214" y="184150"/>
            <a:ext cx="264440" cy="546100"/>
          </a:xfrm>
          <a:prstGeom prst="rect">
            <a:avLst/>
          </a:prstGeom>
          <a:solidFill>
            <a:srgbClr val="216B7F">
              <a:alpha val="33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catter 3"/>
          <p:cNvSpPr/>
          <p:nvPr/>
        </p:nvSpPr>
        <p:spPr>
          <a:xfrm>
            <a:off x="11486827" y="400050"/>
            <a:ext cx="377771" cy="5588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catter 4"/>
          <p:cNvSpPr/>
          <p:nvPr/>
        </p:nvSpPr>
        <p:spPr>
          <a:xfrm>
            <a:off x="9862411" y="577850"/>
            <a:ext cx="163701" cy="177800"/>
          </a:xfrm>
          <a:prstGeom prst="rect">
            <a:avLst/>
          </a:prstGeom>
          <a:solidFill>
            <a:srgbClr val="216B7F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Scatter 5"/>
          <p:cNvSpPr/>
          <p:nvPr/>
        </p:nvSpPr>
        <p:spPr>
          <a:xfrm>
            <a:off x="11310534" y="577850"/>
            <a:ext cx="176293" cy="3810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Scatter 6"/>
          <p:cNvSpPr/>
          <p:nvPr/>
        </p:nvSpPr>
        <p:spPr>
          <a:xfrm>
            <a:off x="10076481" y="971550"/>
            <a:ext cx="415548" cy="3048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Scatter 7"/>
          <p:cNvSpPr/>
          <p:nvPr/>
        </p:nvSpPr>
        <p:spPr>
          <a:xfrm>
            <a:off x="10756469" y="1060450"/>
            <a:ext cx="352586" cy="2540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catter 8"/>
          <p:cNvSpPr/>
          <p:nvPr/>
        </p:nvSpPr>
        <p:spPr>
          <a:xfrm>
            <a:off x="10492030" y="1682750"/>
            <a:ext cx="516287" cy="393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catter 9"/>
          <p:cNvSpPr/>
          <p:nvPr/>
        </p:nvSpPr>
        <p:spPr>
          <a:xfrm>
            <a:off x="11587566" y="2228850"/>
            <a:ext cx="277032" cy="3175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catter 10"/>
          <p:cNvSpPr/>
          <p:nvPr/>
        </p:nvSpPr>
        <p:spPr>
          <a:xfrm>
            <a:off x="9900188" y="2254250"/>
            <a:ext cx="314809" cy="2413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Scatter 11"/>
          <p:cNvSpPr/>
          <p:nvPr/>
        </p:nvSpPr>
        <p:spPr>
          <a:xfrm>
            <a:off x="10517214" y="2571750"/>
            <a:ext cx="491103" cy="457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catter 12"/>
          <p:cNvSpPr/>
          <p:nvPr/>
        </p:nvSpPr>
        <p:spPr>
          <a:xfrm>
            <a:off x="11033502" y="2889250"/>
            <a:ext cx="239255" cy="2540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Scatter 13"/>
          <p:cNvSpPr/>
          <p:nvPr/>
        </p:nvSpPr>
        <p:spPr>
          <a:xfrm>
            <a:off x="11297942" y="3117850"/>
            <a:ext cx="591842" cy="4572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catter 14"/>
          <p:cNvSpPr/>
          <p:nvPr/>
        </p:nvSpPr>
        <p:spPr>
          <a:xfrm>
            <a:off x="11046094" y="3359150"/>
            <a:ext cx="125924" cy="1143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catter 15"/>
          <p:cNvSpPr/>
          <p:nvPr/>
        </p:nvSpPr>
        <p:spPr>
          <a:xfrm>
            <a:off x="10655731" y="3549650"/>
            <a:ext cx="226663" cy="2286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catter 16"/>
          <p:cNvSpPr/>
          <p:nvPr/>
        </p:nvSpPr>
        <p:spPr>
          <a:xfrm>
            <a:off x="11234980" y="3816350"/>
            <a:ext cx="314809" cy="368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Scatter 17"/>
          <p:cNvSpPr/>
          <p:nvPr/>
        </p:nvSpPr>
        <p:spPr>
          <a:xfrm>
            <a:off x="11612751" y="4362450"/>
            <a:ext cx="176293" cy="2667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Scatter 18"/>
          <p:cNvSpPr/>
          <p:nvPr/>
        </p:nvSpPr>
        <p:spPr>
          <a:xfrm>
            <a:off x="10026112" y="4425950"/>
            <a:ext cx="251847" cy="203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0" name="Scatter 19"/>
          <p:cNvSpPr/>
          <p:nvPr/>
        </p:nvSpPr>
        <p:spPr>
          <a:xfrm>
            <a:off x="10492030" y="4705350"/>
            <a:ext cx="314809" cy="2921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catter 20"/>
          <p:cNvSpPr/>
          <p:nvPr/>
        </p:nvSpPr>
        <p:spPr>
          <a:xfrm>
            <a:off x="9220200" y="4756150"/>
            <a:ext cx="264440" cy="2921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catter 21"/>
          <p:cNvSpPr/>
          <p:nvPr/>
        </p:nvSpPr>
        <p:spPr>
          <a:xfrm>
            <a:off x="11260164" y="5099050"/>
            <a:ext cx="415548" cy="330200"/>
          </a:xfrm>
          <a:prstGeom prst="rect">
            <a:avLst/>
          </a:prstGeom>
          <a:solidFill>
            <a:srgbClr val="216B7F">
              <a:alpha val="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catter 22"/>
          <p:cNvSpPr/>
          <p:nvPr/>
        </p:nvSpPr>
        <p:spPr>
          <a:xfrm>
            <a:off x="10202405" y="5238750"/>
            <a:ext cx="554064" cy="495300"/>
          </a:xfrm>
          <a:prstGeom prst="rect">
            <a:avLst/>
          </a:prstGeom>
          <a:solidFill>
            <a:srgbClr val="216B7F">
              <a:alpha val="1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4" name="Scatter 23"/>
          <p:cNvSpPr/>
          <p:nvPr/>
        </p:nvSpPr>
        <p:spPr>
          <a:xfrm>
            <a:off x="10957947" y="5429250"/>
            <a:ext cx="302217" cy="444500"/>
          </a:xfrm>
          <a:prstGeom prst="rect">
            <a:avLst/>
          </a:prstGeom>
          <a:solidFill>
            <a:srgbClr val="216B7F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catter 24"/>
          <p:cNvSpPr/>
          <p:nvPr/>
        </p:nvSpPr>
        <p:spPr>
          <a:xfrm>
            <a:off x="9535009" y="5518150"/>
            <a:ext cx="88147" cy="76200"/>
          </a:xfrm>
          <a:prstGeom prst="rect">
            <a:avLst/>
          </a:prstGeom>
          <a:solidFill>
            <a:srgbClr val="216B7F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6" name="Scatter 25"/>
          <p:cNvSpPr/>
          <p:nvPr/>
        </p:nvSpPr>
        <p:spPr>
          <a:xfrm>
            <a:off x="9837226" y="5949950"/>
            <a:ext cx="226663" cy="2413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catter 26"/>
          <p:cNvSpPr/>
          <p:nvPr/>
        </p:nvSpPr>
        <p:spPr>
          <a:xfrm>
            <a:off x="11310534" y="6064250"/>
            <a:ext cx="163701" cy="203200"/>
          </a:xfrm>
          <a:prstGeom prst="rect">
            <a:avLst/>
          </a:prstGeom>
          <a:solidFill>
            <a:srgbClr val="216B7F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catter 27"/>
          <p:cNvSpPr/>
          <p:nvPr/>
        </p:nvSpPr>
        <p:spPr>
          <a:xfrm>
            <a:off x="10492030" y="6127750"/>
            <a:ext cx="201478" cy="165100"/>
          </a:xfrm>
          <a:prstGeom prst="rect">
            <a:avLst/>
          </a:prstGeom>
          <a:solidFill>
            <a:srgbClr val="216B7F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catter 28"/>
          <p:cNvSpPr/>
          <p:nvPr/>
        </p:nvSpPr>
        <p:spPr>
          <a:xfrm>
            <a:off x="11549789" y="6267450"/>
            <a:ext cx="302217" cy="317500"/>
          </a:xfrm>
          <a:prstGeom prst="rect">
            <a:avLst/>
          </a:prstGeom>
          <a:solidFill>
            <a:srgbClr val="216B7F">
              <a:alpha val="7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pic>
        <p:nvPicPr>
          <p:cNvPr id="40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750" y="685800"/>
            <a:ext cx="4000500" cy="2035725"/>
          </a:xfrm>
          <a:prstGeom prst="rect">
            <a:avLst/>
          </a:prstGeom>
        </p:spPr>
      </p:pic>
      <p:sp>
        <p:nvSpPr>
          <p:cNvPr id="41" name="Accent Rule"/>
          <p:cNvSpPr/>
          <p:nvPr/>
        </p:nvSpPr>
        <p:spPr>
          <a:xfrm>
            <a:off x="2941320" y="3429000"/>
            <a:ext cx="6309360" cy="28575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2" name="Title Placeholder"/>
          <p:cNvSpPr>
            <a:spLocks noGrp="1"/>
          </p:cNvSpPr>
          <p:nvPr>
            <p:ph type="ctrTitle"/>
          </p:nvPr>
        </p:nvSpPr>
        <p:spPr>
          <a:xfrm>
            <a:off x="914400" y="3715200"/>
            <a:ext cx="10363200" cy="2057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15000"/>
              </a:lnSpc>
              <a:buNone/>
              <a:def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15000"/>
              </a:lnSpc>
              <a:buNone/>
            </a:pPr>
            <a:r>
              <a:rPr lang="th-TH" sz="4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PROPOSAL</a:t>
            </a:r>
          </a:p>
        </p:txBody>
      </p:sp>
      <p:sp>
        <p:nvSpPr>
          <p:cNvPr id="43" name="Subtitle"/>
          <p:cNvSpPr>
            <a:spLocks noGrp="1"/>
          </p:cNvSpPr>
          <p:nvPr>
            <p:ph type="subTitle" idx="1"/>
          </p:nvPr>
        </p:nvSpPr>
        <p:spPr>
          <a:xfrm>
            <a:off x="914400" y="590976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ctr" marL="0" indent="0">
              <a:lnSpc>
                <a:spcPct val="130000"/>
              </a:lnSpc>
              <a:buNone/>
              <a:def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 / ชื่อลูกค้า</a:t>
            </a:r>
          </a:p>
        </p:txBody>
      </p:sp>
      <p:sp>
        <p:nvSpPr>
          <p:cNvPr id="44" name="Date Placeholder"/>
          <p:cNvSpPr>
            <a:spLocks noGrp="1"/>
          </p:cNvSpPr>
          <p:nvPr>
            <p:ph type="dt" idx="10"/>
          </p:nvPr>
        </p:nvSpPr>
        <p:spPr>
          <a:xfrm>
            <a:off x="22860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4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Heading"/>
          <p:cNvSpPr>
            <a:spLocks noGrp="1"/>
          </p:cNvSpPr>
          <p:nvPr>
            <p:ph type="body" idx="3"/>
          </p:nvPr>
        </p:nvSpPr>
        <p:spPr>
          <a:xfrm>
            <a:off x="91440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หัวคอลัมน์ซ้าย</a:t>
            </a:r>
          </a:p>
        </p:txBody>
      </p:sp>
      <p:sp>
        <p:nvSpPr>
          <p:cNvPr id="13" name="Left Content"/>
          <p:cNvSpPr>
            <a:spLocks noGrp="1"/>
          </p:cNvSpPr>
          <p:nvPr>
            <p:ph type="body" idx="1"/>
          </p:nvPr>
        </p:nvSpPr>
        <p:spPr>
          <a:xfrm>
            <a:off x="91440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4" name="Right Heading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หัวคอลัมน์ขวา</a:t>
            </a:r>
          </a:p>
        </p:txBody>
      </p:sp>
      <p:sp>
        <p:nvSpPr>
          <p:cNvPr id="15" name="Right Content"/>
          <p:cNvSpPr>
            <a:spLocks noGrp="1"/>
          </p:cNvSpPr>
          <p:nvPr>
            <p:ph type="body" idx="2"/>
          </p:nvPr>
        </p:nvSpPr>
        <p:spPr>
          <a:xfrm>
            <a:off x="6187440" y="2240280"/>
            <a:ext cx="5090160" cy="3794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0" y="438912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Ask Veil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6324F">
              <a:alpha val="55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93000"/>
              </a:lnSpc>
              <a:spcBef>
                <a:spcPts val="400"/>
              </a:spcBef>
              <a:buClr>
                <a:srgbClr val="FFFFFF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89000"/>
              </a:lnSpc>
              <a:buNone/>
              <a:def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89000"/>
              </a:lnSpc>
              <a:buNone/>
            </a:pPr>
            <a:r>
              <a:rPr lang="th-TH" sz="14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1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7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A5EA0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BB731B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0D929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6C428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6C4289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96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b="1" dirty="0">
                <a:solidFill>
                  <a:srgbClr val="2A5EA0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1   </a:t>
            </a:r>
            <a:r>
              <a:rPr lang="th-TH" sz="1000" b="1" dirty="0">
                <a:solidFill>
                  <a:srgbClr val="BB731B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2   </a:t>
            </a:r>
            <a:r>
              <a:rPr lang="th-TH" sz="1000" b="1" dirty="0">
                <a:solidFill>
                  <a:srgbClr val="0D9298"/>
                </a:solidFill>
                <a:latin typeface="+mn-lt"/>
                <a:ea typeface="+mn-ea"/>
                <a:cs typeface="+mn-cs"/>
              </a:rPr>
              <a:t>■ </a:t>
            </a: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28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chartAndTx" showMasterSp="0" preserve="1">
  <p:cSld name="19 Chart +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914400" y="1691640"/>
            <a:ext cx="6847840" cy="34747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Figure"/>
          <p:cNvSpPr>
            <a:spLocks noGrp="1"/>
          </p:cNvSpPr>
          <p:nvPr>
            <p:ph type="body" idx="2"/>
          </p:nvPr>
        </p:nvSpPr>
        <p:spPr>
          <a:xfrm>
            <a:off x="7945120" y="1691640"/>
            <a:ext cx="333248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00%</a:t>
            </a:r>
          </a:p>
        </p:txBody>
      </p:sp>
      <p:sp>
        <p:nvSpPr>
          <p:cNvPr id="14" name="Figure Label"/>
          <p:cNvSpPr>
            <a:spLocks noGrp="1"/>
          </p:cNvSpPr>
          <p:nvPr>
            <p:ph type="body" idx="3"/>
          </p:nvPr>
        </p:nvSpPr>
        <p:spPr>
          <a:xfrm>
            <a:off x="7945120" y="2697480"/>
            <a:ext cx="333248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ตัวเลขนี้วัดอะไร</a:t>
            </a:r>
          </a:p>
        </p:txBody>
      </p:sp>
      <p:sp>
        <p:nvSpPr>
          <p:cNvPr id="15" name="Insight"/>
          <p:cNvSpPr>
            <a:spLocks noGrp="1"/>
          </p:cNvSpPr>
          <p:nvPr>
            <p:ph type="body" idx="4"/>
          </p:nvPr>
        </p:nvSpPr>
        <p:spPr>
          <a:xfrm>
            <a:off x="7945120" y="3291840"/>
            <a:ext cx="3332480" cy="1874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228600" indent="-228600">
              <a:lnSpc>
                <a:spcPct val="86000"/>
              </a:lnSpc>
              <a:spcBef>
                <a:spcPts val="6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สิ่งที่กราฟบอก ไม่เกินสามข้อ</a:t>
            </a:r>
          </a:p>
        </p:txBody>
      </p:sp>
      <p:sp>
        <p:nvSpPr>
          <p:cNvPr id="16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</a:t>
            </a:r>
          </a:p>
        </p:txBody>
      </p:sp>
      <p:sp>
        <p:nvSpPr>
          <p:cNvPr id="17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9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20 Title Slide Gradient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72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1 Plan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hart Placeholder"/>
          <p:cNvSpPr>
            <a:spLocks noGrp="1"/>
          </p:cNvSpPr>
          <p:nvPr>
            <p:ph type="chart" idx="1"/>
          </p:nvPr>
        </p:nvSpPr>
        <p:spPr>
          <a:xfrm>
            <a:off x="3566160" y="2057400"/>
            <a:ext cx="7711440" cy="31089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3" name="Period 1"/>
          <p:cNvSpPr>
            <a:spLocks noGrp="1"/>
          </p:cNvSpPr>
          <p:nvPr>
            <p:ph type="body" idx="20"/>
          </p:nvPr>
        </p:nvSpPr>
        <p:spPr>
          <a:xfrm>
            <a:off x="35661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</a:t>
            </a:r>
          </a:p>
        </p:txBody>
      </p:sp>
      <p:sp>
        <p:nvSpPr>
          <p:cNvPr id="14" name="Period 2"/>
          <p:cNvSpPr>
            <a:spLocks noGrp="1"/>
          </p:cNvSpPr>
          <p:nvPr>
            <p:ph type="body" idx="21"/>
          </p:nvPr>
        </p:nvSpPr>
        <p:spPr>
          <a:xfrm>
            <a:off x="42087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ด.2</a:t>
            </a:r>
          </a:p>
        </p:txBody>
      </p:sp>
      <p:sp>
        <p:nvSpPr>
          <p:cNvPr id="15" name="Period 3"/>
          <p:cNvSpPr>
            <a:spLocks noGrp="1"/>
          </p:cNvSpPr>
          <p:nvPr>
            <p:ph type="body" idx="22"/>
          </p:nvPr>
        </p:nvSpPr>
        <p:spPr>
          <a:xfrm>
            <a:off x="48514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ด.3</a:t>
            </a:r>
          </a:p>
        </p:txBody>
      </p:sp>
      <p:sp>
        <p:nvSpPr>
          <p:cNvPr id="16" name="Period 4"/>
          <p:cNvSpPr>
            <a:spLocks noGrp="1"/>
          </p:cNvSpPr>
          <p:nvPr>
            <p:ph type="body" idx="23"/>
          </p:nvPr>
        </p:nvSpPr>
        <p:spPr>
          <a:xfrm>
            <a:off x="54940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ด.4</a:t>
            </a:r>
          </a:p>
        </p:txBody>
      </p:sp>
      <p:sp>
        <p:nvSpPr>
          <p:cNvPr id="17" name="Period 5"/>
          <p:cNvSpPr>
            <a:spLocks noGrp="1"/>
          </p:cNvSpPr>
          <p:nvPr>
            <p:ph type="body" idx="24"/>
          </p:nvPr>
        </p:nvSpPr>
        <p:spPr>
          <a:xfrm>
            <a:off x="61366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ด.5</a:t>
            </a:r>
          </a:p>
        </p:txBody>
      </p:sp>
      <p:sp>
        <p:nvSpPr>
          <p:cNvPr id="18" name="Period 6"/>
          <p:cNvSpPr>
            <a:spLocks noGrp="1"/>
          </p:cNvSpPr>
          <p:nvPr>
            <p:ph type="body" idx="25"/>
          </p:nvPr>
        </p:nvSpPr>
        <p:spPr>
          <a:xfrm>
            <a:off x="67792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ด.6</a:t>
            </a:r>
          </a:p>
        </p:txBody>
      </p:sp>
      <p:sp>
        <p:nvSpPr>
          <p:cNvPr id="19" name="Period 7"/>
          <p:cNvSpPr>
            <a:spLocks noGrp="1"/>
          </p:cNvSpPr>
          <p:nvPr>
            <p:ph type="body" idx="26"/>
          </p:nvPr>
        </p:nvSpPr>
        <p:spPr>
          <a:xfrm>
            <a:off x="74218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ด.7</a:t>
            </a:r>
          </a:p>
        </p:txBody>
      </p:sp>
      <p:sp>
        <p:nvSpPr>
          <p:cNvPr id="20" name="Period 8"/>
          <p:cNvSpPr>
            <a:spLocks noGrp="1"/>
          </p:cNvSpPr>
          <p:nvPr>
            <p:ph type="body" idx="27"/>
          </p:nvPr>
        </p:nvSpPr>
        <p:spPr>
          <a:xfrm>
            <a:off x="806450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ด.8</a:t>
            </a:r>
          </a:p>
        </p:txBody>
      </p:sp>
      <p:sp>
        <p:nvSpPr>
          <p:cNvPr id="21" name="Period 9"/>
          <p:cNvSpPr>
            <a:spLocks noGrp="1"/>
          </p:cNvSpPr>
          <p:nvPr>
            <p:ph type="body" idx="28"/>
          </p:nvPr>
        </p:nvSpPr>
        <p:spPr>
          <a:xfrm>
            <a:off x="870712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ด.9</a:t>
            </a:r>
          </a:p>
        </p:txBody>
      </p:sp>
      <p:sp>
        <p:nvSpPr>
          <p:cNvPr id="22" name="Period 10"/>
          <p:cNvSpPr>
            <a:spLocks noGrp="1"/>
          </p:cNvSpPr>
          <p:nvPr>
            <p:ph type="body" idx="29"/>
          </p:nvPr>
        </p:nvSpPr>
        <p:spPr>
          <a:xfrm>
            <a:off x="934974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ด.10</a:t>
            </a:r>
          </a:p>
        </p:txBody>
      </p:sp>
      <p:sp>
        <p:nvSpPr>
          <p:cNvPr id="23" name="Period 11"/>
          <p:cNvSpPr>
            <a:spLocks noGrp="1"/>
          </p:cNvSpPr>
          <p:nvPr>
            <p:ph type="body" idx="30"/>
          </p:nvPr>
        </p:nvSpPr>
        <p:spPr>
          <a:xfrm>
            <a:off x="999236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ด.11</a:t>
            </a:r>
          </a:p>
        </p:txBody>
      </p:sp>
      <p:sp>
        <p:nvSpPr>
          <p:cNvPr id="24" name="Period 12"/>
          <p:cNvSpPr>
            <a:spLocks noGrp="1"/>
          </p:cNvSpPr>
          <p:nvPr>
            <p:ph type="body" idx="31"/>
          </p:nvPr>
        </p:nvSpPr>
        <p:spPr>
          <a:xfrm>
            <a:off x="10634980" y="1691640"/>
            <a:ext cx="642620" cy="2743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200" b="1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ด.12</a:t>
            </a:r>
          </a:p>
        </p:txBody>
      </p:sp>
      <p:sp>
        <p:nvSpPr>
          <p:cNvPr id="25" name="Row 1 Label"/>
          <p:cNvSpPr>
            <a:spLocks noGrp="1"/>
          </p:cNvSpPr>
          <p:nvPr>
            <p:ph type="body" idx="32"/>
          </p:nvPr>
        </p:nvSpPr>
        <p:spPr>
          <a:xfrm>
            <a:off x="914400" y="20574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1. ชื่อเฟส</a:t>
            </a:r>
          </a:p>
        </p:txBody>
      </p:sp>
      <p:sp>
        <p:nvSpPr>
          <p:cNvPr id="26" name="Row 1 Duration"/>
          <p:cNvSpPr>
            <a:spLocks noGrp="1"/>
          </p:cNvSpPr>
          <p:nvPr>
            <p:ph type="body" idx="33"/>
          </p:nvPr>
        </p:nvSpPr>
        <p:spPr>
          <a:xfrm>
            <a:off x="2651760" y="20574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7" name="Row 2 Label"/>
          <p:cNvSpPr>
            <a:spLocks noGrp="1"/>
          </p:cNvSpPr>
          <p:nvPr>
            <p:ph type="body" idx="34"/>
          </p:nvPr>
        </p:nvSpPr>
        <p:spPr>
          <a:xfrm>
            <a:off x="914400" y="24460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2. ชื่อเฟส</a:t>
            </a:r>
          </a:p>
        </p:txBody>
      </p:sp>
      <p:sp>
        <p:nvSpPr>
          <p:cNvPr id="28" name="Row 2 Duration"/>
          <p:cNvSpPr>
            <a:spLocks noGrp="1"/>
          </p:cNvSpPr>
          <p:nvPr>
            <p:ph type="body" idx="35"/>
          </p:nvPr>
        </p:nvSpPr>
        <p:spPr>
          <a:xfrm>
            <a:off x="2651760" y="24460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29" name="Row 3 Label"/>
          <p:cNvSpPr>
            <a:spLocks noGrp="1"/>
          </p:cNvSpPr>
          <p:nvPr>
            <p:ph type="body" idx="36"/>
          </p:nvPr>
        </p:nvSpPr>
        <p:spPr>
          <a:xfrm>
            <a:off x="914400" y="28346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3. ชื่อเฟส</a:t>
            </a:r>
          </a:p>
        </p:txBody>
      </p:sp>
      <p:sp>
        <p:nvSpPr>
          <p:cNvPr id="30" name="Row 3 Duration"/>
          <p:cNvSpPr>
            <a:spLocks noGrp="1"/>
          </p:cNvSpPr>
          <p:nvPr>
            <p:ph type="body" idx="37"/>
          </p:nvPr>
        </p:nvSpPr>
        <p:spPr>
          <a:xfrm>
            <a:off x="2651760" y="28346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1" name="Row 4 Label"/>
          <p:cNvSpPr>
            <a:spLocks noGrp="1"/>
          </p:cNvSpPr>
          <p:nvPr>
            <p:ph type="body" idx="38"/>
          </p:nvPr>
        </p:nvSpPr>
        <p:spPr>
          <a:xfrm>
            <a:off x="914400" y="322326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4. ชื่อเฟส</a:t>
            </a:r>
          </a:p>
        </p:txBody>
      </p:sp>
      <p:sp>
        <p:nvSpPr>
          <p:cNvPr id="32" name="Row 4 Duration"/>
          <p:cNvSpPr>
            <a:spLocks noGrp="1"/>
          </p:cNvSpPr>
          <p:nvPr>
            <p:ph type="body" idx="39"/>
          </p:nvPr>
        </p:nvSpPr>
        <p:spPr>
          <a:xfrm>
            <a:off x="2651760" y="322326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3" name="Row 5 Label"/>
          <p:cNvSpPr>
            <a:spLocks noGrp="1"/>
          </p:cNvSpPr>
          <p:nvPr>
            <p:ph type="body" idx="40"/>
          </p:nvPr>
        </p:nvSpPr>
        <p:spPr>
          <a:xfrm>
            <a:off x="914400" y="361188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5. ชื่อเฟส</a:t>
            </a:r>
          </a:p>
        </p:txBody>
      </p:sp>
      <p:sp>
        <p:nvSpPr>
          <p:cNvPr id="34" name="Row 5 Duration"/>
          <p:cNvSpPr>
            <a:spLocks noGrp="1"/>
          </p:cNvSpPr>
          <p:nvPr>
            <p:ph type="body" idx="41"/>
          </p:nvPr>
        </p:nvSpPr>
        <p:spPr>
          <a:xfrm>
            <a:off x="2651760" y="361188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5" name="Row 6 Label"/>
          <p:cNvSpPr>
            <a:spLocks noGrp="1"/>
          </p:cNvSpPr>
          <p:nvPr>
            <p:ph type="body" idx="42"/>
          </p:nvPr>
        </p:nvSpPr>
        <p:spPr>
          <a:xfrm>
            <a:off x="914400" y="400050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6. ชื่อเฟส</a:t>
            </a:r>
          </a:p>
        </p:txBody>
      </p:sp>
      <p:sp>
        <p:nvSpPr>
          <p:cNvPr id="36" name="Row 6 Duration"/>
          <p:cNvSpPr>
            <a:spLocks noGrp="1"/>
          </p:cNvSpPr>
          <p:nvPr>
            <p:ph type="body" idx="43"/>
          </p:nvPr>
        </p:nvSpPr>
        <p:spPr>
          <a:xfrm>
            <a:off x="2651760" y="400050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7" name="Row 7 Label"/>
          <p:cNvSpPr>
            <a:spLocks noGrp="1"/>
          </p:cNvSpPr>
          <p:nvPr>
            <p:ph type="body" idx="44"/>
          </p:nvPr>
        </p:nvSpPr>
        <p:spPr>
          <a:xfrm>
            <a:off x="914400" y="438912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7. ชื่อเฟส</a:t>
            </a:r>
          </a:p>
        </p:txBody>
      </p:sp>
      <p:sp>
        <p:nvSpPr>
          <p:cNvPr id="38" name="Row 7 Duration"/>
          <p:cNvSpPr>
            <a:spLocks noGrp="1"/>
          </p:cNvSpPr>
          <p:nvPr>
            <p:ph type="body" idx="45"/>
          </p:nvPr>
        </p:nvSpPr>
        <p:spPr>
          <a:xfrm>
            <a:off x="2651760" y="438912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39" name="Row 8 Label"/>
          <p:cNvSpPr>
            <a:spLocks noGrp="1"/>
          </p:cNvSpPr>
          <p:nvPr>
            <p:ph type="body" idx="46"/>
          </p:nvPr>
        </p:nvSpPr>
        <p:spPr>
          <a:xfrm>
            <a:off x="914400" y="4777740"/>
            <a:ext cx="173736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8. ชื่อเฟส</a:t>
            </a:r>
          </a:p>
        </p:txBody>
      </p:sp>
      <p:sp>
        <p:nvSpPr>
          <p:cNvPr id="40" name="Row 8 Duration"/>
          <p:cNvSpPr>
            <a:spLocks noGrp="1"/>
          </p:cNvSpPr>
          <p:nvPr>
            <p:ph type="body" idx="47"/>
          </p:nvPr>
        </p:nvSpPr>
        <p:spPr>
          <a:xfrm>
            <a:off x="2651760" y="4777740"/>
            <a:ext cx="731520" cy="3886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r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 สัปดาห์</a:t>
            </a:r>
          </a:p>
        </p:txBody>
      </p:sp>
      <p:sp>
        <p:nvSpPr>
          <p:cNvPr id="41" name="Key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ช่วงงาน   ◆ ส่งมอบ / ตรวจรับ</a:t>
            </a:r>
          </a:p>
        </p:txBody>
      </p:sp>
      <p:sp>
        <p:nvSpPr>
          <p:cNvPr id="42" name="Assumption"/>
          <p:cNvSpPr>
            <a:spLocks noGrp="1"/>
          </p:cNvSpPr>
          <p:nvPr>
            <p:ph type="body" idx="3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นับจากวันลงนามสัญญา</a:t>
            </a:r>
          </a:p>
        </p:txBody>
      </p:sp>
      <p:sp>
        <p:nvSpPr>
          <p:cNvPr id="43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4" name="Takeaway Label"/>
          <p:cNvSpPr>
            <a:spLocks noGrp="1"/>
          </p:cNvSpPr>
          <p:nvPr>
            <p:ph type="body" idx="4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5" name="Takeaway Copy"/>
          <p:cNvSpPr>
            <a:spLocks noGrp="1"/>
          </p:cNvSpPr>
          <p:nvPr>
            <p:ph type="body" idx="5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showMasterSp="0" preserve="1">
  <p:cSld name="22 Compos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otal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509016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4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0.0 ล้านบาท</a:t>
            </a:r>
          </a:p>
        </p:txBody>
      </p:sp>
      <p:sp>
        <p:nvSpPr>
          <p:cNvPr id="13" name="Total Label"/>
          <p:cNvSpPr>
            <a:spLocks noGrp="1"/>
          </p:cNvSpPr>
          <p:nvPr>
            <p:ph type="body" idx="3"/>
          </p:nvPr>
        </p:nvSpPr>
        <p:spPr>
          <a:xfrm>
            <a:off x="914400" y="2423160"/>
            <a:ext cx="509016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ยอดรวมนี้คืออะไร</a:t>
            </a:r>
          </a:p>
        </p:txBody>
      </p:sp>
      <p:sp>
        <p:nvSpPr>
          <p:cNvPr id="14" name="Intro"/>
          <p:cNvSpPr>
            <a:spLocks noGrp="1"/>
          </p:cNvSpPr>
          <p:nvPr>
            <p:ph type="body" idx="4"/>
          </p:nvPr>
        </p:nvSpPr>
        <p:spPr>
          <a:xfrm>
            <a:off x="6187440" y="1691640"/>
            <a:ext cx="5090160" cy="10058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เงื่อนไขของตัวเลข: รวม VAT หรือไม่ ระยะสัญญา</a:t>
            </a:r>
          </a:p>
        </p:txBody>
      </p:sp>
      <p:sp>
        <p:nvSpPr>
          <p:cNvPr id="15" name="Chart Placeholder"/>
          <p:cNvSpPr>
            <a:spLocks noGrp="1"/>
          </p:cNvSpPr>
          <p:nvPr>
            <p:ph type="chart" idx="1"/>
          </p:nvPr>
        </p:nvSpPr>
        <p:spPr>
          <a:xfrm>
            <a:off x="2697480" y="3703320"/>
            <a:ext cx="7299960" cy="1371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200"/>
          </a:p>
        </p:txBody>
      </p:sp>
      <p:sp>
        <p:nvSpPr>
          <p:cNvPr id="16" name="Bar 1 Label"/>
          <p:cNvSpPr>
            <a:spLocks noGrp="1"/>
          </p:cNvSpPr>
          <p:nvPr>
            <p:ph type="body" idx="20"/>
          </p:nvPr>
        </p:nvSpPr>
        <p:spPr>
          <a:xfrm>
            <a:off x="914400" y="37033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7" name="Bar 1 Total"/>
          <p:cNvSpPr>
            <a:spLocks noGrp="1"/>
          </p:cNvSpPr>
          <p:nvPr>
            <p:ph type="body" idx="21"/>
          </p:nvPr>
        </p:nvSpPr>
        <p:spPr>
          <a:xfrm>
            <a:off x="10180320" y="37033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18" name="Bar 2 Label"/>
          <p:cNvSpPr>
            <a:spLocks noGrp="1"/>
          </p:cNvSpPr>
          <p:nvPr>
            <p:ph type="body" idx="22"/>
          </p:nvPr>
        </p:nvSpPr>
        <p:spPr>
          <a:xfrm>
            <a:off x="914400" y="41605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19" name="Bar 2 Total"/>
          <p:cNvSpPr>
            <a:spLocks noGrp="1"/>
          </p:cNvSpPr>
          <p:nvPr>
            <p:ph type="body" idx="23"/>
          </p:nvPr>
        </p:nvSpPr>
        <p:spPr>
          <a:xfrm>
            <a:off x="10180320" y="41605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0" name="Bar 3 Label"/>
          <p:cNvSpPr>
            <a:spLocks noGrp="1"/>
          </p:cNvSpPr>
          <p:nvPr>
            <p:ph type="body" idx="24"/>
          </p:nvPr>
        </p:nvSpPr>
        <p:spPr>
          <a:xfrm>
            <a:off x="914400" y="4617720"/>
            <a:ext cx="164592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ชื่อแท่ง</a:t>
            </a:r>
          </a:p>
        </p:txBody>
      </p:sp>
      <p:sp>
        <p:nvSpPr>
          <p:cNvPr id="21" name="Bar 3 Total"/>
          <p:cNvSpPr>
            <a:spLocks noGrp="1"/>
          </p:cNvSpPr>
          <p:nvPr>
            <p:ph type="body" idx="25"/>
          </p:nvPr>
        </p:nvSpPr>
        <p:spPr>
          <a:xfrm>
            <a:off x="10180320" y="4617720"/>
            <a:ext cx="1097280" cy="4572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ยอดรวม</a:t>
            </a:r>
          </a:p>
        </p:txBody>
      </p:sp>
      <p:sp>
        <p:nvSpPr>
          <p:cNvPr id="22" name="Swatch 1"/>
          <p:cNvSpPr/>
          <p:nvPr/>
        </p:nvSpPr>
        <p:spPr>
          <a:xfrm>
            <a:off x="914400" y="2999740"/>
            <a:ext cx="127000" cy="12700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Segment 1 Name"/>
          <p:cNvSpPr>
            <a:spLocks noGrp="1"/>
          </p:cNvSpPr>
          <p:nvPr>
            <p:ph type="body" idx="26"/>
          </p:nvPr>
        </p:nvSpPr>
        <p:spPr>
          <a:xfrm>
            <a:off x="113284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1</a:t>
            </a:r>
          </a:p>
        </p:txBody>
      </p:sp>
      <p:sp>
        <p:nvSpPr>
          <p:cNvPr id="24" name="Segment 1 Value"/>
          <p:cNvSpPr>
            <a:spLocks noGrp="1"/>
          </p:cNvSpPr>
          <p:nvPr>
            <p:ph type="body" idx="27"/>
          </p:nvPr>
        </p:nvSpPr>
        <p:spPr>
          <a:xfrm>
            <a:off x="91440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5" name="Segment 1 Share"/>
          <p:cNvSpPr>
            <a:spLocks noGrp="1"/>
          </p:cNvSpPr>
          <p:nvPr>
            <p:ph type="body" idx="28"/>
          </p:nvPr>
        </p:nvSpPr>
        <p:spPr>
          <a:xfrm>
            <a:off x="224028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26" name="Swatch 2"/>
          <p:cNvSpPr/>
          <p:nvPr/>
        </p:nvSpPr>
        <p:spPr>
          <a:xfrm>
            <a:off x="3550920" y="2999740"/>
            <a:ext cx="127000" cy="12700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egment 2 Name"/>
          <p:cNvSpPr>
            <a:spLocks noGrp="1"/>
          </p:cNvSpPr>
          <p:nvPr>
            <p:ph type="body" idx="29"/>
          </p:nvPr>
        </p:nvSpPr>
        <p:spPr>
          <a:xfrm>
            <a:off x="376936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2</a:t>
            </a:r>
          </a:p>
        </p:txBody>
      </p:sp>
      <p:sp>
        <p:nvSpPr>
          <p:cNvPr id="28" name="Segment 2 Value"/>
          <p:cNvSpPr>
            <a:spLocks noGrp="1"/>
          </p:cNvSpPr>
          <p:nvPr>
            <p:ph type="body" idx="30"/>
          </p:nvPr>
        </p:nvSpPr>
        <p:spPr>
          <a:xfrm>
            <a:off x="355092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29" name="Segment 2 Share"/>
          <p:cNvSpPr>
            <a:spLocks noGrp="1"/>
          </p:cNvSpPr>
          <p:nvPr>
            <p:ph type="body" idx="31"/>
          </p:nvPr>
        </p:nvSpPr>
        <p:spPr>
          <a:xfrm>
            <a:off x="487680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0" name="Swatch 3"/>
          <p:cNvSpPr/>
          <p:nvPr/>
        </p:nvSpPr>
        <p:spPr>
          <a:xfrm>
            <a:off x="6187440" y="2999740"/>
            <a:ext cx="127000" cy="127000"/>
          </a:xfrm>
          <a:prstGeom prst="rect">
            <a:avLst/>
          </a:prstGeom>
          <a:solidFill>
            <a:srgbClr val="0D929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egment 3 Name"/>
          <p:cNvSpPr>
            <a:spLocks noGrp="1"/>
          </p:cNvSpPr>
          <p:nvPr>
            <p:ph type="body" idx="32"/>
          </p:nvPr>
        </p:nvSpPr>
        <p:spPr>
          <a:xfrm>
            <a:off x="640588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3</a:t>
            </a:r>
          </a:p>
        </p:txBody>
      </p:sp>
      <p:sp>
        <p:nvSpPr>
          <p:cNvPr id="32" name="Segment 3 Value"/>
          <p:cNvSpPr>
            <a:spLocks noGrp="1"/>
          </p:cNvSpPr>
          <p:nvPr>
            <p:ph type="body" idx="33"/>
          </p:nvPr>
        </p:nvSpPr>
        <p:spPr>
          <a:xfrm>
            <a:off x="618744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3" name="Segment 3 Share"/>
          <p:cNvSpPr>
            <a:spLocks noGrp="1"/>
          </p:cNvSpPr>
          <p:nvPr>
            <p:ph type="body" idx="34"/>
          </p:nvPr>
        </p:nvSpPr>
        <p:spPr>
          <a:xfrm>
            <a:off x="751332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4" name="Swatch 4"/>
          <p:cNvSpPr/>
          <p:nvPr/>
        </p:nvSpPr>
        <p:spPr>
          <a:xfrm>
            <a:off x="8823960" y="2999740"/>
            <a:ext cx="127000" cy="127000"/>
          </a:xfrm>
          <a:prstGeom prst="rect">
            <a:avLst/>
          </a:prstGeom>
          <a:solidFill>
            <a:srgbClr val="A4A4A4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5" name="Segment 4 Name"/>
          <p:cNvSpPr>
            <a:spLocks noGrp="1"/>
          </p:cNvSpPr>
          <p:nvPr>
            <p:ph type="body" idx="35"/>
          </p:nvPr>
        </p:nvSpPr>
        <p:spPr>
          <a:xfrm>
            <a:off x="9042400" y="2926080"/>
            <a:ext cx="2235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หมวด 4</a:t>
            </a:r>
          </a:p>
        </p:txBody>
      </p:sp>
      <p:sp>
        <p:nvSpPr>
          <p:cNvPr id="36" name="Segment 4 Value"/>
          <p:cNvSpPr>
            <a:spLocks noGrp="1"/>
          </p:cNvSpPr>
          <p:nvPr>
            <p:ph type="body" idx="36"/>
          </p:nvPr>
        </p:nvSpPr>
        <p:spPr>
          <a:xfrm>
            <a:off x="8823960" y="3200400"/>
            <a:ext cx="13258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0.0</a:t>
            </a:r>
          </a:p>
        </p:txBody>
      </p:sp>
      <p:sp>
        <p:nvSpPr>
          <p:cNvPr id="37" name="Segment 4 Share"/>
          <p:cNvSpPr>
            <a:spLocks noGrp="1"/>
          </p:cNvSpPr>
          <p:nvPr>
            <p:ph type="body" idx="37"/>
          </p:nvPr>
        </p:nvSpPr>
        <p:spPr>
          <a:xfrm>
            <a:off x="10149840" y="3200400"/>
            <a:ext cx="112776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0%</a:t>
            </a:r>
          </a:p>
        </p:txBody>
      </p:sp>
      <p:sp>
        <p:nvSpPr>
          <p:cNvPr id="38" name="Source"/>
          <p:cNvSpPr>
            <a:spLocks noGrp="1"/>
          </p:cNvSpPr>
          <p:nvPr>
            <p:ph type="body" idx="5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ที่มาของตัวเลข · ปัดเศษ</a:t>
            </a:r>
          </a:p>
        </p:txBody>
      </p:sp>
      <p:sp>
        <p:nvSpPr>
          <p:cNvPr id="39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0" name="Takeaway Label"/>
          <p:cNvSpPr>
            <a:spLocks noGrp="1"/>
          </p:cNvSpPr>
          <p:nvPr>
            <p:ph type="body" idx="6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41" name="Takeaway Copy"/>
          <p:cNvSpPr>
            <a:spLocks noGrp="1"/>
          </p:cNvSpPr>
          <p:nvPr>
            <p:ph type="body" idx="7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0" y="1371600"/>
            <a:ext cx="12192000" cy="6858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 Bar 1"/>
          <p:cNvSpPr/>
          <p:nvPr/>
        </p:nvSpPr>
        <p:spPr>
          <a:xfrm>
            <a:off x="0" y="6675120"/>
            <a:ext cx="822960" cy="13716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Foot Bar 2"/>
          <p:cNvSpPr/>
          <p:nvPr/>
        </p:nvSpPr>
        <p:spPr>
          <a:xfrm>
            <a:off x="822960" y="6675120"/>
            <a:ext cx="822960" cy="137160"/>
          </a:xfrm>
          <a:prstGeom prst="rect">
            <a:avLst/>
          </a:prstGeom>
          <a:solidFill>
            <a:srgbClr val="B1C4C9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2" name="Foot Bar 3"/>
          <p:cNvSpPr/>
          <p:nvPr/>
        </p:nvSpPr>
        <p:spPr>
          <a:xfrm>
            <a:off x="1645920" y="6675120"/>
            <a:ext cx="822960" cy="13716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3" name="Footer Placeholder"/>
          <p:cNvSpPr>
            <a:spLocks noGrp="1"/>
          </p:cNvSpPr>
          <p:nvPr>
            <p:ph type="ftr" idx="11"/>
          </p:nvPr>
        </p:nvSpPr>
        <p:spPr>
          <a:xfrm>
            <a:off x="2697480" y="6400800"/>
            <a:ext cx="4572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591800" y="640080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sp>
        <p:nvSpPr>
          <p:cNvPr id="95" name="Corner Lockup"/>
          <p:cNvSpPr/>
          <p:nvPr/>
        </p:nvSpPr>
        <p:spPr>
          <a:xfrm rot="10800000">
            <a:off x="10546080" y="-274320"/>
            <a:ext cx="1645920" cy="82296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96" name="NCT Mark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094720" y="99822"/>
            <a:ext cx="548640" cy="348996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chart" Target="../charts/char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2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chart" Target="../charts/chart3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เปลี่ยนงานบัญชีให้ระบบทำแทน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NCT · สัมมนาลูกค้า 2569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ปิดงบ พ.ค. ใช้ 9 วัน นานสุดในรอบครึ่งปี</a:t>
            </a:r>
          </a:p>
        </p:txBody>
      </p:sp>
      <p:graphicFrame>
        <p:nvGraphicFramePr>
          <p:cNvPr id="3" name="Close Days"/>
          <p:cNvGraphicFramePr>
            <a:graphicFrameLocks noGrp="1"/>
          </p:cNvGraphicFramePr>
          <p:nvPr>
            <p:ph type="chart" idx="1"/>
          </p:nvPr>
        </p:nvGraphicFramePr>
        <p:xfrm>
          <a:off x="914400" y="1691640"/>
          <a:ext cx="684784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Fi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9 วัน</a:t>
            </a:r>
          </a:p>
        </p:txBody>
      </p:sp>
      <p:sp>
        <p:nvSpPr>
          <p:cNvPr id="5" name="Fig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เวลาปิดงบ พ.ค. 2569 · เป้าหมาย 2 วัน</a:t>
            </a:r>
          </a:p>
        </p:txBody>
      </p:sp>
      <p:sp>
        <p:nvSpPr>
          <p:cNvPr id="6" name="Ins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เดือนที่เอกสารเข้ามากสุด คือเดือนที่ปิดงบนานสุด</a:t>
            </a:r>
          </a:p>
          <a:p>
            <a:pPr/>
            <a:r>
              <a:rPr lang="th-TH" dirty="0"/>
              <a:t>ทุกเดือนเกินเป้าอย่างน้อยสามเท่า</a:t>
            </a:r>
          </a:p>
          <a:p>
            <a:pPr/>
            <a:r>
              <a:rPr lang="th-TH" dirty="0"/>
              <a:t>ความล่าช้าเกิดที่ขั้นกระทบยอด ไม่ใช่ขั้นคีย์</a:t>
            </a:r>
          </a:p>
        </p:txBody>
      </p:sp>
      <p:sp>
        <p:nvSpPr>
          <p:cNvPr id="7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ระบบบัญชีของลูกค้า · ม.ค.–มิ.ย. 2569 · หน่วย: วันทำการ</a:t>
            </a:r>
          </a:p>
        </p:txBody>
      </p:sp>
      <p:sp>
        <p:nvSpPr>
          <p:cNvPr id="8" name="Tk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9" name="Tk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เวลาปิดงบแปรตามปริมาณเอกสาร การลดงานคีย์ซ้ำจึงลดเวลาปิดงบได้จริง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</p:txBody>
      </p:sp>
      <p:sp>
        <p:nvSpPr>
          <p:cNvPr id="4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ระบบล่มบ่อย ไม่มีคนดูแลประจำ</a:t>
            </a:r>
          </a:p>
          <a:p>
            <a:pPr/>
            <a:r>
              <a:rPr lang="th-TH" dirty="0"/>
              <a:t>ค่าใช้จ่ายไม่แน่นอน</a:t>
            </a:r>
          </a:p>
        </p:txBody>
      </p:sp>
      <p:sp>
        <p:nvSpPr>
          <p:cNvPr id="5" name="RH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</p:txBody>
      </p:sp>
      <p:sp>
        <p:nvSpPr>
          <p:cNvPr id="6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มอนิเตอร์ 24 ชั่วโมง แจ้งเตือนอัตโนมัติ</a:t>
            </a:r>
          </a:p>
          <a:p>
            <a:pPr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A5EA0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A5EA0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B731B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BB731B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BB731B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B731B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A5EA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A5EA0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0D92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0D9298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lnB w="12700" cap="flat">
                      <a:solidFill>
                        <a:srgbClr val="FFFFFF"/>
                      </a:solidFill>
                      <a:prstDash val="solid"/>
                    </a:lnB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>
                    <a:solidFill>
                      <a:srgbClr val="D8EBE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>
                    <a:solidFill>
                      <a:srgbClr val="EDF3F5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แผนงาน 12 เดือน ขึ้นระบบต้นเดือนที่ 7</a:t>
            </a:r>
          </a:p>
        </p:txBody>
      </p:sp>
      <p:graphicFrame>
        <p:nvGraphicFramePr>
          <p:cNvPr id="3" name="Plan"/>
          <p:cNvGraphicFramePr>
            <a:graphicFrameLocks noGrp="1"/>
          </p:cNvGraphicFramePr>
          <p:nvPr>
            <p:ph type="chart" idx="1"/>
          </p:nvPr>
        </p:nvGraphicFramePr>
        <p:xfrm>
          <a:off x="3566160" y="2057400"/>
          <a:ext cx="77114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P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ด.1</a:t>
            </a:r>
          </a:p>
        </p:txBody>
      </p:sp>
      <p:sp>
        <p:nvSpPr>
          <p:cNvPr id="5" name="P2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ด.2</a:t>
            </a:r>
          </a:p>
        </p:txBody>
      </p:sp>
      <p:sp>
        <p:nvSpPr>
          <p:cNvPr id="6" name="P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ด.3</a:t>
            </a:r>
          </a:p>
        </p:txBody>
      </p:sp>
      <p:sp>
        <p:nvSpPr>
          <p:cNvPr id="7" name="P4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ด.4</a:t>
            </a:r>
          </a:p>
        </p:txBody>
      </p:sp>
      <p:sp>
        <p:nvSpPr>
          <p:cNvPr id="8" name="P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ด.5</a:t>
            </a:r>
          </a:p>
        </p:txBody>
      </p:sp>
      <p:sp>
        <p:nvSpPr>
          <p:cNvPr id="9" name="P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ด.6</a:t>
            </a:r>
          </a:p>
        </p:txBody>
      </p:sp>
      <p:sp>
        <p:nvSpPr>
          <p:cNvPr id="10" name="P7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ด.7</a:t>
            </a:r>
          </a:p>
        </p:txBody>
      </p:sp>
      <p:sp>
        <p:nvSpPr>
          <p:cNvPr id="11" name="P8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ด.8</a:t>
            </a:r>
          </a:p>
        </p:txBody>
      </p:sp>
      <p:sp>
        <p:nvSpPr>
          <p:cNvPr id="12" name="P9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ด.9</a:t>
            </a:r>
          </a:p>
        </p:txBody>
      </p:sp>
      <p:sp>
        <p:nvSpPr>
          <p:cNvPr id="13" name="P10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ด.10</a:t>
            </a:r>
          </a:p>
        </p:txBody>
      </p:sp>
      <p:sp>
        <p:nvSpPr>
          <p:cNvPr id="14" name="P11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ด.11</a:t>
            </a:r>
          </a:p>
        </p:txBody>
      </p:sp>
      <p:sp>
        <p:nvSpPr>
          <p:cNvPr id="15" name="P12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ด.12</a:t>
            </a:r>
          </a:p>
        </p:txBody>
      </p:sp>
      <p:sp>
        <p:nvSpPr>
          <p:cNvPr id="16" name="R1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1. เตรียมระบบ</a:t>
            </a:r>
          </a:p>
        </p:txBody>
      </p:sp>
      <p:sp>
        <p:nvSpPr>
          <p:cNvPr id="17" name="D1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18" name="R2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2. วิเคราะห์และออกแบบ</a:t>
            </a:r>
          </a:p>
        </p:txBody>
      </p:sp>
      <p:sp>
        <p:nvSpPr>
          <p:cNvPr id="19" name="D2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6 สัปดาห์</a:t>
            </a:r>
          </a:p>
        </p:txBody>
      </p:sp>
      <p:sp>
        <p:nvSpPr>
          <p:cNvPr id="20" name="R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3. พัฒนาและตั้งค่าระบบ</a:t>
            </a:r>
          </a:p>
        </p:txBody>
      </p:sp>
      <p:sp>
        <p:nvSpPr>
          <p:cNvPr id="21" name="D3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 สัปดาห์</a:t>
            </a:r>
          </a:p>
        </p:txBody>
      </p:sp>
      <p:sp>
        <p:nvSpPr>
          <p:cNvPr id="22" name="R4"/>
          <p:cNvSpPr>
            <a:spLocks noGrp="1"/>
          </p:cNvSpPr>
          <p:nvPr>
            <p:ph type="body" idx="38"/>
          </p:nvPr>
        </p:nvSpPr>
        <p:spPr/>
        <p:txBody>
          <a:bodyPr/>
          <a:lstStyle/>
          <a:p>
            <a:pPr/>
            <a:r>
              <a:rPr lang="th-TH" dirty="0"/>
              <a:t>4. ทดสอบ UAT</a:t>
            </a:r>
          </a:p>
        </p:txBody>
      </p:sp>
      <p:sp>
        <p:nvSpPr>
          <p:cNvPr id="23" name="D4"/>
          <p:cNvSpPr>
            <a:spLocks noGrp="1"/>
          </p:cNvSpPr>
          <p:nvPr>
            <p:ph type="body" idx="39"/>
          </p:nvPr>
        </p:nvSpPr>
        <p:spPr/>
        <p:txBody>
          <a:bodyPr/>
          <a:lstStyle/>
          <a:p>
            <a:pPr/>
            <a:r>
              <a:rPr lang="th-TH" dirty="0"/>
              <a:t>4 สัปดาห์</a:t>
            </a:r>
          </a:p>
        </p:txBody>
      </p:sp>
      <p:sp>
        <p:nvSpPr>
          <p:cNvPr id="24" name="R5"/>
          <p:cNvSpPr>
            <a:spLocks noGrp="1"/>
          </p:cNvSpPr>
          <p:nvPr>
            <p:ph type="body" idx="40"/>
          </p:nvPr>
        </p:nvSpPr>
        <p:spPr/>
        <p:txBody>
          <a:bodyPr/>
          <a:lstStyle/>
          <a:p>
            <a:pPr/>
            <a:r>
              <a:rPr lang="th-TH" dirty="0"/>
              <a:t>5. อบรมผู้ใช้</a:t>
            </a:r>
          </a:p>
        </p:txBody>
      </p:sp>
      <p:sp>
        <p:nvSpPr>
          <p:cNvPr id="25" name="D5"/>
          <p:cNvSpPr>
            <a:spLocks noGrp="1"/>
          </p:cNvSpPr>
          <p:nvPr>
            <p:ph type="body" idx="41"/>
          </p:nvPr>
        </p:nvSpPr>
        <p:spPr/>
        <p:txBody>
          <a:bodyPr/>
          <a:lstStyle/>
          <a:p>
            <a:pPr/>
            <a:r>
              <a:rPr lang="th-TH" dirty="0"/>
              <a:t>1 สัปดาห์</a:t>
            </a:r>
          </a:p>
        </p:txBody>
      </p:sp>
      <p:sp>
        <p:nvSpPr>
          <p:cNvPr id="26" name="R6"/>
          <p:cNvSpPr>
            <a:spLocks noGrp="1"/>
          </p:cNvSpPr>
          <p:nvPr>
            <p:ph type="body" idx="42"/>
          </p:nvPr>
        </p:nvSpPr>
        <p:spPr/>
        <p:txBody>
          <a:bodyPr/>
          <a:lstStyle/>
          <a:p>
            <a:pPr/>
            <a:r>
              <a:rPr lang="th-TH" dirty="0"/>
              <a:t>6. ขึ้นระบบ</a:t>
            </a:r>
          </a:p>
        </p:txBody>
      </p:sp>
      <p:sp>
        <p:nvSpPr>
          <p:cNvPr id="27" name="D6"/>
          <p:cNvSpPr>
            <a:spLocks noGrp="1"/>
          </p:cNvSpPr>
          <p:nvPr>
            <p:ph type="body" idx="43"/>
          </p:nvPr>
        </p:nvSpPr>
        <p:spPr/>
        <p:txBody>
          <a:bodyPr/>
          <a:lstStyle/>
          <a:p>
            <a:pPr/>
            <a:r>
              <a:rPr lang="th-TH" dirty="0"/>
              <a:t>2 สัปดาห์</a:t>
            </a:r>
          </a:p>
        </p:txBody>
      </p:sp>
      <p:sp>
        <p:nvSpPr>
          <p:cNvPr id="28" name="R7"/>
          <p:cNvSpPr>
            <a:spLocks noGrp="1"/>
          </p:cNvSpPr>
          <p:nvPr>
            <p:ph type="body" idx="44"/>
          </p:nvPr>
        </p:nvSpPr>
        <p:spPr/>
        <p:txBody>
          <a:bodyPr/>
          <a:lstStyle/>
          <a:p>
            <a:pPr/>
            <a:r>
              <a:rPr lang="th-TH" dirty="0"/>
              <a:t>7. ดูแลหลังขึ้นระบบ</a:t>
            </a:r>
          </a:p>
        </p:txBody>
      </p:sp>
      <p:sp>
        <p:nvSpPr>
          <p:cNvPr id="29" name="D7"/>
          <p:cNvSpPr>
            <a:spLocks noGrp="1"/>
          </p:cNvSpPr>
          <p:nvPr>
            <p:ph type="body" idx="45"/>
          </p:nvPr>
        </p:nvSpPr>
        <p:spPr/>
        <p:txBody>
          <a:bodyPr/>
          <a:lstStyle/>
          <a:p>
            <a:pPr/>
            <a:r>
              <a:rPr lang="th-TH" dirty="0"/>
              <a:t>3 เดือน</a:t>
            </a:r>
          </a:p>
        </p:txBody>
      </p:sp>
      <p:sp>
        <p:nvSpPr>
          <p:cNvPr id="30" name="R8"/>
          <p:cNvSpPr>
            <a:spLocks noGrp="1"/>
          </p:cNvSpPr>
          <p:nvPr>
            <p:ph type="body" idx="46"/>
          </p:nvPr>
        </p:nvSpPr>
        <p:spPr/>
        <p:txBody>
          <a:bodyPr/>
          <a:lstStyle/>
          <a:p>
            <a:pPr/>
            <a:r>
              <a:rPr lang="th-TH" dirty="0"/>
              <a:t>8. รับประกันระบบ</a:t>
            </a:r>
          </a:p>
        </p:txBody>
      </p:sp>
      <p:sp>
        <p:nvSpPr>
          <p:cNvPr id="31" name="D8"/>
          <p:cNvSpPr>
            <a:spLocks noGrp="1"/>
          </p:cNvSpPr>
          <p:nvPr>
            <p:ph type="body" idx="47"/>
          </p:nvPr>
        </p:nvSpPr>
        <p:spPr/>
        <p:txBody>
          <a:bodyPr/>
          <a:lstStyle/>
          <a:p>
            <a:pPr/>
            <a:r>
              <a:rPr lang="th-TH" dirty="0"/>
              <a:t>2.5 เดือน</a:t>
            </a:r>
          </a:p>
        </p:txBody>
      </p:sp>
      <p:sp>
        <p:nvSpPr>
          <p:cNvPr id="32" name="Key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■ ช่วงงาน   ◆ ส่งมอบ / ตรวจรับ</a:t>
            </a:r>
          </a:p>
        </p:txBody>
      </p:sp>
      <p:sp>
        <p:nvSpPr>
          <p:cNvPr id="33" name="Asm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นับจากวันลงนามสัญญา · หน่วย: เดือน</a:t>
            </a:r>
          </a:p>
        </p:txBody>
      </p:sp>
      <p:sp>
        <p:nvSpPr>
          <p:cNvPr id="34" name="T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35" name="T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ขึ้นระบบต้นเดือนที่ 7 ตรวจรับ 3 งวดตามจุดส่งมอบ</a:t>
            </a:r>
          </a:p>
        </p:txBody>
      </p:sp>
      <p:sp>
        <p:nvSpPr>
          <p:cNvPr id="36" name="Milestone 2"/>
          <p:cNvSpPr/>
          <p:nvPr/>
        </p:nvSpPr>
        <p:spPr>
          <a:xfrm>
            <a:off x="5099558" y="25671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7" name="Milestone 2 Label"/>
          <p:cNvSpPr/>
          <p:nvPr/>
        </p:nvSpPr>
        <p:spPr>
          <a:xfrm>
            <a:off x="5291582" y="24460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1</a:t>
            </a:r>
          </a:p>
        </p:txBody>
      </p:sp>
      <p:sp>
        <p:nvSpPr>
          <p:cNvPr id="38" name="Milestone 4"/>
          <p:cNvSpPr/>
          <p:nvPr/>
        </p:nvSpPr>
        <p:spPr>
          <a:xfrm>
            <a:off x="7348728" y="334441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39" name="Milestone 4 Label"/>
          <p:cNvSpPr/>
          <p:nvPr/>
        </p:nvSpPr>
        <p:spPr>
          <a:xfrm>
            <a:off x="7540752" y="322326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2</a:t>
            </a:r>
          </a:p>
        </p:txBody>
      </p:sp>
      <p:sp>
        <p:nvSpPr>
          <p:cNvPr id="40" name="Milestone 7"/>
          <p:cNvSpPr/>
          <p:nvPr/>
        </p:nvSpPr>
        <p:spPr>
          <a:xfrm>
            <a:off x="9597898" y="4510278"/>
            <a:ext cx="146304" cy="146304"/>
          </a:xfrm>
          <a:prstGeom prst="diamond">
            <a:avLst/>
          </a:prstGeom>
          <a:solidFill>
            <a:srgbClr val="BB731B"/>
          </a:solidFill>
          <a:ln w="19050">
            <a:solidFill>
              <a:srgbClr val="FFFFF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41" name="Milestone 7 Label"/>
          <p:cNvSpPr/>
          <p:nvPr/>
        </p:nvSpPr>
        <p:spPr>
          <a:xfrm>
            <a:off x="9789922" y="4389120"/>
            <a:ext cx="1463040" cy="38862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ตรวจรับงวด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ครึ่งหนึ่งของงบ 4.8 ล้านบาท คือค่าพัฒนาระบบ</a:t>
            </a:r>
          </a:p>
        </p:txBody>
      </p:sp>
      <p:sp>
        <p:nvSpPr>
          <p:cNvPr id="3" name="Tota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4.8 ล้านบาท</a:t>
            </a:r>
          </a:p>
        </p:txBody>
      </p:sp>
      <p:sp>
        <p:nvSpPr>
          <p:cNvPr id="4" name="Total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งบโครงการรวมทั้งสิ้น</a:t>
            </a:r>
          </a:p>
        </p:txBody>
      </p:sp>
      <p:sp>
        <p:nvSpPr>
          <p:cNvPr id="5" name="Intro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รวมภาษีมูลค่าเพิ่ม · สัญญา 12 เดือน ไม่รวมค่าบริการรายเดือนหลังปีแรก</a:t>
            </a:r>
          </a:p>
        </p:txBody>
      </p:sp>
      <p:graphicFrame>
        <p:nvGraphicFramePr>
          <p:cNvPr id="6" name="Composition"/>
          <p:cNvGraphicFramePr>
            <a:graphicFrameLocks noGrp="1"/>
          </p:cNvGraphicFramePr>
          <p:nvPr>
            <p:ph type="chart" idx="1"/>
          </p:nvPr>
        </p:nvGraphicFramePr>
        <p:xfrm>
          <a:off x="2697480" y="3703320"/>
          <a:ext cx="7299960" cy="1371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B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งบโครงการ</a:t>
            </a:r>
          </a:p>
        </p:txBody>
      </p:sp>
      <p:sp>
        <p:nvSpPr>
          <p:cNvPr id="8" name="SN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พัฒนาและตั้งค่าระบบ</a:t>
            </a:r>
          </a:p>
        </p:txBody>
      </p:sp>
      <p:sp>
        <p:nvSpPr>
          <p:cNvPr id="9" name="SV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2.4 ล้านบาท</a:t>
            </a:r>
          </a:p>
        </p:txBody>
      </p:sp>
      <p:sp>
        <p:nvSpPr>
          <p:cNvPr id="10" name="SP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50%</a:t>
            </a:r>
          </a:p>
        </p:txBody>
      </p:sp>
      <p:sp>
        <p:nvSpPr>
          <p:cNvPr id="11" name="SN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ไลเซนส์ซอฟต์แวร์</a:t>
            </a:r>
          </a:p>
        </p:txBody>
      </p:sp>
      <p:sp>
        <p:nvSpPr>
          <p:cNvPr id="12" name="SV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1.2 ล้านบาท</a:t>
            </a:r>
          </a:p>
        </p:txBody>
      </p:sp>
      <p:sp>
        <p:nvSpPr>
          <p:cNvPr id="13" name="SP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25%</a:t>
            </a:r>
          </a:p>
        </p:txBody>
      </p:sp>
      <p:sp>
        <p:nvSpPr>
          <p:cNvPr id="14" name="SN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คลาวด์ปีแรก</a:t>
            </a:r>
          </a:p>
        </p:txBody>
      </p:sp>
      <p:sp>
        <p:nvSpPr>
          <p:cNvPr id="15" name="SV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0.7 ล้านบาท</a:t>
            </a:r>
          </a:p>
        </p:txBody>
      </p:sp>
      <p:sp>
        <p:nvSpPr>
          <p:cNvPr id="16" name="SP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15%</a:t>
            </a:r>
          </a:p>
        </p:txBody>
      </p:sp>
      <p:sp>
        <p:nvSpPr>
          <p:cNvPr id="17" name="SN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อื่น ๆ</a:t>
            </a:r>
          </a:p>
        </p:txBody>
      </p:sp>
      <p:sp>
        <p:nvSpPr>
          <p:cNvPr id="18" name="SV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0.5 ล้านบาท</a:t>
            </a:r>
          </a:p>
        </p:txBody>
      </p:sp>
      <p:sp>
        <p:nvSpPr>
          <p:cNvPr id="19" name="SP"/>
          <p:cNvSpPr>
            <a:spLocks noGrp="1"/>
          </p:cNvSpPr>
          <p:nvPr>
            <p:ph type="body" idx="37"/>
          </p:nvPr>
        </p:nvSpPr>
        <p:spPr/>
        <p:txBody>
          <a:bodyPr/>
          <a:lstStyle/>
          <a:p>
            <a:pPr/>
            <a:r>
              <a:rPr lang="th-TH" dirty="0"/>
              <a:t>10%</a:t>
            </a:r>
          </a:p>
        </p:txBody>
      </p:sp>
      <p:sp>
        <p:nvSpPr>
          <p:cNvPr id="20" name="Src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ใบเสนอราคา NCT-2569-041 · ปัดเป็นแสนบาท</a:t>
            </a:r>
          </a:p>
        </p:txBody>
      </p:sp>
      <p:sp>
        <p:nvSpPr>
          <p:cNvPr id="21" name="T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22" name="TC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ไลเซนส์กับคลาวด์รวมกันไม่ถึง 40% งบส่วนใหญ่จ่ายให้งานที่ทำครั้งเดียว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A5EA0"/>
      </a:accent1>
      <a:accent2>
        <a:srgbClr val="BB731B"/>
      </a:accent2>
      <a:accent3>
        <a:srgbClr val="0D9298"/>
      </a:accent3>
      <a:accent4>
        <a:srgbClr val="6C4289"/>
      </a:accent4>
      <a:accent5>
        <a:srgbClr val="A4A4A4"/>
      </a:accent5>
      <a:accent6>
        <a:srgbClr val="216B7F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แบบฟอร์มบริษัท ตัวอย่าง</dc:title>
  <dc:creator>New Computer Technology Consulting Co., Ltd.</dc:creator>
  <cp:lastModifiedBy>NCT</cp:lastModifiedBy>
  <dcterms:created xsi:type="dcterms:W3CDTF">2026-10-01T15:13:48Z</dcterms:created>
  <dcterms:modified xsi:type="dcterms:W3CDTF">2026-10-01T15:13:48Z</dcterms:modified>
</cp:coreProperties>
</file>